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2_0.xml" ContentType="application/vnd.ms-powerpoint.comments+xml"/>
  <Override PartName="/ppt/charts/chart1.xml" ContentType="application/vnd.openxmlformats-officedocument.drawingml.chart+xml"/>
  <Override PartName="/ppt/charts/chart2.xml" ContentType="application/vnd.openxmlformats-officedocument.drawingml.chart+xml"/>
  <Override PartName="/ppt/comments/modernComment_105_0.xml" ContentType="application/vnd.ms-powerpoint.comments+xml"/>
  <Override PartName="/ppt/charts/chart3.xml" ContentType="application/vnd.openxmlformats-officedocument.drawingml.chart+xml"/>
  <Override PartName="/ppt/comments/modernComment_106_0.xml" ContentType="application/vnd.ms-powerpoint.comments+xml"/>
  <Override PartName="/ppt/comments/modernComment_108_0.xml" ContentType="application/vnd.ms-powerpoint.comments+xml"/>
  <Override PartName="/ppt/comments/modernComment_109_0.xml" ContentType="application/vnd.ms-powerpoint.comments+xml"/>
  <Override PartName="/ppt/comments/modernComment_10A_0.xml" ContentType="application/vnd.ms-powerpoint.comments+xml"/>
  <Override PartName="/ppt/comments/modernComment_10B_0.xml" ContentType="application/vnd.ms-powerpoint.comments+xml"/>
  <Override PartName="/ppt/comments/modernComment_10C_0.xml" ContentType="application/vnd.ms-powerpoint.comments+xml"/>
  <Override PartName="/ppt/comments/modernComment_10D_0.xml" ContentType="application/vnd.ms-powerpoint.comments+xml"/>
  <Override PartName="/ppt/comments/modernComment_10F_0.xml" ContentType="application/vnd.ms-powerpoint.comments+xml"/>
  <Override PartName="/ppt/comments/modernComment_110_0.xml" ContentType="application/vnd.ms-powerpoint.comments+xml"/>
  <Override PartName="/ppt/comments/modernComment_111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custDataLst>
    <p:tags r:id="rId2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F6D8092-2B24-FC2F-79F6-9E96CE3F89F7}" name="Nigar R. Imanova" initials="NI" userId="S::Nigar.Imanova@kapitalbank.az::9e67290c-8bb9-4996-ab8b-7a9621ef2bb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80" d="100"/>
          <a:sy n="80" d="100"/>
        </p:scale>
        <p:origin x="48" y="23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s</c:v>
                </c:pt>
              </c:strCache>
            </c:strRef>
          </c:tx>
          <c:dPt>
            <c:idx val="0"/>
            <c:bubble3D val="0"/>
            <c:spPr>
              <a:solidFill>
                <a:srgbClr val="E4202E"/>
              </a:solidFill>
              <a:ln w="19050">
                <a:solidFill>
                  <a:srgbClr val="FFFFFF"/>
                </a:solidFill>
              </a:ln>
            </c:spPr>
            <c:extLst>
              <c:ext xmlns:c16="http://schemas.microsoft.com/office/drawing/2014/chart" uri="{C3380CC4-5D6E-409C-BE32-E72D297353CC}">
                <c16:uniqueId val="{00000001-66CD-4F80-A7F6-0F0503A965C8}"/>
              </c:ext>
            </c:extLst>
          </c:dPt>
          <c:dPt>
            <c:idx val="1"/>
            <c:bubble3D val="0"/>
            <c:spPr>
              <a:solidFill>
                <a:srgbClr val="F2552A"/>
              </a:solidFill>
              <a:ln w="19050">
                <a:solidFill>
                  <a:srgbClr val="FFFFFF"/>
                </a:solidFill>
              </a:ln>
            </c:spPr>
            <c:extLst>
              <c:ext xmlns:c16="http://schemas.microsoft.com/office/drawing/2014/chart" uri="{C3380CC4-5D6E-409C-BE32-E72D297353CC}">
                <c16:uniqueId val="{00000003-66CD-4F80-A7F6-0F0503A965C8}"/>
              </c:ext>
            </c:extLst>
          </c:dPt>
          <c:dPt>
            <c:idx val="2"/>
            <c:bubble3D val="0"/>
            <c:spPr>
              <a:solidFill>
                <a:srgbClr val="FF7A1F"/>
              </a:solidFill>
              <a:ln w="19050">
                <a:solidFill>
                  <a:srgbClr val="FFFFFF"/>
                </a:solidFill>
              </a:ln>
            </c:spPr>
            <c:extLst>
              <c:ext xmlns:c16="http://schemas.microsoft.com/office/drawing/2014/chart" uri="{C3380CC4-5D6E-409C-BE32-E72D297353CC}">
                <c16:uniqueId val="{00000005-66CD-4F80-A7F6-0F0503A965C8}"/>
              </c:ext>
            </c:extLst>
          </c:dPt>
          <c:dPt>
            <c:idx val="3"/>
            <c:bubble3D val="0"/>
            <c:spPr>
              <a:solidFill>
                <a:srgbClr val="FDBA8C"/>
              </a:solidFill>
              <a:ln w="19050">
                <a:solidFill>
                  <a:srgbClr val="FFFFFF"/>
                </a:solidFill>
              </a:ln>
            </c:spPr>
            <c:extLst>
              <c:ext xmlns:c16="http://schemas.microsoft.com/office/drawing/2014/chart" uri="{C3380CC4-5D6E-409C-BE32-E72D297353CC}">
                <c16:uniqueId val="{00000007-66CD-4F80-A7F6-0F0503A965C8}"/>
              </c:ext>
            </c:extLst>
          </c:dPt>
          <c:dPt>
            <c:idx val="4"/>
            <c:bubble3D val="0"/>
            <c:spPr>
              <a:solidFill>
                <a:srgbClr val="C9CBD9"/>
              </a:solidFill>
              <a:ln w="19050">
                <a:solidFill>
                  <a:srgbClr val="FFFFFF"/>
                </a:solidFill>
              </a:ln>
            </c:spPr>
            <c:extLst>
              <c:ext xmlns:c16="http://schemas.microsoft.com/office/drawing/2014/chart" uri="{C3380CC4-5D6E-409C-BE32-E72D297353CC}">
                <c16:uniqueId val="{00000009-66CD-4F80-A7F6-0F0503A965C8}"/>
              </c:ext>
            </c:extLst>
          </c:dPt>
          <c:dPt>
            <c:idx val="5"/>
            <c:bubble3D val="0"/>
            <c:spPr>
              <a:solidFill>
                <a:srgbClr val="DADCE6"/>
              </a:solidFill>
              <a:ln w="19050">
                <a:solidFill>
                  <a:srgbClr val="FFFFFF"/>
                </a:solidFill>
              </a:ln>
            </c:spPr>
            <c:extLst>
              <c:ext xmlns:c16="http://schemas.microsoft.com/office/drawing/2014/chart" uri="{C3380CC4-5D6E-409C-BE32-E72D297353CC}">
                <c16:uniqueId val="{0000000B-66CD-4F80-A7F6-0F0503A965C8}"/>
              </c:ext>
            </c:extLst>
          </c:dPt>
          <c:dPt>
            <c:idx val="6"/>
            <c:bubble3D val="0"/>
            <c:spPr>
              <a:solidFill>
                <a:srgbClr val="E7E9F2"/>
              </a:solidFill>
              <a:ln w="19050">
                <a:solidFill>
                  <a:srgbClr val="FFFFFF"/>
                </a:solidFill>
              </a:ln>
            </c:spPr>
            <c:extLst>
              <c:ext xmlns:c16="http://schemas.microsoft.com/office/drawing/2014/chart" uri="{C3380CC4-5D6E-409C-BE32-E72D297353CC}">
                <c16:uniqueId val="{0000000D-66CD-4F80-A7F6-0F0503A965C8}"/>
              </c:ext>
            </c:extLst>
          </c:dPt>
          <c:cat>
            <c:strRef>
              <c:f>Sheet1!$A$2:$A$8</c:f>
              <c:strCache>
                <c:ptCount val="7"/>
                <c:pt idx="0">
                  <c:v>Bir Ekosistem LLC</c:v>
                </c:pt>
                <c:pt idx="1">
                  <c:v>PASHA Insurance</c:v>
                </c:pt>
                <c:pt idx="2">
                  <c:v>PASHA Life Insurance</c:v>
                </c:pt>
                <c:pt idx="3">
                  <c:v>PASHA Holding (direct)</c:v>
                </c:pt>
                <c:pt idx="4">
                  <c:v>BLESS LLC</c:v>
                </c:pt>
                <c:pt idx="5">
                  <c:v>REVERİ LLC</c:v>
                </c:pt>
                <c:pt idx="6">
                  <c:v>Other</c:v>
                </c:pt>
              </c:strCache>
            </c:strRef>
          </c:cat>
          <c:val>
            <c:numRef>
              <c:f>Sheet1!$B$2:$B$8</c:f>
              <c:numCache>
                <c:formatCode>General</c:formatCode>
                <c:ptCount val="7"/>
                <c:pt idx="0">
                  <c:v>77.33</c:v>
                </c:pt>
                <c:pt idx="1">
                  <c:v>7.52</c:v>
                </c:pt>
                <c:pt idx="2">
                  <c:v>3.76</c:v>
                </c:pt>
                <c:pt idx="3">
                  <c:v>3.75</c:v>
                </c:pt>
                <c:pt idx="4">
                  <c:v>2.82</c:v>
                </c:pt>
                <c:pt idx="5">
                  <c:v>2.82</c:v>
                </c:pt>
                <c:pt idx="6">
                  <c:v>2.02</c:v>
                </c:pt>
              </c:numCache>
            </c:numRef>
          </c:val>
          <c:extLst>
            <c:ext xmlns:c16="http://schemas.microsoft.com/office/drawing/2014/chart" uri="{C3380CC4-5D6E-409C-BE32-E72D297353CC}">
              <c16:uniqueId val="{0000000E-66CD-4F80-A7F6-0F0503A965C8}"/>
            </c:ext>
          </c:extLst>
        </c:ser>
        <c:dLbls>
          <c:showLegendKey val="0"/>
          <c:showVal val="0"/>
          <c:showCatName val="0"/>
          <c:showSerName val="0"/>
          <c:showPercent val="0"/>
          <c:showBubbleSize val="0"/>
          <c:showLeaderLines val="1"/>
        </c:dLbls>
        <c:firstSliceAng val="0"/>
        <c:holeSize val="62"/>
      </c:doughnutChart>
    </c:plotArea>
    <c:plotVisOnly val="1"/>
    <c:dispBlanksAs val="gap"/>
    <c:showDLblsOverMax val="0"/>
  </c:chart>
  <c:txPr>
    <a:bodyPr/>
    <a:lstStyle/>
    <a:p>
      <a:pPr>
        <a:defRPr sz="900">
          <a:solidFill>
            <a:srgbClr val="6B6F8A"/>
          </a:solidFill>
          <a:latin typeface="Montserra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c:v>
                </c:pt>
              </c:strCache>
            </c:strRef>
          </c:tx>
          <c:invertIfNegative val="1"/>
          <c:dPt>
            <c:idx val="0"/>
            <c:invertIfNegative val="1"/>
            <c:bubble3D val="0"/>
            <c:spPr>
              <a:solidFill>
                <a:srgbClr val="C9CBD9"/>
              </a:solidFill>
            </c:spPr>
            <c:extLst>
              <c:ext xmlns:c16="http://schemas.microsoft.com/office/drawing/2014/chart" uri="{C3380CC4-5D6E-409C-BE32-E72D297353CC}">
                <c16:uniqueId val="{00000001-02ED-4DD5-8E2F-38028997F730}"/>
              </c:ext>
            </c:extLst>
          </c:dPt>
          <c:dPt>
            <c:idx val="1"/>
            <c:invertIfNegative val="1"/>
            <c:bubble3D val="0"/>
            <c:spPr>
              <a:solidFill>
                <a:srgbClr val="E4202E"/>
              </a:solidFill>
            </c:spPr>
            <c:extLst>
              <c:ext xmlns:c16="http://schemas.microsoft.com/office/drawing/2014/chart" uri="{C3380CC4-5D6E-409C-BE32-E72D297353CC}">
                <c16:uniqueId val="{00000003-02ED-4DD5-8E2F-38028997F730}"/>
              </c:ext>
            </c:extLst>
          </c:dPt>
          <c:dLbls>
            <c:numFmt formatCode="0.0" sourceLinked="0"/>
            <c:spPr>
              <a:noFill/>
              <a:ln>
                <a:noFill/>
              </a:ln>
              <a:effectLst/>
            </c:spPr>
            <c:txPr>
              <a:bodyPr/>
              <a:lstStyle/>
              <a:p>
                <a:pPr>
                  <a:defRPr sz="1000" b="1">
                    <a:solidFill>
                      <a:srgbClr val="0F1129"/>
                    </a:solidFill>
                    <a:latin typeface="Montserra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2024</c:v>
                </c:pt>
                <c:pt idx="1">
                  <c:v>2025</c:v>
                </c:pt>
              </c:strCache>
            </c:strRef>
          </c:cat>
          <c:val>
            <c:numRef>
              <c:f>Sheet1!$B$2:$B$3</c:f>
              <c:numCache>
                <c:formatCode>General</c:formatCode>
                <c:ptCount val="2"/>
                <c:pt idx="0">
                  <c:v>186.5</c:v>
                </c:pt>
                <c:pt idx="1">
                  <c:v>315</c:v>
                </c:pt>
              </c:numCache>
            </c:numRef>
          </c:val>
          <c:extLst>
            <c:ext xmlns:c16="http://schemas.microsoft.com/office/drawing/2014/chart" uri="{C3380CC4-5D6E-409C-BE32-E72D297353CC}">
              <c16:uniqueId val="{00000004-02ED-4DD5-8E2F-38028997F730}"/>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E7E9F2"/>
            </a:solidFill>
          </a:ln>
        </c:spPr>
        <c:txPr>
          <a:bodyPr/>
          <a:lstStyle/>
          <a:p>
            <a:pPr>
              <a:defRPr sz="900"/>
            </a:pPr>
            <a:endParaRPr lang="en-US"/>
          </a:p>
        </c:txPr>
        <c:crossAx val="-2113994440"/>
        <c:crosses val="autoZero"/>
        <c:auto val="1"/>
        <c:lblAlgn val="ctr"/>
        <c:lblOffset val="100"/>
        <c:noMultiLvlLbl val="0"/>
      </c:catAx>
      <c:valAx>
        <c:axId val="-2113994440"/>
        <c:scaling>
          <c:orientation val="minMax"/>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6B6F8A"/>
          </a:solidFill>
          <a:latin typeface="Montserra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v>
                </c:pt>
              </c:strCache>
            </c:strRef>
          </c:tx>
          <c:spPr>
            <a:solidFill>
              <a:srgbClr val="E4202E"/>
            </a:solidFill>
          </c:spPr>
          <c:invertIfNegative val="1"/>
          <c:dLbls>
            <c:numFmt formatCode="#,##0" sourceLinked="0"/>
            <c:spPr>
              <a:noFill/>
              <a:ln>
                <a:noFill/>
              </a:ln>
              <a:effectLst/>
            </c:spPr>
            <c:txPr>
              <a:bodyPr/>
              <a:lstStyle/>
              <a:p>
                <a:pPr>
                  <a:defRPr sz="900" b="1">
                    <a:solidFill>
                      <a:srgbClr val="0F1129"/>
                    </a:solidFill>
                    <a:latin typeface="Montserra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She’s Next (women applicants)</c:v>
                </c:pt>
                <c:pt idx="1">
                  <c:v>Free health checks (elderly)</c:v>
                </c:pt>
                <c:pt idx="2">
                  <c:v>Inclusive dance (participants)</c:v>
                </c:pt>
                <c:pt idx="3">
                  <c:v>Food aid (families)</c:v>
                </c:pt>
                <c:pt idx="4">
                  <c:v>New-year gifts to martyrs’ children</c:v>
                </c:pt>
                <c:pt idx="5">
                  <c:v>Clean water (people)</c:v>
                </c:pt>
              </c:strCache>
            </c:strRef>
          </c:cat>
          <c:val>
            <c:numRef>
              <c:f>Sheet1!$B$2:$B$7</c:f>
              <c:numCache>
                <c:formatCode>General</c:formatCode>
                <c:ptCount val="6"/>
                <c:pt idx="0">
                  <c:v>400</c:v>
                </c:pt>
                <c:pt idx="1">
                  <c:v>500</c:v>
                </c:pt>
                <c:pt idx="2">
                  <c:v>587</c:v>
                </c:pt>
                <c:pt idx="3">
                  <c:v>1237</c:v>
                </c:pt>
                <c:pt idx="4">
                  <c:v>1800</c:v>
                </c:pt>
                <c:pt idx="5">
                  <c:v>2874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C63-4D46-A521-DC37FC266198}"/>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900">
                <a:solidFill>
                  <a:srgbClr val="2A2C45"/>
                </a:solidFill>
              </a:defRPr>
            </a:pPr>
            <a:endParaRPr lang="en-US"/>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6B6F8A"/>
          </a:solidFill>
          <a:latin typeface="Montserrat"/>
        </a:defRPr>
      </a:pPr>
      <a:endParaRPr lang="en-US"/>
    </a:p>
  </c:txPr>
  <c:externalData r:id="rId1">
    <c:autoUpdate val="0"/>
  </c:externalData>
</c:chartSpace>
</file>

<file path=ppt/comments/modernComment_10A_0.xml><?xml version="1.0" encoding="utf-8"?>
<p188:cmLst xmlns:a="http://schemas.openxmlformats.org/drawingml/2006/main" xmlns:r="http://schemas.openxmlformats.org/officeDocument/2006/relationships" xmlns:p188="http://schemas.microsoft.com/office/powerpoint/2018/8/main">
  <p188:cm id="{967791CF-C650-44FD-BDAE-78384D3DCB21}" authorId="{0F6D8092-2B24-FC2F-79F6-9E96CE3F89F7}" created="2026-10-12T12:38:02.896">
    <pc:sldMkLst xmlns:pc="http://schemas.microsoft.com/office/powerpoint/2013/main/command">
      <pc:docMk/>
      <pc:sldMk cId="0" sldId="266"/>
    </pc:sldMkLst>
    <p188:txBody>
      <a:bodyPr/>
      <a:lstStyle/>
      <a:p>
        <a:r>
          <a:rPr lang="en-US"/>
          <a:t>Çox həssas kontentdir, buradakı informasiya bir daha nəzərdən keçirilməlidir.  </a:t>
        </a:r>
      </a:p>
    </p188:txBody>
  </p188:cm>
</p188:cmLst>
</file>

<file path=ppt/comments/modernComment_10B_0.xml><?xml version="1.0" encoding="utf-8"?>
<p188:cmLst xmlns:a="http://schemas.openxmlformats.org/drawingml/2006/main" xmlns:r="http://schemas.openxmlformats.org/officeDocument/2006/relationships" xmlns:p188="http://schemas.microsoft.com/office/powerpoint/2018/8/main">
  <p188:cm id="{8B83B078-8BC6-4B83-B0E5-1B7FA2754186}" authorId="{0F6D8092-2B24-FC2F-79F6-9E96CE3F89F7}" created="2026-10-12T12:36:56.759">
    <ac:txMkLst xmlns:ac="http://schemas.microsoft.com/office/drawing/2013/main/command">
      <pc:docMk xmlns:pc="http://schemas.microsoft.com/office/powerpoint/2013/main/command"/>
      <pc:sldMk xmlns:pc="http://schemas.microsoft.com/office/powerpoint/2013/main/command" cId="0" sldId="267"/>
      <ac:spMk id="14" creationId="{00000000-0000-0000-0000-000000000000}"/>
      <ac:txMk cp="0" len="62">
        <ac:context len="63" hash="2990570830"/>
      </ac:txMk>
    </ac:txMkLst>
    <p188:pos x="4548293" y="206248"/>
    <p188:txBody>
      <a:bodyPr/>
      <a:lstStyle/>
      <a:p>
        <a:r>
          <a:rPr lang="en-US"/>
          <a:t>Çox həssas kontentdir, buradakı informasiya bir daha nəzərdən keçirilməlidir.  </a:t>
        </a:r>
      </a:p>
    </p188:txBody>
  </p188:cm>
</p188:cmLst>
</file>

<file path=ppt/comments/modernComment_10C_0.xml><?xml version="1.0" encoding="utf-8"?>
<p188:cmLst xmlns:a="http://schemas.openxmlformats.org/drawingml/2006/main" xmlns:r="http://schemas.openxmlformats.org/officeDocument/2006/relationships" xmlns:p188="http://schemas.microsoft.com/office/powerpoint/2018/8/main">
  <p188:cm id="{9422D393-D22A-48EE-BBE7-08F50979EE14}" authorId="{0F6D8092-2B24-FC2F-79F6-9E96CE3F89F7}" created="2026-10-12T12:34:10.059">
    <ac:txMkLst xmlns:ac="http://schemas.microsoft.com/office/drawing/2013/main/command">
      <pc:docMk xmlns:pc="http://schemas.microsoft.com/office/powerpoint/2013/main/command"/>
      <pc:sldMk xmlns:pc="http://schemas.microsoft.com/office/powerpoint/2013/main/command" cId="0" sldId="268"/>
      <ac:spMk id="17" creationId="{00000000-0000-0000-0000-000000000000}"/>
      <ac:txMk cp="20" len="28">
        <ac:context len="118" hash="757960022"/>
      </ac:txMk>
    </ac:txMkLst>
    <p188:pos x="2959947" y="199475"/>
    <p188:txBody>
      <a:bodyPr/>
      <a:lstStyle/>
      <a:p>
        <a:r>
          <a:rPr lang="en-US"/>
          <a:t>Burada belə bir öhdəlik götürmüşük. Bir daha nəzərdən keçirməyinizi xahiş edirəm.</a:t>
        </a:r>
      </a:p>
    </p188:txBody>
  </p188:cm>
  <p188:cm id="{0330C713-9FED-4119-BC2C-29B93A27C63B}" authorId="{0F6D8092-2B24-FC2F-79F6-9E96CE3F89F7}" created="2026-10-12T12:35:37.691">
    <ac:txMkLst xmlns:ac="http://schemas.microsoft.com/office/drawing/2013/main/command">
      <pc:docMk xmlns:pc="http://schemas.microsoft.com/office/powerpoint/2013/main/command"/>
      <pc:sldMk xmlns:pc="http://schemas.microsoft.com/office/powerpoint/2013/main/command" cId="0" sldId="268"/>
      <ac:spMk id="40" creationId="{00000000-0000-0000-0000-000000000000}"/>
      <ac:txMk cp="0" len="98">
        <ac:context len="99" hash="1613938024"/>
      </ac:txMk>
    </ac:txMkLst>
    <p188:pos x="4088384" y="201845"/>
    <p188:txBody>
      <a:bodyPr/>
      <a:lstStyle/>
      <a:p>
        <a:r>
          <a:rPr lang="en-US"/>
          <a:t>Bu dataya bir daha nəzər salmağınızı xahiş edirəm.</a:t>
        </a:r>
      </a:p>
    </p188:txBody>
  </p188:cm>
</p188:cmLst>
</file>

<file path=ppt/comments/modernComment_10D_0.xml><?xml version="1.0" encoding="utf-8"?>
<p188:cmLst xmlns:a="http://schemas.openxmlformats.org/drawingml/2006/main" xmlns:r="http://schemas.openxmlformats.org/officeDocument/2006/relationships" xmlns:p188="http://schemas.microsoft.com/office/powerpoint/2018/8/main">
  <p188:cm id="{C0E0CB9F-6240-4F88-A366-4C420C6EA2D6}" authorId="{0F6D8092-2B24-FC2F-79F6-9E96CE3F89F7}" created="2026-10-12T12:27:04.989">
    <ac:txMkLst xmlns:ac="http://schemas.microsoft.com/office/drawing/2013/main/command">
      <pc:docMk xmlns:pc="http://schemas.microsoft.com/office/powerpoint/2013/main/command"/>
      <pc:sldMk xmlns:pc="http://schemas.microsoft.com/office/powerpoint/2013/main/command" cId="0" sldId="269"/>
      <ac:spMk id="25" creationId="{00000000-0000-0000-0000-000000000000}"/>
      <ac:txMk cp="63" len="17">
        <ac:context len="81" hash="3060611738"/>
      </ac:txMk>
    </ac:txMkLst>
    <p188:pos x="2540000" y="350181"/>
    <p188:txBody>
      <a:bodyPr/>
      <a:lstStyle/>
      <a:p>
        <a:r>
          <a:rPr lang="en-US"/>
          <a:t>Burada Management Board üçün konkret 3 KPI müəyyən etdiyimiz qeyd edilib. Bir daha nəzərdən keçirməyinizi xahiş edirəm.</a:t>
        </a:r>
      </a:p>
    </p188:txBody>
  </p188:cm>
  <p188:cm id="{462B4030-4436-46C5-8975-BDD8385C2C45}" authorId="{0F6D8092-2B24-FC2F-79F6-9E96CE3F89F7}" created="2026-10-12T12:30:55.079">
    <ac:txMkLst xmlns:ac="http://schemas.microsoft.com/office/drawing/2013/main/command">
      <pc:docMk xmlns:pc="http://schemas.microsoft.com/office/powerpoint/2013/main/command"/>
      <pc:sldMk xmlns:pc="http://schemas.microsoft.com/office/powerpoint/2013/main/command" cId="0" sldId="269"/>
      <ac:spMk id="36" creationId="{00000000-0000-0000-0000-000000000000}"/>
      <ac:txMk cp="0" len="20">
        <ac:context len="74" hash="759243286"/>
      </ac:txMk>
    </ac:txMkLst>
    <p188:pos x="1335871" y="199476"/>
    <p188:txBody>
      <a:bodyPr/>
      <a:lstStyle/>
      <a:p>
        <a:r>
          <a:rPr lang="en-US"/>
          <a:t>Burada bir balaca anlaşılmazlıq yarana bilər. Digər slaydlarda bu sənədin mövcud olmadığı bildirilib. Burada mövcud olduğu görünür. Bir daha nəzərdən keçirmək lazımdır. Buna bənzər və eyni hüquqda sənəd varsa nəzərdə tutula bilər</a:t>
        </a:r>
      </a:p>
    </p188:txBody>
  </p188:cm>
</p188:cmLst>
</file>

<file path=ppt/comments/modernComment_10F_0.xml><?xml version="1.0" encoding="utf-8"?>
<p188:cmLst xmlns:a="http://schemas.openxmlformats.org/drawingml/2006/main" xmlns:r="http://schemas.openxmlformats.org/officeDocument/2006/relationships" xmlns:p188="http://schemas.microsoft.com/office/powerpoint/2018/8/main">
  <p188:cm id="{5DF48944-6030-49DA-A1F1-9ED4A828AB92}" authorId="{0F6D8092-2B24-FC2F-79F6-9E96CE3F89F7}" created="2026-10-12T11:47:59.743">
    <ac:txMkLst xmlns:ac="http://schemas.microsoft.com/office/drawing/2013/main/command">
      <pc:docMk xmlns:pc="http://schemas.microsoft.com/office/powerpoint/2013/main/command"/>
      <pc:sldMk xmlns:pc="http://schemas.microsoft.com/office/powerpoint/2013/main/command" cId="0" sldId="271"/>
      <ac:spMk id="12" creationId="{00000000-0000-0000-0000-000000000000}"/>
      <ac:txMk cp="261">
        <ac:context len="262" hash="3409420851"/>
      </ac:txMk>
    </ac:txMkLst>
    <p188:pos x="6280574" y="533061"/>
    <p188:txBody>
      <a:bodyPr/>
      <a:lstStyle/>
      <a:p>
        <a:r>
          <a:rPr lang="en-US"/>
          <a:t>Çox həssas kontentdir, buradakı informasiya bir daha nəzərdən keçirilməlidir.  </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8EE7298A-8C9B-44DA-B899-6836B9C64128}" authorId="{0F6D8092-2B24-FC2F-79F6-9E96CE3F89F7}" created="2026-10-12T09:21:59.398">
    <pc:sldMkLst xmlns:pc="http://schemas.microsoft.com/office/powerpoint/2013/main/command">
      <pc:docMk/>
      <pc:sldMk cId="0" sldId="258"/>
    </pc:sldMkLst>
    <p188:txBody>
      <a:bodyPr/>
      <a:lstStyle/>
      <a:p>
        <a:r>
          <a:rPr lang="en-US"/>
          <a:t>Bu səhifədəki məlumatlar bir daha nəzərdən keçirilməlidir.</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5D4D9353-517C-4569-AC33-D9914B761887}" authorId="{0F6D8092-2B24-FC2F-79F6-9E96CE3F89F7}" created="2026-10-12T10:56:48.849">
    <ac:deMkLst xmlns:ac="http://schemas.microsoft.com/office/drawing/2013/main/command">
      <pc:docMk xmlns:pc="http://schemas.microsoft.com/office/powerpoint/2013/main/command"/>
      <pc:sldMk xmlns:pc="http://schemas.microsoft.com/office/powerpoint/2013/main/command" cId="0" sldId="261"/>
      <ac:graphicFrameMk id="60" creationId="{00000000-0000-0000-0000-000000000000}"/>
    </ac:deMkLst>
    <p188:txBody>
      <a:bodyPr/>
      <a:lstStyle/>
      <a:p>
        <a:r>
          <a:rPr lang="en-US"/>
          <a:t>Bu hissə silinə bilər.</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7F4F5925-1696-414E-94EF-DD6EA95823BD}" authorId="{0F6D8092-2B24-FC2F-79F6-9E96CE3F89F7}" created="2026-10-12T13:49:49.268">
    <ac:deMkLst xmlns:ac="http://schemas.microsoft.com/office/drawing/2013/main/command">
      <pc:docMk xmlns:pc="http://schemas.microsoft.com/office/powerpoint/2013/main/command"/>
      <pc:sldMk xmlns:pc="http://schemas.microsoft.com/office/powerpoint/2013/main/command" cId="0" sldId="262"/>
      <ac:spMk id="19" creationId="{00000000-0000-0000-0000-000000000000}"/>
    </ac:deMkLst>
    <p188:txBody>
      <a:bodyPr/>
      <a:lstStyle/>
      <a:p>
        <a:r>
          <a:rPr lang="en-US"/>
          <a:t>Çox həssas kontentdir, buradakı informasiya bir daha nəzərdən keçirilməlidir.  </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D6C6B16A-DC98-4F5E-965E-814A7BAD4AF3}" authorId="{0F6D8092-2B24-FC2F-79F6-9E96CE3F89F7}" created="2026-10-12T12:40:35.217">
    <pc:sldMkLst xmlns:pc="http://schemas.microsoft.com/office/powerpoint/2013/main/command">
      <pc:docMk/>
      <pc:sldMk cId="0" sldId="264"/>
    </pc:sldMkLst>
    <p188:txBody>
      <a:bodyPr/>
      <a:lstStyle/>
      <a:p>
        <a:r>
          <a:rPr lang="en-US"/>
          <a:t>Razılaşdığımız kimi, bu slide silinə bilər. </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1DCA6421-5089-4237-8770-0347B8FC31DE}" authorId="{0F6D8092-2B24-FC2F-79F6-9E96CE3F89F7}" created="2026-10-12T12:39:17.602">
    <pc:sldMkLst xmlns:pc="http://schemas.microsoft.com/office/powerpoint/2013/main/command">
      <pc:docMk/>
      <pc:sldMk cId="0" sldId="265"/>
    </pc:sldMkLst>
    <p188:txBody>
      <a:bodyPr/>
      <a:lstStyle/>
      <a:p>
        <a:r>
          <a:rPr lang="en-US"/>
          <a:t>Çox həssas kontentdir, buradakı informasiya bir daha nəzərdən keçirilməlidir.  </a:t>
        </a:r>
      </a:p>
    </p188:txBody>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3FC0E46A-9593-43C2-BED8-5A88D63E4F00}" authorId="{0F6D8092-2B24-FC2F-79F6-9E96CE3F89F7}" created="2026-10-12T12:03:15.942">
    <ac:txMkLst xmlns:ac="http://schemas.microsoft.com/office/drawing/2013/main/command">
      <pc:docMk xmlns:pc="http://schemas.microsoft.com/office/powerpoint/2013/main/command"/>
      <pc:sldMk xmlns:pc="http://schemas.microsoft.com/office/powerpoint/2013/main/command" cId="0" sldId="272"/>
      <ac:graphicFrameMk id="27" creationId="{00000000-0000-0000-0000-000000000000}"/>
      <ac:tblMk/>
      <ac:tcMk rowId="10005" colId="20001"/>
      <ac:txMk cp="32" len="34">
        <ac:context len="130" hash="3202261835"/>
      </ac:txMk>
    </ac:txMkLst>
    <p188:pos x="6129867" y="2325285"/>
    <p188:txBody>
      <a:bodyPr/>
      <a:lstStyle/>
      <a:p>
        <a:r>
          <a:rPr lang="en-US"/>
          <a:t>Belə bir statistika mövcuddur?</a:t>
        </a:r>
      </a:p>
    </p188:txBody>
  </p188:cm>
  <p188:cm id="{ECC8942F-E8E1-4EE4-9811-302248E1A78A}" authorId="{0F6D8092-2B24-FC2F-79F6-9E96CE3F89F7}" created="2026-10-12T14:08:30.613">
    <ac:txMkLst xmlns:ac="http://schemas.microsoft.com/office/drawing/2013/main/command">
      <pc:docMk xmlns:pc="http://schemas.microsoft.com/office/powerpoint/2013/main/command"/>
      <pc:sldMk xmlns:pc="http://schemas.microsoft.com/office/powerpoint/2013/main/command" cId="0" sldId="272"/>
      <ac:graphicFrameMk id="27" creationId="{00000000-0000-0000-0000-000000000000}"/>
      <ac:tblMk/>
      <ac:tcMk rowId="10001" colId="20001"/>
      <ac:txMk cp="114" len="41">
        <ac:context len="156" hash="1790201505"/>
      </ac:txMk>
    </ac:txMkLst>
    <p188:pos x="10496550" y="682752"/>
    <p188:txBody>
      <a:bodyPr/>
      <a:lstStyle/>
      <a:p>
        <a:r>
          <a:rPr lang="en-US"/>
          <a:t>Belə bir komitə mövcuddurmu?</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793C446D-1EFE-43A6-97F6-624405FC1028}" authorId="{0F6D8092-2B24-FC2F-79F6-9E96CE3F89F7}" created="2026-10-12T14:09:28.247">
    <ac:deMkLst xmlns:ac="http://schemas.microsoft.com/office/drawing/2013/main/command">
      <pc:docMk xmlns:pc="http://schemas.microsoft.com/office/powerpoint/2013/main/command"/>
      <pc:sldMk xmlns:pc="http://schemas.microsoft.com/office/powerpoint/2013/main/command" cId="0" sldId="273"/>
      <ac:spMk id="45" creationId="{00000000-0000-0000-0000-000000000000}"/>
    </ac:deMkLst>
    <p188:txBody>
      <a:bodyPr/>
      <a:lstStyle/>
      <a:p>
        <a:r>
          <a:rPr lang="en-US"/>
          <a:t>Belə bir sənəd mövcuddurmu? Dəqiqləşdirməyə ehtiyac var</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microsoft.com/office/2018/10/relationships/comments" Target="../comments/modernComment_102_0.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105_0.xml"/><Relationship Id="rId1" Type="http://schemas.openxmlformats.org/officeDocument/2006/relationships/slideLayout" Target="../slideLayouts/slideLayout7.xml"/><Relationship Id="rId5" Type="http://schemas.openxmlformats.org/officeDocument/2006/relationships/chart" Target="../charts/chart3.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microsoft.com/office/2018/10/relationships/comments" Target="../comments/modernComment_106_0.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microsoft.com/office/2018/10/relationships/comments" Target="../comments/modernComment_108_0.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09_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0A_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0B_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microsoft.com/office/2018/10/relationships/comments" Target="../comments/modernComment_10C_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15.png"/><Relationship Id="rId2" Type="http://schemas.microsoft.com/office/2018/10/relationships/comments" Target="../comments/modernComment_10D_0.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10.png"/><Relationship Id="rId9"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18.png"/><Relationship Id="rId2" Type="http://schemas.microsoft.com/office/2018/10/relationships/comments" Target="../comments/modernComment_10F_0.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11.png"/><Relationship Id="rId10" Type="http://schemas.openxmlformats.org/officeDocument/2006/relationships/image" Target="../media/image24.png"/><Relationship Id="rId4" Type="http://schemas.openxmlformats.org/officeDocument/2006/relationships/image" Target="../media/image20.png"/><Relationship Id="rId9"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microsoft.com/office/2018/10/relationships/comments" Target="../comments/modernComment_110_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111_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Kapital Bank CSR</a:t>
            </a:r>
            <a:r>
              <a:rPr lang="az-Latn-AZ" sz="800" b="0" i="0" dirty="0">
                <a:solidFill>
                  <a:srgbClr val="6B6F8A"/>
                </a:solidFill>
                <a:latin typeface="Montserrat"/>
              </a:rPr>
              <a:t> Strategy</a:t>
            </a:r>
            <a:r>
              <a:rPr sz="800" b="0" i="0" dirty="0">
                <a:solidFill>
                  <a:srgbClr val="6B6F8A"/>
                </a:solidFill>
                <a:latin typeface="Montserrat"/>
              </a:rPr>
              <a:t>; Complaints Procedure; Sustainability Report</a:t>
            </a:r>
            <a:r>
              <a:rPr lang="az-Latn-AZ" sz="800" b="0" i="0" dirty="0">
                <a:solidFill>
                  <a:srgbClr val="6B6F8A"/>
                </a:solidFill>
                <a:latin typeface="Montserrat"/>
              </a:rPr>
              <a:t> 2025</a:t>
            </a:r>
            <a:r>
              <a:rPr sz="800" b="0" i="0" dirty="0">
                <a:solidFill>
                  <a:srgbClr val="6B6F8A"/>
                </a:solidFill>
                <a:latin typeface="Montserrat"/>
              </a:rPr>
              <a:t>; </a:t>
            </a:r>
            <a:r>
              <a:rPr sz="800" b="0" i="0" dirty="0" err="1">
                <a:solidFill>
                  <a:srgbClr val="6B6F8A"/>
                </a:solidFill>
                <a:latin typeface="Montserrat"/>
              </a:rPr>
              <a:t>kapitalbank</a:t>
            </a:r>
            <a:r>
              <a:rPr lang="az-Latn-AZ" sz="800" dirty="0">
                <a:solidFill>
                  <a:srgbClr val="6B6F8A"/>
                </a:solidFill>
                <a:latin typeface="Montserrat"/>
              </a:rPr>
              <a:t>.az</a:t>
            </a:r>
            <a:r>
              <a:rPr sz="800" b="0" i="0" dirty="0">
                <a:solidFill>
                  <a:srgbClr val="6B6F8A"/>
                </a:solidFill>
                <a:latin typeface="Montserrat"/>
              </a:rPr>
              <a:t>; UNGC; CBAR;</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1</a:t>
            </a:r>
          </a:p>
        </p:txBody>
      </p:sp>
      <p:sp>
        <p:nvSpPr>
          <p:cNvPr id="8" name="Rounded Rectangle 7"/>
          <p:cNvSpPr/>
          <p:nvPr/>
        </p:nvSpPr>
        <p:spPr>
          <a:xfrm>
            <a:off x="8531352" y="384048"/>
            <a:ext cx="3108960" cy="292608"/>
          </a:xfrm>
          <a:prstGeom prst="roundRect">
            <a:avLst>
              <a:gd name="adj" fmla="val 50000"/>
            </a:avLst>
          </a:prstGeom>
          <a:solidFill>
            <a:srgbClr val="FDECEC"/>
          </a:solidFill>
          <a:ln>
            <a:noFill/>
          </a:ln>
          <a:effectLst/>
        </p:spPr>
        <p:txBody>
          <a:bodyPr rtlCol="0" anchor="ctr"/>
          <a:lstStyle/>
          <a:p>
            <a:pPr algn="ctr"/>
            <a:endParaRPr/>
          </a:p>
        </p:txBody>
      </p:sp>
      <p:sp>
        <p:nvSpPr>
          <p:cNvPr id="9" name="TextBox 8"/>
          <p:cNvSpPr txBox="1"/>
          <p:nvPr/>
        </p:nvSpPr>
        <p:spPr>
          <a:xfrm>
            <a:off x="8531352" y="384048"/>
            <a:ext cx="3108960" cy="292608"/>
          </a:xfrm>
          <a:prstGeom prst="rect">
            <a:avLst/>
          </a:prstGeom>
          <a:noFill/>
        </p:spPr>
        <p:txBody>
          <a:bodyPr wrap="square" lIns="0" tIns="0" rIns="0" bIns="0" anchor="ctr">
            <a:spAutoFit/>
          </a:bodyPr>
          <a:lstStyle/>
          <a:p>
            <a:pPr algn="ctr">
              <a:lnSpc>
                <a:spcPct val="108000"/>
              </a:lnSpc>
              <a:spcAft>
                <a:spcPts val="300"/>
              </a:spcAft>
            </a:pPr>
            <a:r>
              <a:rPr sz="900" b="1" i="0">
                <a:solidFill>
                  <a:srgbClr val="E4202E"/>
                </a:solidFill>
                <a:latin typeface="Montserrat"/>
              </a:rPr>
              <a:t>UNGC participant since Oct 2024</a:t>
            </a:r>
          </a:p>
        </p:txBody>
      </p:sp>
      <p:sp>
        <p:nvSpPr>
          <p:cNvPr id="10" name="TextBox 9"/>
          <p:cNvSpPr txBox="1"/>
          <p:nvPr/>
        </p:nvSpPr>
        <p:spPr>
          <a:xfrm>
            <a:off x="548640" y="1325880"/>
            <a:ext cx="9601200" cy="1463040"/>
          </a:xfrm>
          <a:prstGeom prst="rect">
            <a:avLst/>
          </a:prstGeom>
          <a:noFill/>
        </p:spPr>
        <p:txBody>
          <a:bodyPr wrap="square" lIns="0" tIns="0" rIns="0" bIns="0" anchor="b">
            <a:spAutoFit/>
          </a:bodyPr>
          <a:lstStyle/>
          <a:p>
            <a:pPr>
              <a:lnSpc>
                <a:spcPct val="100000"/>
              </a:lnSpc>
              <a:spcAft>
                <a:spcPts val="300"/>
              </a:spcAft>
            </a:pPr>
            <a:r>
              <a:rPr sz="3600" b="1" i="0" dirty="0">
                <a:solidFill>
                  <a:srgbClr val="0F1129"/>
                </a:solidFill>
                <a:latin typeface="Montserrat"/>
              </a:rPr>
              <a:t>Business and Human Rights Action Plan</a:t>
            </a:r>
          </a:p>
        </p:txBody>
      </p:sp>
      <p:sp>
        <p:nvSpPr>
          <p:cNvPr id="11" name="TextBox 10"/>
          <p:cNvSpPr txBox="1"/>
          <p:nvPr/>
        </p:nvSpPr>
        <p:spPr>
          <a:xfrm>
            <a:off x="548640" y="2926080"/>
            <a:ext cx="9601200" cy="365760"/>
          </a:xfrm>
          <a:prstGeom prst="rect">
            <a:avLst/>
          </a:prstGeom>
          <a:noFill/>
        </p:spPr>
        <p:txBody>
          <a:bodyPr wrap="square" lIns="0" tIns="0" rIns="0" bIns="0" anchor="t">
            <a:spAutoFit/>
          </a:bodyPr>
          <a:lstStyle/>
          <a:p>
            <a:pPr>
              <a:lnSpc>
                <a:spcPct val="108000"/>
              </a:lnSpc>
              <a:spcAft>
                <a:spcPts val="300"/>
              </a:spcAft>
            </a:pPr>
            <a:r>
              <a:rPr sz="1400" b="0" i="0">
                <a:solidFill>
                  <a:srgbClr val="6B6F8A"/>
                </a:solidFill>
                <a:latin typeface="Montserrat"/>
              </a:rPr>
              <a:t>Managing the most severe risks to people</a:t>
            </a:r>
          </a:p>
        </p:txBody>
      </p:sp>
      <p:sp>
        <p:nvSpPr>
          <p:cNvPr id="12" name="Rounded Rectangle 11"/>
          <p:cNvSpPr/>
          <p:nvPr/>
        </p:nvSpPr>
        <p:spPr>
          <a:xfrm>
            <a:off x="548640" y="3520440"/>
            <a:ext cx="11091672" cy="1783080"/>
          </a:xfrm>
          <a:prstGeom prst="roundRect">
            <a:avLst>
              <a:gd name="adj" fmla="val 5128"/>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3" name="Rounded Rectangle 12"/>
          <p:cNvSpPr/>
          <p:nvPr/>
        </p:nvSpPr>
        <p:spPr>
          <a:xfrm>
            <a:off x="914400" y="3840480"/>
            <a:ext cx="128016" cy="128016"/>
          </a:xfrm>
          <a:prstGeom prst="roundRect">
            <a:avLst>
              <a:gd name="adj" fmla="val 50000"/>
            </a:avLst>
          </a:prstGeom>
          <a:solidFill>
            <a:srgbClr val="E4202E"/>
          </a:solidFill>
          <a:ln>
            <a:noFill/>
          </a:ln>
          <a:effectLst/>
        </p:spPr>
        <p:txBody>
          <a:bodyPr rtlCol="0" anchor="ctr"/>
          <a:lstStyle/>
          <a:p>
            <a:pPr algn="ctr"/>
            <a:endParaRPr/>
          </a:p>
        </p:txBody>
      </p:sp>
      <p:sp>
        <p:nvSpPr>
          <p:cNvPr id="14" name="TextBox 13"/>
          <p:cNvSpPr txBox="1"/>
          <p:nvPr/>
        </p:nvSpPr>
        <p:spPr>
          <a:xfrm>
            <a:off x="1234440" y="3749039"/>
            <a:ext cx="9966960" cy="685800"/>
          </a:xfrm>
          <a:prstGeom prst="rect">
            <a:avLst/>
          </a:prstGeom>
          <a:noFill/>
        </p:spPr>
        <p:txBody>
          <a:bodyPr wrap="square" lIns="0" tIns="0" rIns="0" bIns="0" anchor="t">
            <a:spAutoFit/>
          </a:bodyPr>
          <a:lstStyle/>
          <a:p>
            <a:pPr>
              <a:lnSpc>
                <a:spcPct val="108000"/>
              </a:lnSpc>
              <a:spcAft>
                <a:spcPts val="300"/>
              </a:spcAft>
            </a:pPr>
            <a:r>
              <a:rPr sz="1250" b="0" i="0" dirty="0">
                <a:solidFill>
                  <a:srgbClr val="2A2C45"/>
                </a:solidFill>
                <a:latin typeface="Montserrat"/>
              </a:rPr>
              <a:t>Kapital Bank has strong foundations: a well-run workplace, a structured CSR portfolio and a public commitment to the UN Global Compact.</a:t>
            </a:r>
          </a:p>
        </p:txBody>
      </p:sp>
      <p:sp>
        <p:nvSpPr>
          <p:cNvPr id="15" name="Rounded Rectangle 14"/>
          <p:cNvSpPr/>
          <p:nvPr/>
        </p:nvSpPr>
        <p:spPr>
          <a:xfrm>
            <a:off x="914400" y="4636008"/>
            <a:ext cx="128016" cy="128016"/>
          </a:xfrm>
          <a:prstGeom prst="roundRect">
            <a:avLst>
              <a:gd name="adj" fmla="val 50000"/>
            </a:avLst>
          </a:prstGeom>
          <a:solidFill>
            <a:srgbClr val="6B6F8A"/>
          </a:solidFill>
          <a:ln>
            <a:noFill/>
          </a:ln>
          <a:effectLst/>
        </p:spPr>
        <p:txBody>
          <a:bodyPr rtlCol="0" anchor="ctr"/>
          <a:lstStyle/>
          <a:p>
            <a:pPr algn="ctr"/>
            <a:endParaRPr/>
          </a:p>
        </p:txBody>
      </p:sp>
      <p:sp>
        <p:nvSpPr>
          <p:cNvPr id="16" name="TextBox 15"/>
          <p:cNvSpPr txBox="1"/>
          <p:nvPr/>
        </p:nvSpPr>
        <p:spPr>
          <a:xfrm>
            <a:off x="1234440" y="4544568"/>
            <a:ext cx="9966960" cy="685800"/>
          </a:xfrm>
          <a:prstGeom prst="rect">
            <a:avLst/>
          </a:prstGeom>
          <a:noFill/>
        </p:spPr>
        <p:txBody>
          <a:bodyPr wrap="square" lIns="0" tIns="0" rIns="0" bIns="0" anchor="t">
            <a:spAutoFit/>
          </a:bodyPr>
          <a:lstStyle/>
          <a:p>
            <a:pPr>
              <a:lnSpc>
                <a:spcPct val="108000"/>
              </a:lnSpc>
              <a:spcAft>
                <a:spcPts val="300"/>
              </a:spcAft>
            </a:pPr>
            <a:r>
              <a:rPr sz="1150" b="0" i="0" dirty="0">
                <a:solidFill>
                  <a:srgbClr val="6B6F8A"/>
                </a:solidFill>
                <a:latin typeface="Montserrat"/>
              </a:rPr>
              <a:t>This plan turns that commitment into human rights due diligence, starting with the bank’s most salient risk: over-indebtedness and unfair debt collection in retail lending.</a:t>
            </a:r>
          </a:p>
        </p:txBody>
      </p:sp>
      <p:sp>
        <p:nvSpPr>
          <p:cNvPr id="17" name="TextBox 16"/>
          <p:cNvSpPr txBox="1"/>
          <p:nvPr/>
        </p:nvSpPr>
        <p:spPr>
          <a:xfrm>
            <a:off x="548640" y="5486400"/>
            <a:ext cx="8229600" cy="731867"/>
          </a:xfrm>
          <a:prstGeom prst="rect">
            <a:avLst/>
          </a:prstGeom>
          <a:noFill/>
        </p:spPr>
        <p:txBody>
          <a:bodyPr wrap="square" lIns="0" tIns="0" rIns="0" bIns="0" anchor="t">
            <a:spAutoFit/>
          </a:bodyPr>
          <a:lstStyle/>
          <a:p>
            <a:pPr>
              <a:lnSpc>
                <a:spcPct val="108000"/>
              </a:lnSpc>
              <a:spcAft>
                <a:spcPts val="200"/>
              </a:spcAft>
            </a:pPr>
            <a:r>
              <a:rPr sz="1000" b="1" i="0" dirty="0">
                <a:solidFill>
                  <a:srgbClr val="2A2C45"/>
                </a:solidFill>
                <a:latin typeface="Montserrat"/>
              </a:rPr>
              <a:t>COMPANY NAME: Kapital Bank OJSC</a:t>
            </a:r>
          </a:p>
          <a:p>
            <a:pPr>
              <a:lnSpc>
                <a:spcPct val="108000"/>
              </a:lnSpc>
              <a:spcAft>
                <a:spcPts val="200"/>
              </a:spcAft>
            </a:pPr>
            <a:r>
              <a:rPr sz="1000" b="0" i="0" dirty="0">
                <a:solidFill>
                  <a:srgbClr val="6B6F8A"/>
                </a:solidFill>
                <a:latin typeface="Montserrat"/>
              </a:rPr>
              <a:t>PARTICIPANT 1 NAME:</a:t>
            </a:r>
            <a:r>
              <a:rPr lang="az-Latn-AZ" sz="1000" b="0" i="0" dirty="0">
                <a:solidFill>
                  <a:srgbClr val="6B6F8A"/>
                </a:solidFill>
                <a:latin typeface="Montserrat"/>
              </a:rPr>
              <a:t> N</a:t>
            </a:r>
            <a:r>
              <a:rPr lang="en-US" sz="1000" b="0" i="0" dirty="0">
                <a:solidFill>
                  <a:srgbClr val="6B6F8A"/>
                </a:solidFill>
                <a:latin typeface="Montserrat"/>
              </a:rPr>
              <a:t>IZAMI TAHIROV</a:t>
            </a:r>
            <a:endParaRPr sz="1000" b="0" i="0" dirty="0">
              <a:solidFill>
                <a:srgbClr val="6B6F8A"/>
              </a:solidFill>
              <a:latin typeface="Montserrat"/>
            </a:endParaRPr>
          </a:p>
          <a:p>
            <a:pPr>
              <a:lnSpc>
                <a:spcPct val="108000"/>
              </a:lnSpc>
              <a:spcAft>
                <a:spcPts val="200"/>
              </a:spcAft>
            </a:pPr>
            <a:r>
              <a:rPr sz="1000" b="0" i="0" dirty="0">
                <a:solidFill>
                  <a:srgbClr val="6B6F8A"/>
                </a:solidFill>
                <a:latin typeface="Montserrat"/>
              </a:rPr>
              <a:t>PARTICIPANT 2 NAME:</a:t>
            </a:r>
            <a:r>
              <a:rPr lang="en-US" sz="1000" b="0" i="0" dirty="0">
                <a:solidFill>
                  <a:srgbClr val="6B6F8A"/>
                </a:solidFill>
                <a:latin typeface="Montserrat"/>
              </a:rPr>
              <a:t> RUSLAN MURSHUDZADE</a:t>
            </a:r>
            <a:endParaRPr sz="1000" b="0" i="0" dirty="0">
              <a:solidFill>
                <a:srgbClr val="6B6F8A"/>
              </a:solidFill>
              <a:latin typeface="Montserrat"/>
            </a:endParaRPr>
          </a:p>
          <a:p>
            <a:pPr>
              <a:lnSpc>
                <a:spcPct val="108000"/>
              </a:lnSpc>
              <a:spcAft>
                <a:spcPts val="200"/>
              </a:spcAft>
            </a:pPr>
            <a:r>
              <a:rPr sz="1000" b="0" i="0" dirty="0">
                <a:solidFill>
                  <a:srgbClr val="6B6F8A"/>
                </a:solidFill>
                <a:latin typeface="Montserrat"/>
              </a:rPr>
              <a:t>AMBASSADOR NAME: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Kapital Bank CSR </a:t>
            </a:r>
            <a:r>
              <a:rPr lang="en-US" sz="800" b="0" i="0" dirty="0">
                <a:solidFill>
                  <a:srgbClr val="6B6F8A"/>
                </a:solidFill>
                <a:latin typeface="Montserrat"/>
              </a:rPr>
              <a:t>Strategy</a:t>
            </a:r>
            <a:r>
              <a:rPr sz="800" b="0" i="0" dirty="0">
                <a:solidFill>
                  <a:srgbClr val="6B6F8A"/>
                </a:solidFill>
                <a:latin typeface="Montserrat"/>
              </a:rPr>
              <a:t>; Complaints Procedure 2024–2025; Sustainability Report 202</a:t>
            </a:r>
            <a:r>
              <a:rPr lang="en-US" sz="800" b="0" i="0" dirty="0">
                <a:solidFill>
                  <a:srgbClr val="6B6F8A"/>
                </a:solidFill>
                <a:latin typeface="Montserrat"/>
              </a:rPr>
              <a:t>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2</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Content</a:t>
            </a:r>
          </a:p>
        </p:txBody>
      </p:sp>
      <p:sp>
        <p:nvSpPr>
          <p:cNvPr id="9" name="TextBox 8"/>
          <p:cNvSpPr txBox="1"/>
          <p:nvPr/>
        </p:nvSpPr>
        <p:spPr>
          <a:xfrm>
            <a:off x="548640" y="1371600"/>
            <a:ext cx="11091672" cy="411480"/>
          </a:xfrm>
          <a:prstGeom prst="rect">
            <a:avLst/>
          </a:prstGeom>
          <a:noFill/>
        </p:spPr>
        <p:txBody>
          <a:bodyPr wrap="square" lIns="0" tIns="0" rIns="0" bIns="0" anchor="t">
            <a:spAutoFit/>
          </a:bodyPr>
          <a:lstStyle/>
          <a:p>
            <a:pPr>
              <a:lnSpc>
                <a:spcPct val="100000"/>
              </a:lnSpc>
              <a:spcAft>
                <a:spcPts val="300"/>
              </a:spcAft>
            </a:pPr>
            <a:r>
              <a:rPr sz="1100" b="0" i="0">
                <a:solidFill>
                  <a:srgbClr val="6B6F8A"/>
                </a:solidFill>
                <a:latin typeface="Montserrat"/>
              </a:rPr>
              <a:t>Human Rights Action Plan · Kapital Bank · BHR Accelerator 2026</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2" name="Rounded Rectangle 11"/>
          <p:cNvSpPr/>
          <p:nvPr/>
        </p:nvSpPr>
        <p:spPr>
          <a:xfrm>
            <a:off x="658368" y="2075688"/>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13" name="TextBox 12"/>
          <p:cNvSpPr txBox="1"/>
          <p:nvPr/>
        </p:nvSpPr>
        <p:spPr>
          <a:xfrm>
            <a:off x="658368" y="2075688"/>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1</a:t>
            </a:r>
          </a:p>
        </p:txBody>
      </p:sp>
      <p:sp>
        <p:nvSpPr>
          <p:cNvPr id="14" name="TextBox 13"/>
          <p:cNvSpPr txBox="1"/>
          <p:nvPr/>
        </p:nvSpPr>
        <p:spPr>
          <a:xfrm>
            <a:off x="1097280" y="2011680"/>
            <a:ext cx="4722876" cy="41148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Company introduction</a:t>
            </a:r>
          </a:p>
        </p:txBody>
      </p:sp>
      <p:sp>
        <p:nvSpPr>
          <p:cNvPr id="15" name="Rounded Rectangle 14"/>
          <p:cNvSpPr/>
          <p:nvPr/>
        </p:nvSpPr>
        <p:spPr>
          <a:xfrm>
            <a:off x="548640" y="2487168"/>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6" name="Rounded Rectangle 15"/>
          <p:cNvSpPr/>
          <p:nvPr/>
        </p:nvSpPr>
        <p:spPr>
          <a:xfrm>
            <a:off x="658368" y="2551176"/>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17" name="TextBox 16"/>
          <p:cNvSpPr txBox="1"/>
          <p:nvPr/>
        </p:nvSpPr>
        <p:spPr>
          <a:xfrm>
            <a:off x="658368" y="2551176"/>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2</a:t>
            </a:r>
          </a:p>
        </p:txBody>
      </p:sp>
      <p:sp>
        <p:nvSpPr>
          <p:cNvPr id="18" name="TextBox 17"/>
          <p:cNvSpPr txBox="1"/>
          <p:nvPr/>
        </p:nvSpPr>
        <p:spPr>
          <a:xfrm>
            <a:off x="1097280" y="2487168"/>
            <a:ext cx="4722876" cy="41148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BHR journey self-assessment insights</a:t>
            </a:r>
          </a:p>
        </p:txBody>
      </p:sp>
      <p:sp>
        <p:nvSpPr>
          <p:cNvPr id="19" name="Rounded Rectangle 18"/>
          <p:cNvSpPr/>
          <p:nvPr/>
        </p:nvSpPr>
        <p:spPr>
          <a:xfrm>
            <a:off x="548640" y="2962656"/>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0" name="Rounded Rectangle 19"/>
          <p:cNvSpPr/>
          <p:nvPr/>
        </p:nvSpPr>
        <p:spPr>
          <a:xfrm>
            <a:off x="658368" y="3026664"/>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21" name="TextBox 20"/>
          <p:cNvSpPr txBox="1"/>
          <p:nvPr/>
        </p:nvSpPr>
        <p:spPr>
          <a:xfrm>
            <a:off x="658368" y="3026664"/>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3</a:t>
            </a:r>
          </a:p>
        </p:txBody>
      </p:sp>
      <p:sp>
        <p:nvSpPr>
          <p:cNvPr id="22" name="TextBox 21"/>
          <p:cNvSpPr txBox="1"/>
          <p:nvPr/>
        </p:nvSpPr>
        <p:spPr>
          <a:xfrm>
            <a:off x="1097280" y="2962656"/>
            <a:ext cx="4722876" cy="41148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Human Rights Journey Gap Assessment – future focus</a:t>
            </a:r>
          </a:p>
        </p:txBody>
      </p:sp>
      <p:sp>
        <p:nvSpPr>
          <p:cNvPr id="23" name="Rounded Rectangle 22"/>
          <p:cNvSpPr/>
          <p:nvPr/>
        </p:nvSpPr>
        <p:spPr>
          <a:xfrm>
            <a:off x="548640" y="3438144"/>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4" name="Rounded Rectangle 23"/>
          <p:cNvSpPr/>
          <p:nvPr/>
        </p:nvSpPr>
        <p:spPr>
          <a:xfrm>
            <a:off x="658368" y="3502152"/>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25" name="TextBox 24"/>
          <p:cNvSpPr txBox="1"/>
          <p:nvPr/>
        </p:nvSpPr>
        <p:spPr>
          <a:xfrm>
            <a:off x="658368" y="3502152"/>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4</a:t>
            </a:r>
          </a:p>
        </p:txBody>
      </p:sp>
      <p:sp>
        <p:nvSpPr>
          <p:cNvPr id="26" name="TextBox 25"/>
          <p:cNvSpPr txBox="1"/>
          <p:nvPr/>
        </p:nvSpPr>
        <p:spPr>
          <a:xfrm>
            <a:off x="1097280" y="3438144"/>
            <a:ext cx="4722876" cy="41148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HRDD Step 1: Salient human rights issues</a:t>
            </a:r>
          </a:p>
        </p:txBody>
      </p:sp>
      <p:sp>
        <p:nvSpPr>
          <p:cNvPr id="27" name="Rounded Rectangle 26"/>
          <p:cNvSpPr/>
          <p:nvPr/>
        </p:nvSpPr>
        <p:spPr>
          <a:xfrm>
            <a:off x="548640" y="3913632"/>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8" name="Rounded Rectangle 27"/>
          <p:cNvSpPr/>
          <p:nvPr/>
        </p:nvSpPr>
        <p:spPr>
          <a:xfrm>
            <a:off x="658368" y="3977640"/>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29" name="TextBox 28"/>
          <p:cNvSpPr txBox="1"/>
          <p:nvPr/>
        </p:nvSpPr>
        <p:spPr>
          <a:xfrm>
            <a:off x="658368" y="3977640"/>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5</a:t>
            </a:r>
          </a:p>
        </p:txBody>
      </p:sp>
      <p:sp>
        <p:nvSpPr>
          <p:cNvPr id="30" name="TextBox 29"/>
          <p:cNvSpPr txBox="1"/>
          <p:nvPr/>
        </p:nvSpPr>
        <p:spPr>
          <a:xfrm>
            <a:off x="1097280" y="3913632"/>
            <a:ext cx="4722876" cy="41148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HRDD Step 1: Salient human rights issues prioritization</a:t>
            </a:r>
          </a:p>
        </p:txBody>
      </p:sp>
      <p:sp>
        <p:nvSpPr>
          <p:cNvPr id="31" name="Rounded Rectangle 30"/>
          <p:cNvSpPr/>
          <p:nvPr/>
        </p:nvSpPr>
        <p:spPr>
          <a:xfrm>
            <a:off x="548640" y="4389120"/>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32" name="Rounded Rectangle 31"/>
          <p:cNvSpPr/>
          <p:nvPr/>
        </p:nvSpPr>
        <p:spPr>
          <a:xfrm>
            <a:off x="658368" y="4453128"/>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3" name="TextBox 32"/>
          <p:cNvSpPr txBox="1"/>
          <p:nvPr/>
        </p:nvSpPr>
        <p:spPr>
          <a:xfrm>
            <a:off x="658368" y="4453128"/>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6</a:t>
            </a:r>
          </a:p>
        </p:txBody>
      </p:sp>
      <p:sp>
        <p:nvSpPr>
          <p:cNvPr id="34" name="TextBox 33"/>
          <p:cNvSpPr txBox="1"/>
          <p:nvPr/>
        </p:nvSpPr>
        <p:spPr>
          <a:xfrm>
            <a:off x="1097280" y="4389120"/>
            <a:ext cx="4722876" cy="41148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HRDD Step 2: Taking action</a:t>
            </a:r>
          </a:p>
        </p:txBody>
      </p:sp>
      <p:sp>
        <p:nvSpPr>
          <p:cNvPr id="35" name="Rounded Rectangle 34"/>
          <p:cNvSpPr/>
          <p:nvPr/>
        </p:nvSpPr>
        <p:spPr>
          <a:xfrm>
            <a:off x="548640" y="4864608"/>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36" name="Rounded Rectangle 35"/>
          <p:cNvSpPr/>
          <p:nvPr/>
        </p:nvSpPr>
        <p:spPr>
          <a:xfrm>
            <a:off x="658368" y="4928616"/>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7" name="TextBox 36"/>
          <p:cNvSpPr txBox="1"/>
          <p:nvPr/>
        </p:nvSpPr>
        <p:spPr>
          <a:xfrm>
            <a:off x="658368" y="4928616"/>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7</a:t>
            </a:r>
          </a:p>
        </p:txBody>
      </p:sp>
      <p:sp>
        <p:nvSpPr>
          <p:cNvPr id="38" name="TextBox 37"/>
          <p:cNvSpPr txBox="1"/>
          <p:nvPr/>
        </p:nvSpPr>
        <p:spPr>
          <a:xfrm>
            <a:off x="1097280" y="4864608"/>
            <a:ext cx="4722876" cy="41148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HRDD Step 3: Tracking</a:t>
            </a:r>
          </a:p>
        </p:txBody>
      </p:sp>
      <p:sp>
        <p:nvSpPr>
          <p:cNvPr id="39" name="Rounded Rectangle 38"/>
          <p:cNvSpPr/>
          <p:nvPr/>
        </p:nvSpPr>
        <p:spPr>
          <a:xfrm>
            <a:off x="6231636" y="2011680"/>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40" name="Rounded Rectangle 39"/>
          <p:cNvSpPr/>
          <p:nvPr/>
        </p:nvSpPr>
        <p:spPr>
          <a:xfrm>
            <a:off x="6341364" y="2075688"/>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41" name="TextBox 40"/>
          <p:cNvSpPr txBox="1"/>
          <p:nvPr/>
        </p:nvSpPr>
        <p:spPr>
          <a:xfrm>
            <a:off x="6341364" y="2075688"/>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8</a:t>
            </a:r>
          </a:p>
        </p:txBody>
      </p:sp>
      <p:sp>
        <p:nvSpPr>
          <p:cNvPr id="42" name="TextBox 41"/>
          <p:cNvSpPr txBox="1"/>
          <p:nvPr/>
        </p:nvSpPr>
        <p:spPr>
          <a:xfrm>
            <a:off x="6780275" y="2011680"/>
            <a:ext cx="4722876" cy="411480"/>
          </a:xfrm>
          <a:prstGeom prst="rect">
            <a:avLst/>
          </a:prstGeom>
          <a:noFill/>
        </p:spPr>
        <p:txBody>
          <a:bodyPr wrap="square" lIns="0" tIns="0" rIns="0" bIns="0" anchor="ctr">
            <a:spAutoFit/>
          </a:bodyPr>
          <a:lstStyle/>
          <a:p>
            <a:pPr>
              <a:lnSpc>
                <a:spcPct val="108000"/>
              </a:lnSpc>
              <a:spcAft>
                <a:spcPts val="300"/>
              </a:spcAft>
            </a:pPr>
            <a:r>
              <a:rPr sz="1050" b="1" i="0">
                <a:solidFill>
                  <a:srgbClr val="0F1129"/>
                </a:solidFill>
                <a:latin typeface="Montserrat"/>
              </a:rPr>
              <a:t>HRDD Step 4: Communicating</a:t>
            </a:r>
          </a:p>
        </p:txBody>
      </p:sp>
      <p:sp>
        <p:nvSpPr>
          <p:cNvPr id="43" name="Rounded Rectangle 42"/>
          <p:cNvSpPr/>
          <p:nvPr/>
        </p:nvSpPr>
        <p:spPr>
          <a:xfrm>
            <a:off x="6231636" y="2487168"/>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44" name="Rounded Rectangle 43"/>
          <p:cNvSpPr/>
          <p:nvPr/>
        </p:nvSpPr>
        <p:spPr>
          <a:xfrm>
            <a:off x="6341364" y="2551176"/>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45" name="TextBox 44"/>
          <p:cNvSpPr txBox="1"/>
          <p:nvPr/>
        </p:nvSpPr>
        <p:spPr>
          <a:xfrm>
            <a:off x="6341364" y="2551176"/>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9</a:t>
            </a:r>
          </a:p>
        </p:txBody>
      </p:sp>
      <p:sp>
        <p:nvSpPr>
          <p:cNvPr id="46" name="TextBox 45"/>
          <p:cNvSpPr txBox="1"/>
          <p:nvPr/>
        </p:nvSpPr>
        <p:spPr>
          <a:xfrm>
            <a:off x="6780275" y="2487168"/>
            <a:ext cx="4722876" cy="41148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Stakeholder Engagement</a:t>
            </a:r>
          </a:p>
        </p:txBody>
      </p:sp>
      <p:sp>
        <p:nvSpPr>
          <p:cNvPr id="47" name="Rounded Rectangle 46"/>
          <p:cNvSpPr/>
          <p:nvPr/>
        </p:nvSpPr>
        <p:spPr>
          <a:xfrm>
            <a:off x="6231636" y="2962656"/>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48" name="Rounded Rectangle 47"/>
          <p:cNvSpPr/>
          <p:nvPr/>
        </p:nvSpPr>
        <p:spPr>
          <a:xfrm>
            <a:off x="6341364" y="3026664"/>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49" name="TextBox 48"/>
          <p:cNvSpPr txBox="1"/>
          <p:nvPr/>
        </p:nvSpPr>
        <p:spPr>
          <a:xfrm>
            <a:off x="6341364" y="3026664"/>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10</a:t>
            </a:r>
          </a:p>
        </p:txBody>
      </p:sp>
      <p:sp>
        <p:nvSpPr>
          <p:cNvPr id="50" name="TextBox 49"/>
          <p:cNvSpPr txBox="1"/>
          <p:nvPr/>
        </p:nvSpPr>
        <p:spPr>
          <a:xfrm>
            <a:off x="6780275" y="2962656"/>
            <a:ext cx="4722876" cy="41148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Preparing for Remedy</a:t>
            </a:r>
          </a:p>
        </p:txBody>
      </p:sp>
      <p:sp>
        <p:nvSpPr>
          <p:cNvPr id="51" name="Rounded Rectangle 50"/>
          <p:cNvSpPr/>
          <p:nvPr/>
        </p:nvSpPr>
        <p:spPr>
          <a:xfrm>
            <a:off x="6231636" y="3438144"/>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52" name="Rounded Rectangle 51"/>
          <p:cNvSpPr/>
          <p:nvPr/>
        </p:nvSpPr>
        <p:spPr>
          <a:xfrm>
            <a:off x="6341364" y="3502152"/>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53" name="TextBox 52"/>
          <p:cNvSpPr txBox="1"/>
          <p:nvPr/>
        </p:nvSpPr>
        <p:spPr>
          <a:xfrm>
            <a:off x="6341364" y="3502152"/>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11</a:t>
            </a:r>
          </a:p>
        </p:txBody>
      </p:sp>
      <p:sp>
        <p:nvSpPr>
          <p:cNvPr id="54" name="TextBox 53"/>
          <p:cNvSpPr txBox="1"/>
          <p:nvPr/>
        </p:nvSpPr>
        <p:spPr>
          <a:xfrm>
            <a:off x="6780275" y="3438144"/>
            <a:ext cx="4722876" cy="41148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Grievance Mechanisms</a:t>
            </a:r>
          </a:p>
        </p:txBody>
      </p:sp>
      <p:sp>
        <p:nvSpPr>
          <p:cNvPr id="55" name="Rounded Rectangle 54"/>
          <p:cNvSpPr/>
          <p:nvPr/>
        </p:nvSpPr>
        <p:spPr>
          <a:xfrm>
            <a:off x="6231636" y="3913632"/>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56" name="Rounded Rectangle 55"/>
          <p:cNvSpPr/>
          <p:nvPr/>
        </p:nvSpPr>
        <p:spPr>
          <a:xfrm>
            <a:off x="6341364" y="3977640"/>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57" name="TextBox 56"/>
          <p:cNvSpPr txBox="1"/>
          <p:nvPr/>
        </p:nvSpPr>
        <p:spPr>
          <a:xfrm>
            <a:off x="6341364" y="3977640"/>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12</a:t>
            </a:r>
          </a:p>
        </p:txBody>
      </p:sp>
      <p:sp>
        <p:nvSpPr>
          <p:cNvPr id="58" name="TextBox 57"/>
          <p:cNvSpPr txBox="1"/>
          <p:nvPr/>
        </p:nvSpPr>
        <p:spPr>
          <a:xfrm>
            <a:off x="6780275" y="3913632"/>
            <a:ext cx="4722876" cy="411480"/>
          </a:xfrm>
          <a:prstGeom prst="rect">
            <a:avLst/>
          </a:prstGeom>
          <a:noFill/>
        </p:spPr>
        <p:txBody>
          <a:bodyPr wrap="square" lIns="0" tIns="0" rIns="0" bIns="0" anchor="ctr">
            <a:spAutoFit/>
          </a:bodyPr>
          <a:lstStyle/>
          <a:p>
            <a:pPr>
              <a:lnSpc>
                <a:spcPct val="108000"/>
              </a:lnSpc>
              <a:spcAft>
                <a:spcPts val="300"/>
              </a:spcAft>
            </a:pPr>
            <a:r>
              <a:rPr sz="1050" b="1" i="0">
                <a:solidFill>
                  <a:srgbClr val="0F1129"/>
                </a:solidFill>
                <a:latin typeface="Montserrat"/>
              </a:rPr>
              <a:t>Next Steps</a:t>
            </a:r>
          </a:p>
        </p:txBody>
      </p:sp>
      <p:sp>
        <p:nvSpPr>
          <p:cNvPr id="59" name="Rounded Rectangle 58"/>
          <p:cNvSpPr/>
          <p:nvPr/>
        </p:nvSpPr>
        <p:spPr>
          <a:xfrm>
            <a:off x="6231636" y="4389120"/>
            <a:ext cx="5408676" cy="41148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60" name="Rounded Rectangle 59"/>
          <p:cNvSpPr/>
          <p:nvPr/>
        </p:nvSpPr>
        <p:spPr>
          <a:xfrm>
            <a:off x="6341364" y="4453128"/>
            <a:ext cx="283464" cy="28346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61" name="TextBox 60"/>
          <p:cNvSpPr txBox="1"/>
          <p:nvPr/>
        </p:nvSpPr>
        <p:spPr>
          <a:xfrm>
            <a:off x="6341364" y="4453128"/>
            <a:ext cx="283464" cy="283464"/>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13</a:t>
            </a:r>
          </a:p>
        </p:txBody>
      </p:sp>
      <p:sp>
        <p:nvSpPr>
          <p:cNvPr id="62" name="TextBox 61"/>
          <p:cNvSpPr txBox="1"/>
          <p:nvPr/>
        </p:nvSpPr>
        <p:spPr>
          <a:xfrm>
            <a:off x="6780275" y="4389120"/>
            <a:ext cx="4722876" cy="411480"/>
          </a:xfrm>
          <a:prstGeom prst="rect">
            <a:avLst/>
          </a:prstGeom>
          <a:noFill/>
        </p:spPr>
        <p:txBody>
          <a:bodyPr wrap="square" lIns="0" tIns="0" rIns="0" bIns="0" anchor="ctr">
            <a:spAutoFit/>
          </a:bodyPr>
          <a:lstStyle/>
          <a:p>
            <a:pPr>
              <a:lnSpc>
                <a:spcPct val="108000"/>
              </a:lnSpc>
              <a:spcAft>
                <a:spcPts val="300"/>
              </a:spcAft>
            </a:pPr>
            <a:r>
              <a:rPr sz="1050" b="1" i="0">
                <a:solidFill>
                  <a:srgbClr val="0F1129"/>
                </a:solidFill>
                <a:latin typeface="Montserrat"/>
              </a:rPr>
              <a:t>Timelines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Kapital Bank CSR </a:t>
            </a:r>
            <a:r>
              <a:rPr lang="en-US" sz="800" b="0" i="0" dirty="0">
                <a:solidFill>
                  <a:srgbClr val="6B6F8A"/>
                </a:solidFill>
                <a:latin typeface="Montserrat"/>
              </a:rPr>
              <a:t>Strategy</a:t>
            </a:r>
            <a:r>
              <a:rPr sz="800" b="0" i="0" dirty="0">
                <a:solidFill>
                  <a:srgbClr val="6B6F8A"/>
                </a:solidFill>
                <a:latin typeface="Montserrat"/>
              </a:rPr>
              <a:t>; Complaints Procedure 2024–2025; Sustainability Report 202</a:t>
            </a:r>
            <a:r>
              <a:rPr lang="en-US" sz="800" b="0" i="0" dirty="0">
                <a:solidFill>
                  <a:srgbClr val="6B6F8A"/>
                </a:solidFill>
                <a:latin typeface="Montserrat"/>
              </a:rPr>
              <a:t>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3</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dirty="0">
                <a:solidFill>
                  <a:srgbClr val="0F1129"/>
                </a:solidFill>
                <a:latin typeface="Montserrat"/>
              </a:rPr>
              <a:t>Company introduction</a:t>
            </a:r>
          </a:p>
        </p:txBody>
      </p:sp>
      <p:sp>
        <p:nvSpPr>
          <p:cNvPr id="9" name="TextBox 8"/>
          <p:cNvSpPr txBox="1"/>
          <p:nvPr/>
        </p:nvSpPr>
        <p:spPr>
          <a:xfrm>
            <a:off x="548640" y="1371600"/>
            <a:ext cx="11091672" cy="411480"/>
          </a:xfrm>
          <a:prstGeom prst="rect">
            <a:avLst/>
          </a:prstGeom>
          <a:noFill/>
        </p:spPr>
        <p:txBody>
          <a:bodyPr wrap="square" lIns="0" tIns="0" rIns="0" bIns="0" anchor="t">
            <a:spAutoFit/>
          </a:bodyPr>
          <a:lstStyle/>
          <a:p>
            <a:pPr>
              <a:lnSpc>
                <a:spcPct val="100000"/>
              </a:lnSpc>
              <a:spcAft>
                <a:spcPts val="300"/>
              </a:spcAft>
            </a:pPr>
            <a:r>
              <a:rPr sz="1100" b="0" i="0">
                <a:solidFill>
                  <a:srgbClr val="6B6F8A"/>
                </a:solidFill>
                <a:latin typeface="Montserrat"/>
              </a:rPr>
              <a:t>Insert company description</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7040880" cy="4297680"/>
          </a:xfrm>
          <a:prstGeom prst="roundRect">
            <a:avLst>
              <a:gd name="adj" fmla="val 2127"/>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2" name="TextBox 11"/>
          <p:cNvSpPr txBox="1"/>
          <p:nvPr/>
        </p:nvSpPr>
        <p:spPr>
          <a:xfrm>
            <a:off x="822959" y="2194560"/>
            <a:ext cx="6492240" cy="2240280"/>
          </a:xfrm>
          <a:prstGeom prst="rect">
            <a:avLst/>
          </a:prstGeom>
          <a:noFill/>
        </p:spPr>
        <p:txBody>
          <a:bodyPr wrap="square" lIns="0" tIns="0" rIns="0" bIns="0" anchor="t">
            <a:spAutoFit/>
          </a:bodyPr>
          <a:lstStyle/>
          <a:p>
            <a:pPr>
              <a:lnSpc>
                <a:spcPct val="108000"/>
              </a:lnSpc>
              <a:spcAft>
                <a:spcPts val="600"/>
              </a:spcAft>
            </a:pPr>
            <a:r>
              <a:rPr sz="1030" b="1" i="0" dirty="0">
                <a:solidFill>
                  <a:srgbClr val="2A2C45"/>
                </a:solidFill>
                <a:latin typeface="Montserrat"/>
              </a:rPr>
              <a:t>Kapital Bank OJSC</a:t>
            </a:r>
            <a:r>
              <a:rPr sz="1030" b="0" i="0" dirty="0">
                <a:solidFill>
                  <a:srgbClr val="2A2C45"/>
                </a:solidFill>
                <a:latin typeface="Montserrat"/>
              </a:rPr>
              <a:t> is Azerbaijan’s oldest and largest bank. Its history starts with a savings treasury opened in Baku in 1874. In 2026 PASHA Holding transferred its main stake within the group to Bir </a:t>
            </a:r>
            <a:r>
              <a:rPr sz="1030" b="0" i="0" dirty="0" err="1">
                <a:solidFill>
                  <a:srgbClr val="2A2C45"/>
                </a:solidFill>
                <a:latin typeface="Montserrat"/>
              </a:rPr>
              <a:t>Ekosistem</a:t>
            </a:r>
            <a:r>
              <a:rPr sz="1030" b="0" i="0" dirty="0">
                <a:solidFill>
                  <a:srgbClr val="2A2C45"/>
                </a:solidFill>
                <a:latin typeface="Montserrat"/>
              </a:rPr>
              <a:t> LLC, now the majority shareholder (77.33%). Since 2025 the bank serves retail customers under the </a:t>
            </a:r>
            <a:r>
              <a:rPr sz="1030" b="0" i="0" dirty="0" err="1">
                <a:solidFill>
                  <a:srgbClr val="2A2C45"/>
                </a:solidFill>
                <a:latin typeface="Montserrat"/>
              </a:rPr>
              <a:t>Birbank</a:t>
            </a:r>
            <a:r>
              <a:rPr sz="1030" b="0" i="0" dirty="0">
                <a:solidFill>
                  <a:srgbClr val="2A2C45"/>
                </a:solidFill>
                <a:latin typeface="Montserrat"/>
              </a:rPr>
              <a:t> brand.</a:t>
            </a:r>
          </a:p>
          <a:p>
            <a:pPr>
              <a:lnSpc>
                <a:spcPct val="108000"/>
              </a:lnSpc>
              <a:spcAft>
                <a:spcPts val="600"/>
              </a:spcAft>
            </a:pPr>
            <a:r>
              <a:rPr sz="1030" b="0" i="0" dirty="0">
                <a:solidFill>
                  <a:srgbClr val="2A2C45"/>
                </a:solidFill>
                <a:latin typeface="Montserrat"/>
              </a:rPr>
              <a:t>The bank serves </a:t>
            </a:r>
            <a:r>
              <a:rPr sz="1030" b="1" i="0" dirty="0">
                <a:solidFill>
                  <a:srgbClr val="2A2C45"/>
                </a:solidFill>
                <a:latin typeface="Montserrat"/>
              </a:rPr>
              <a:t>more than 5 million individuals and tens of thousands of businesses</a:t>
            </a:r>
            <a:r>
              <a:rPr sz="1030" b="0" i="0" dirty="0">
                <a:solidFill>
                  <a:srgbClr val="2A2C45"/>
                </a:solidFill>
                <a:latin typeface="Montserrat"/>
              </a:rPr>
              <a:t> through the country’s largest branch network (c. 115–119 branches) and a mobile app with </a:t>
            </a:r>
            <a:r>
              <a:rPr sz="1030" b="1" i="0" dirty="0">
                <a:solidFill>
                  <a:srgbClr val="2A2C45"/>
                </a:solidFill>
                <a:latin typeface="Montserrat"/>
              </a:rPr>
              <a:t>3+ million active users</a:t>
            </a:r>
            <a:r>
              <a:rPr sz="1030" b="0" i="0" dirty="0">
                <a:solidFill>
                  <a:srgbClr val="2A2C45"/>
                </a:solidFill>
                <a:latin typeface="Montserrat"/>
              </a:rPr>
              <a:t>. It offers retail, SME, corporate and private banking.</a:t>
            </a:r>
          </a:p>
          <a:p>
            <a:pPr>
              <a:lnSpc>
                <a:spcPct val="108000"/>
              </a:lnSpc>
              <a:spcAft>
                <a:spcPts val="600"/>
              </a:spcAft>
            </a:pPr>
            <a:r>
              <a:rPr sz="1030" b="0" i="0" dirty="0">
                <a:solidFill>
                  <a:srgbClr val="2A2C45"/>
                </a:solidFill>
                <a:latin typeface="Montserrat"/>
              </a:rPr>
              <a:t>Kapital Bank joined the </a:t>
            </a:r>
            <a:r>
              <a:rPr sz="1030" b="1" i="0" dirty="0">
                <a:solidFill>
                  <a:srgbClr val="2A2C45"/>
                </a:solidFill>
                <a:latin typeface="Montserrat"/>
              </a:rPr>
              <a:t>UN Global Compact in October 2024</a:t>
            </a:r>
            <a:r>
              <a:rPr sz="1030" b="0" i="0" dirty="0">
                <a:solidFill>
                  <a:srgbClr val="2A2C45"/>
                </a:solidFill>
                <a:latin typeface="Montserrat"/>
              </a:rPr>
              <a:t>. It published its first GRI-based Sustainability Report for 2023, and ESG is part of its 2024–2026 strategy.</a:t>
            </a:r>
          </a:p>
        </p:txBody>
      </p:sp>
      <p:cxnSp>
        <p:nvCxnSpPr>
          <p:cNvPr id="13" name="Connector 12"/>
          <p:cNvCxnSpPr/>
          <p:nvPr/>
        </p:nvCxnSpPr>
        <p:spPr>
          <a:xfrm>
            <a:off x="822959" y="4480560"/>
            <a:ext cx="6492241" cy="0"/>
          </a:xfrm>
          <a:prstGeom prst="line">
            <a:avLst/>
          </a:prstGeom>
          <a:ln w="9525">
            <a:solidFill>
              <a:srgbClr val="E7E9F2"/>
            </a:solidFill>
          </a:ln>
        </p:spPr>
      </p:cxnSp>
      <p:sp>
        <p:nvSpPr>
          <p:cNvPr id="14" name="TextBox 13"/>
          <p:cNvSpPr txBox="1"/>
          <p:nvPr/>
        </p:nvSpPr>
        <p:spPr>
          <a:xfrm>
            <a:off x="822959" y="4553712"/>
            <a:ext cx="6400800" cy="256032"/>
          </a:xfrm>
          <a:prstGeom prst="rect">
            <a:avLst/>
          </a:prstGeom>
          <a:noFill/>
        </p:spPr>
        <p:txBody>
          <a:bodyPr wrap="square" lIns="0" tIns="0" rIns="0" bIns="0" anchor="t">
            <a:spAutoFit/>
          </a:bodyPr>
          <a:lstStyle/>
          <a:p>
            <a:pPr>
              <a:lnSpc>
                <a:spcPct val="108000"/>
              </a:lnSpc>
              <a:spcAft>
                <a:spcPts val="300"/>
              </a:spcAft>
            </a:pPr>
            <a:r>
              <a:rPr sz="1000" b="1" i="0" dirty="0">
                <a:solidFill>
                  <a:srgbClr val="0F1129"/>
                </a:solidFill>
                <a:latin typeface="Montserrat"/>
              </a:rPr>
              <a:t>Shareholder structure, % of charter capital (Sep 2026)</a:t>
            </a:r>
          </a:p>
        </p:txBody>
      </p:sp>
      <p:graphicFrame>
        <p:nvGraphicFramePr>
          <p:cNvPr id="15" name="Chart 14"/>
          <p:cNvGraphicFramePr>
            <a:graphicFrameLocks noGrp="1"/>
          </p:cNvGraphicFramePr>
          <p:nvPr/>
        </p:nvGraphicFramePr>
        <p:xfrm>
          <a:off x="731520" y="4800600"/>
          <a:ext cx="1508760" cy="146304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p:cNvSpPr txBox="1"/>
          <p:nvPr/>
        </p:nvSpPr>
        <p:spPr>
          <a:xfrm>
            <a:off x="886968" y="5303520"/>
            <a:ext cx="1188720" cy="457200"/>
          </a:xfrm>
          <a:prstGeom prst="rect">
            <a:avLst/>
          </a:prstGeom>
          <a:noFill/>
        </p:spPr>
        <p:txBody>
          <a:bodyPr wrap="square" lIns="0" tIns="0" rIns="0" bIns="0" anchor="ctr">
            <a:spAutoFit/>
          </a:bodyPr>
          <a:lstStyle/>
          <a:p>
            <a:pPr algn="ctr">
              <a:lnSpc>
                <a:spcPct val="108000"/>
              </a:lnSpc>
              <a:spcAft>
                <a:spcPts val="300"/>
              </a:spcAft>
            </a:pPr>
            <a:r>
              <a:rPr sz="1100" b="1" i="0">
                <a:solidFill>
                  <a:srgbClr val="0F1129"/>
                </a:solidFill>
                <a:latin typeface="Montserrat"/>
              </a:rPr>
              <a:t>77.33</a:t>
            </a:r>
          </a:p>
        </p:txBody>
      </p:sp>
      <p:sp>
        <p:nvSpPr>
          <p:cNvPr id="17" name="Rounded Rectangle 16"/>
          <p:cNvSpPr/>
          <p:nvPr/>
        </p:nvSpPr>
        <p:spPr>
          <a:xfrm>
            <a:off x="2468880" y="4946904"/>
            <a:ext cx="137160" cy="137160"/>
          </a:xfrm>
          <a:prstGeom prst="roundRect">
            <a:avLst>
              <a:gd name="adj" fmla="val 30000"/>
            </a:avLst>
          </a:prstGeom>
          <a:solidFill>
            <a:srgbClr val="E4202E"/>
          </a:solidFill>
          <a:ln>
            <a:noFill/>
          </a:ln>
          <a:effectLst/>
        </p:spPr>
        <p:txBody>
          <a:bodyPr rtlCol="0" anchor="ctr"/>
          <a:lstStyle/>
          <a:p>
            <a:pPr algn="ctr"/>
            <a:endParaRPr/>
          </a:p>
        </p:txBody>
      </p:sp>
      <p:sp>
        <p:nvSpPr>
          <p:cNvPr id="18" name="TextBox 17"/>
          <p:cNvSpPr txBox="1"/>
          <p:nvPr/>
        </p:nvSpPr>
        <p:spPr>
          <a:xfrm>
            <a:off x="2670048" y="4864608"/>
            <a:ext cx="1783080" cy="301752"/>
          </a:xfrm>
          <a:prstGeom prst="rect">
            <a:avLst/>
          </a:prstGeom>
          <a:noFill/>
        </p:spPr>
        <p:txBody>
          <a:bodyPr wrap="square" lIns="0" tIns="0" rIns="0" bIns="0" anchor="ctr">
            <a:spAutoFit/>
          </a:bodyPr>
          <a:lstStyle/>
          <a:p>
            <a:pPr>
              <a:lnSpc>
                <a:spcPct val="100000"/>
              </a:lnSpc>
              <a:spcAft>
                <a:spcPts val="300"/>
              </a:spcAft>
            </a:pPr>
            <a:r>
              <a:rPr sz="800" b="1" i="0">
                <a:solidFill>
                  <a:srgbClr val="0F1129"/>
                </a:solidFill>
                <a:latin typeface="Montserrat"/>
              </a:rPr>
              <a:t>Bir Ekosistem LLC</a:t>
            </a:r>
          </a:p>
        </p:txBody>
      </p:sp>
      <p:sp>
        <p:nvSpPr>
          <p:cNvPr id="19" name="TextBox 18"/>
          <p:cNvSpPr txBox="1"/>
          <p:nvPr/>
        </p:nvSpPr>
        <p:spPr>
          <a:xfrm>
            <a:off x="4389120" y="4864608"/>
            <a:ext cx="502920" cy="301752"/>
          </a:xfrm>
          <a:prstGeom prst="rect">
            <a:avLst/>
          </a:prstGeom>
          <a:noFill/>
        </p:spPr>
        <p:txBody>
          <a:bodyPr wrap="square" lIns="0" tIns="0" rIns="0" bIns="0" anchor="ctr">
            <a:spAutoFit/>
          </a:bodyPr>
          <a:lstStyle/>
          <a:p>
            <a:pPr algn="r">
              <a:lnSpc>
                <a:spcPct val="108000"/>
              </a:lnSpc>
              <a:spcAft>
                <a:spcPts val="300"/>
              </a:spcAft>
            </a:pPr>
            <a:r>
              <a:rPr sz="800" b="1" i="0">
                <a:solidFill>
                  <a:srgbClr val="0F1129"/>
                </a:solidFill>
                <a:latin typeface="Montserrat"/>
              </a:rPr>
              <a:t>77.33</a:t>
            </a:r>
          </a:p>
        </p:txBody>
      </p:sp>
      <p:sp>
        <p:nvSpPr>
          <p:cNvPr id="20" name="Rounded Rectangle 19"/>
          <p:cNvSpPr/>
          <p:nvPr/>
        </p:nvSpPr>
        <p:spPr>
          <a:xfrm>
            <a:off x="2468880" y="5276088"/>
            <a:ext cx="137160" cy="137160"/>
          </a:xfrm>
          <a:prstGeom prst="roundRect">
            <a:avLst>
              <a:gd name="adj" fmla="val 30000"/>
            </a:avLst>
          </a:prstGeom>
          <a:solidFill>
            <a:srgbClr val="F2552A"/>
          </a:solidFill>
          <a:ln>
            <a:noFill/>
          </a:ln>
          <a:effectLst/>
        </p:spPr>
        <p:txBody>
          <a:bodyPr rtlCol="0" anchor="ctr"/>
          <a:lstStyle/>
          <a:p>
            <a:pPr algn="ctr"/>
            <a:endParaRPr/>
          </a:p>
        </p:txBody>
      </p:sp>
      <p:sp>
        <p:nvSpPr>
          <p:cNvPr id="21" name="TextBox 20"/>
          <p:cNvSpPr txBox="1"/>
          <p:nvPr/>
        </p:nvSpPr>
        <p:spPr>
          <a:xfrm>
            <a:off x="2670048" y="5193792"/>
            <a:ext cx="1783080" cy="301752"/>
          </a:xfrm>
          <a:prstGeom prst="rect">
            <a:avLst/>
          </a:prstGeom>
          <a:noFill/>
        </p:spPr>
        <p:txBody>
          <a:bodyPr wrap="square" lIns="0" tIns="0" rIns="0" bIns="0" anchor="ctr">
            <a:spAutoFit/>
          </a:bodyPr>
          <a:lstStyle/>
          <a:p>
            <a:pPr>
              <a:lnSpc>
                <a:spcPct val="100000"/>
              </a:lnSpc>
              <a:spcAft>
                <a:spcPts val="300"/>
              </a:spcAft>
            </a:pPr>
            <a:r>
              <a:rPr sz="800" b="0" i="0" dirty="0">
                <a:solidFill>
                  <a:srgbClr val="2A2C45"/>
                </a:solidFill>
                <a:latin typeface="Montserrat"/>
              </a:rPr>
              <a:t>PASHA Insurance</a:t>
            </a:r>
          </a:p>
        </p:txBody>
      </p:sp>
      <p:sp>
        <p:nvSpPr>
          <p:cNvPr id="22" name="TextBox 21"/>
          <p:cNvSpPr txBox="1"/>
          <p:nvPr/>
        </p:nvSpPr>
        <p:spPr>
          <a:xfrm>
            <a:off x="4389120" y="5193792"/>
            <a:ext cx="502920" cy="301752"/>
          </a:xfrm>
          <a:prstGeom prst="rect">
            <a:avLst/>
          </a:prstGeom>
          <a:noFill/>
        </p:spPr>
        <p:txBody>
          <a:bodyPr wrap="square" lIns="0" tIns="0" rIns="0" bIns="0" anchor="ctr">
            <a:spAutoFit/>
          </a:bodyPr>
          <a:lstStyle/>
          <a:p>
            <a:pPr algn="r">
              <a:lnSpc>
                <a:spcPct val="108000"/>
              </a:lnSpc>
              <a:spcAft>
                <a:spcPts val="300"/>
              </a:spcAft>
            </a:pPr>
            <a:r>
              <a:rPr sz="800" b="1" i="0">
                <a:solidFill>
                  <a:srgbClr val="0F1129"/>
                </a:solidFill>
                <a:latin typeface="Montserrat"/>
              </a:rPr>
              <a:t>7.52</a:t>
            </a:r>
          </a:p>
        </p:txBody>
      </p:sp>
      <p:sp>
        <p:nvSpPr>
          <p:cNvPr id="23" name="Rounded Rectangle 22"/>
          <p:cNvSpPr/>
          <p:nvPr/>
        </p:nvSpPr>
        <p:spPr>
          <a:xfrm>
            <a:off x="2468880" y="5605272"/>
            <a:ext cx="137160" cy="137160"/>
          </a:xfrm>
          <a:prstGeom prst="roundRect">
            <a:avLst>
              <a:gd name="adj" fmla="val 30000"/>
            </a:avLst>
          </a:prstGeom>
          <a:solidFill>
            <a:srgbClr val="FF7A1F"/>
          </a:solidFill>
          <a:ln>
            <a:noFill/>
          </a:ln>
          <a:effectLst/>
        </p:spPr>
        <p:txBody>
          <a:bodyPr rtlCol="0" anchor="ctr"/>
          <a:lstStyle/>
          <a:p>
            <a:pPr algn="ctr"/>
            <a:endParaRPr/>
          </a:p>
        </p:txBody>
      </p:sp>
      <p:sp>
        <p:nvSpPr>
          <p:cNvPr id="24" name="TextBox 23"/>
          <p:cNvSpPr txBox="1"/>
          <p:nvPr/>
        </p:nvSpPr>
        <p:spPr>
          <a:xfrm>
            <a:off x="2670048" y="5522976"/>
            <a:ext cx="1783080" cy="301752"/>
          </a:xfrm>
          <a:prstGeom prst="rect">
            <a:avLst/>
          </a:prstGeom>
          <a:noFill/>
        </p:spPr>
        <p:txBody>
          <a:bodyPr wrap="square" lIns="0" tIns="0" rIns="0" bIns="0" anchor="ctr">
            <a:spAutoFit/>
          </a:bodyPr>
          <a:lstStyle/>
          <a:p>
            <a:pPr>
              <a:lnSpc>
                <a:spcPct val="100000"/>
              </a:lnSpc>
              <a:spcAft>
                <a:spcPts val="300"/>
              </a:spcAft>
            </a:pPr>
            <a:r>
              <a:rPr sz="800" b="0" i="0">
                <a:solidFill>
                  <a:srgbClr val="2A2C45"/>
                </a:solidFill>
                <a:latin typeface="Montserrat"/>
              </a:rPr>
              <a:t>PASHA Life Insurance</a:t>
            </a:r>
          </a:p>
        </p:txBody>
      </p:sp>
      <p:sp>
        <p:nvSpPr>
          <p:cNvPr id="25" name="TextBox 24"/>
          <p:cNvSpPr txBox="1"/>
          <p:nvPr/>
        </p:nvSpPr>
        <p:spPr>
          <a:xfrm>
            <a:off x="4389120" y="5522976"/>
            <a:ext cx="502920" cy="301752"/>
          </a:xfrm>
          <a:prstGeom prst="rect">
            <a:avLst/>
          </a:prstGeom>
          <a:noFill/>
        </p:spPr>
        <p:txBody>
          <a:bodyPr wrap="square" lIns="0" tIns="0" rIns="0" bIns="0" anchor="ctr">
            <a:spAutoFit/>
          </a:bodyPr>
          <a:lstStyle/>
          <a:p>
            <a:pPr algn="r">
              <a:lnSpc>
                <a:spcPct val="108000"/>
              </a:lnSpc>
              <a:spcAft>
                <a:spcPts val="300"/>
              </a:spcAft>
            </a:pPr>
            <a:r>
              <a:rPr sz="800" b="1" i="0">
                <a:solidFill>
                  <a:srgbClr val="0F1129"/>
                </a:solidFill>
                <a:latin typeface="Montserrat"/>
              </a:rPr>
              <a:t>3.76</a:t>
            </a:r>
          </a:p>
        </p:txBody>
      </p:sp>
      <p:sp>
        <p:nvSpPr>
          <p:cNvPr id="26" name="Rounded Rectangle 25"/>
          <p:cNvSpPr/>
          <p:nvPr/>
        </p:nvSpPr>
        <p:spPr>
          <a:xfrm>
            <a:off x="2468880" y="5934456"/>
            <a:ext cx="137160" cy="137160"/>
          </a:xfrm>
          <a:prstGeom prst="roundRect">
            <a:avLst>
              <a:gd name="adj" fmla="val 30000"/>
            </a:avLst>
          </a:prstGeom>
          <a:solidFill>
            <a:srgbClr val="FDBA8C"/>
          </a:solidFill>
          <a:ln>
            <a:noFill/>
          </a:ln>
          <a:effectLst/>
        </p:spPr>
        <p:txBody>
          <a:bodyPr rtlCol="0" anchor="ctr"/>
          <a:lstStyle/>
          <a:p>
            <a:pPr algn="ctr"/>
            <a:endParaRPr/>
          </a:p>
        </p:txBody>
      </p:sp>
      <p:sp>
        <p:nvSpPr>
          <p:cNvPr id="27" name="TextBox 26"/>
          <p:cNvSpPr txBox="1"/>
          <p:nvPr/>
        </p:nvSpPr>
        <p:spPr>
          <a:xfrm>
            <a:off x="2670048" y="5852160"/>
            <a:ext cx="1783080" cy="301752"/>
          </a:xfrm>
          <a:prstGeom prst="rect">
            <a:avLst/>
          </a:prstGeom>
          <a:noFill/>
        </p:spPr>
        <p:txBody>
          <a:bodyPr wrap="square" lIns="0" tIns="0" rIns="0" bIns="0" anchor="ctr">
            <a:spAutoFit/>
          </a:bodyPr>
          <a:lstStyle/>
          <a:p>
            <a:pPr>
              <a:lnSpc>
                <a:spcPct val="100000"/>
              </a:lnSpc>
              <a:spcAft>
                <a:spcPts val="300"/>
              </a:spcAft>
            </a:pPr>
            <a:r>
              <a:rPr sz="800" b="0" i="0">
                <a:solidFill>
                  <a:srgbClr val="2A2C45"/>
                </a:solidFill>
                <a:latin typeface="Montserrat"/>
              </a:rPr>
              <a:t>PASHA Holding (direct)</a:t>
            </a:r>
          </a:p>
        </p:txBody>
      </p:sp>
      <p:sp>
        <p:nvSpPr>
          <p:cNvPr id="28" name="TextBox 27"/>
          <p:cNvSpPr txBox="1"/>
          <p:nvPr/>
        </p:nvSpPr>
        <p:spPr>
          <a:xfrm>
            <a:off x="4389120" y="5852160"/>
            <a:ext cx="502920" cy="301752"/>
          </a:xfrm>
          <a:prstGeom prst="rect">
            <a:avLst/>
          </a:prstGeom>
          <a:noFill/>
        </p:spPr>
        <p:txBody>
          <a:bodyPr wrap="square" lIns="0" tIns="0" rIns="0" bIns="0" anchor="ctr">
            <a:spAutoFit/>
          </a:bodyPr>
          <a:lstStyle/>
          <a:p>
            <a:pPr algn="r">
              <a:lnSpc>
                <a:spcPct val="108000"/>
              </a:lnSpc>
              <a:spcAft>
                <a:spcPts val="300"/>
              </a:spcAft>
            </a:pPr>
            <a:r>
              <a:rPr sz="800" b="1" i="0">
                <a:solidFill>
                  <a:srgbClr val="0F1129"/>
                </a:solidFill>
                <a:latin typeface="Montserrat"/>
              </a:rPr>
              <a:t>3.75</a:t>
            </a:r>
          </a:p>
        </p:txBody>
      </p:sp>
      <p:sp>
        <p:nvSpPr>
          <p:cNvPr id="29" name="Rounded Rectangle 28"/>
          <p:cNvSpPr/>
          <p:nvPr/>
        </p:nvSpPr>
        <p:spPr>
          <a:xfrm>
            <a:off x="4983480" y="4946904"/>
            <a:ext cx="137160" cy="137160"/>
          </a:xfrm>
          <a:prstGeom prst="roundRect">
            <a:avLst>
              <a:gd name="adj" fmla="val 30000"/>
            </a:avLst>
          </a:prstGeom>
          <a:solidFill>
            <a:srgbClr val="C9CBD9"/>
          </a:solidFill>
          <a:ln>
            <a:noFill/>
          </a:ln>
          <a:effectLst/>
        </p:spPr>
        <p:txBody>
          <a:bodyPr rtlCol="0" anchor="ctr"/>
          <a:lstStyle/>
          <a:p>
            <a:pPr algn="ctr"/>
            <a:endParaRPr/>
          </a:p>
        </p:txBody>
      </p:sp>
      <p:sp>
        <p:nvSpPr>
          <p:cNvPr id="30" name="TextBox 29"/>
          <p:cNvSpPr txBox="1"/>
          <p:nvPr/>
        </p:nvSpPr>
        <p:spPr>
          <a:xfrm>
            <a:off x="5184648" y="4864608"/>
            <a:ext cx="1783080" cy="301752"/>
          </a:xfrm>
          <a:prstGeom prst="rect">
            <a:avLst/>
          </a:prstGeom>
          <a:noFill/>
        </p:spPr>
        <p:txBody>
          <a:bodyPr wrap="square" lIns="0" tIns="0" rIns="0" bIns="0" anchor="ctr">
            <a:spAutoFit/>
          </a:bodyPr>
          <a:lstStyle/>
          <a:p>
            <a:pPr>
              <a:lnSpc>
                <a:spcPct val="100000"/>
              </a:lnSpc>
              <a:spcAft>
                <a:spcPts val="300"/>
              </a:spcAft>
            </a:pPr>
            <a:r>
              <a:rPr sz="800" b="0" i="0">
                <a:solidFill>
                  <a:srgbClr val="2A2C45"/>
                </a:solidFill>
                <a:latin typeface="Montserrat"/>
              </a:rPr>
              <a:t>BLESS LLC</a:t>
            </a:r>
          </a:p>
        </p:txBody>
      </p:sp>
      <p:sp>
        <p:nvSpPr>
          <p:cNvPr id="31" name="TextBox 30"/>
          <p:cNvSpPr txBox="1"/>
          <p:nvPr/>
        </p:nvSpPr>
        <p:spPr>
          <a:xfrm>
            <a:off x="6903720" y="4864608"/>
            <a:ext cx="502920" cy="301752"/>
          </a:xfrm>
          <a:prstGeom prst="rect">
            <a:avLst/>
          </a:prstGeom>
          <a:noFill/>
        </p:spPr>
        <p:txBody>
          <a:bodyPr wrap="square" lIns="0" tIns="0" rIns="0" bIns="0" anchor="ctr">
            <a:spAutoFit/>
          </a:bodyPr>
          <a:lstStyle/>
          <a:p>
            <a:pPr algn="r">
              <a:lnSpc>
                <a:spcPct val="108000"/>
              </a:lnSpc>
              <a:spcAft>
                <a:spcPts val="300"/>
              </a:spcAft>
            </a:pPr>
            <a:r>
              <a:rPr sz="800" b="1" i="0" dirty="0">
                <a:solidFill>
                  <a:srgbClr val="0F1129"/>
                </a:solidFill>
                <a:latin typeface="Montserrat"/>
              </a:rPr>
              <a:t>2.82</a:t>
            </a:r>
          </a:p>
        </p:txBody>
      </p:sp>
      <p:sp>
        <p:nvSpPr>
          <p:cNvPr id="32" name="Rounded Rectangle 31"/>
          <p:cNvSpPr/>
          <p:nvPr/>
        </p:nvSpPr>
        <p:spPr>
          <a:xfrm>
            <a:off x="4983480" y="5276088"/>
            <a:ext cx="137160" cy="137160"/>
          </a:xfrm>
          <a:prstGeom prst="roundRect">
            <a:avLst>
              <a:gd name="adj" fmla="val 30000"/>
            </a:avLst>
          </a:prstGeom>
          <a:solidFill>
            <a:srgbClr val="DADCE6"/>
          </a:solidFill>
          <a:ln>
            <a:noFill/>
          </a:ln>
          <a:effectLst/>
        </p:spPr>
        <p:txBody>
          <a:bodyPr rtlCol="0" anchor="ctr"/>
          <a:lstStyle/>
          <a:p>
            <a:pPr algn="ctr"/>
            <a:endParaRPr/>
          </a:p>
        </p:txBody>
      </p:sp>
      <p:sp>
        <p:nvSpPr>
          <p:cNvPr id="33" name="TextBox 32"/>
          <p:cNvSpPr txBox="1"/>
          <p:nvPr/>
        </p:nvSpPr>
        <p:spPr>
          <a:xfrm>
            <a:off x="5184648" y="5193792"/>
            <a:ext cx="1783080" cy="301752"/>
          </a:xfrm>
          <a:prstGeom prst="rect">
            <a:avLst/>
          </a:prstGeom>
          <a:noFill/>
        </p:spPr>
        <p:txBody>
          <a:bodyPr wrap="square" lIns="0" tIns="0" rIns="0" bIns="0" anchor="ctr">
            <a:spAutoFit/>
          </a:bodyPr>
          <a:lstStyle/>
          <a:p>
            <a:pPr>
              <a:lnSpc>
                <a:spcPct val="100000"/>
              </a:lnSpc>
              <a:spcAft>
                <a:spcPts val="300"/>
              </a:spcAft>
            </a:pPr>
            <a:r>
              <a:rPr sz="800" b="0" i="0">
                <a:solidFill>
                  <a:srgbClr val="2A2C45"/>
                </a:solidFill>
                <a:latin typeface="Montserrat"/>
              </a:rPr>
              <a:t>REVERİ LLC</a:t>
            </a:r>
          </a:p>
        </p:txBody>
      </p:sp>
      <p:sp>
        <p:nvSpPr>
          <p:cNvPr id="34" name="TextBox 33"/>
          <p:cNvSpPr txBox="1"/>
          <p:nvPr/>
        </p:nvSpPr>
        <p:spPr>
          <a:xfrm>
            <a:off x="6903720" y="5193792"/>
            <a:ext cx="502920" cy="301752"/>
          </a:xfrm>
          <a:prstGeom prst="rect">
            <a:avLst/>
          </a:prstGeom>
          <a:noFill/>
        </p:spPr>
        <p:txBody>
          <a:bodyPr wrap="square" lIns="0" tIns="0" rIns="0" bIns="0" anchor="ctr">
            <a:spAutoFit/>
          </a:bodyPr>
          <a:lstStyle/>
          <a:p>
            <a:pPr algn="r">
              <a:lnSpc>
                <a:spcPct val="108000"/>
              </a:lnSpc>
              <a:spcAft>
                <a:spcPts val="300"/>
              </a:spcAft>
            </a:pPr>
            <a:r>
              <a:rPr sz="800" b="1" i="0">
                <a:solidFill>
                  <a:srgbClr val="0F1129"/>
                </a:solidFill>
                <a:latin typeface="Montserrat"/>
              </a:rPr>
              <a:t>2.82</a:t>
            </a:r>
          </a:p>
        </p:txBody>
      </p:sp>
      <p:sp>
        <p:nvSpPr>
          <p:cNvPr id="35" name="Rounded Rectangle 34"/>
          <p:cNvSpPr/>
          <p:nvPr/>
        </p:nvSpPr>
        <p:spPr>
          <a:xfrm>
            <a:off x="4983480" y="5605272"/>
            <a:ext cx="137160" cy="137160"/>
          </a:xfrm>
          <a:prstGeom prst="roundRect">
            <a:avLst>
              <a:gd name="adj" fmla="val 30000"/>
            </a:avLst>
          </a:prstGeom>
          <a:solidFill>
            <a:srgbClr val="E7E9F2"/>
          </a:solidFill>
          <a:ln>
            <a:noFill/>
          </a:ln>
          <a:effectLst/>
        </p:spPr>
        <p:txBody>
          <a:bodyPr rtlCol="0" anchor="ctr"/>
          <a:lstStyle/>
          <a:p>
            <a:pPr algn="ctr"/>
            <a:endParaRPr/>
          </a:p>
        </p:txBody>
      </p:sp>
      <p:sp>
        <p:nvSpPr>
          <p:cNvPr id="36" name="TextBox 35"/>
          <p:cNvSpPr txBox="1"/>
          <p:nvPr/>
        </p:nvSpPr>
        <p:spPr>
          <a:xfrm>
            <a:off x="5184648" y="5522976"/>
            <a:ext cx="1783080" cy="301752"/>
          </a:xfrm>
          <a:prstGeom prst="rect">
            <a:avLst/>
          </a:prstGeom>
          <a:noFill/>
        </p:spPr>
        <p:txBody>
          <a:bodyPr wrap="square" lIns="0" tIns="0" rIns="0" bIns="0" anchor="ctr">
            <a:spAutoFit/>
          </a:bodyPr>
          <a:lstStyle/>
          <a:p>
            <a:pPr>
              <a:lnSpc>
                <a:spcPct val="100000"/>
              </a:lnSpc>
              <a:spcAft>
                <a:spcPts val="300"/>
              </a:spcAft>
            </a:pPr>
            <a:r>
              <a:rPr sz="800" b="0" i="0">
                <a:solidFill>
                  <a:srgbClr val="2A2C45"/>
                </a:solidFill>
                <a:latin typeface="Montserrat"/>
              </a:rPr>
              <a:t>Other</a:t>
            </a:r>
          </a:p>
        </p:txBody>
      </p:sp>
      <p:sp>
        <p:nvSpPr>
          <p:cNvPr id="37" name="TextBox 36"/>
          <p:cNvSpPr txBox="1"/>
          <p:nvPr/>
        </p:nvSpPr>
        <p:spPr>
          <a:xfrm>
            <a:off x="6903720" y="5522976"/>
            <a:ext cx="502920" cy="301752"/>
          </a:xfrm>
          <a:prstGeom prst="rect">
            <a:avLst/>
          </a:prstGeom>
          <a:noFill/>
        </p:spPr>
        <p:txBody>
          <a:bodyPr wrap="square" lIns="0" tIns="0" rIns="0" bIns="0" anchor="ctr">
            <a:spAutoFit/>
          </a:bodyPr>
          <a:lstStyle/>
          <a:p>
            <a:pPr algn="r">
              <a:lnSpc>
                <a:spcPct val="108000"/>
              </a:lnSpc>
              <a:spcAft>
                <a:spcPts val="300"/>
              </a:spcAft>
            </a:pPr>
            <a:r>
              <a:rPr sz="800" b="1" i="0">
                <a:solidFill>
                  <a:srgbClr val="0F1129"/>
                </a:solidFill>
                <a:latin typeface="Montserrat"/>
              </a:rPr>
              <a:t>2.02</a:t>
            </a:r>
          </a:p>
        </p:txBody>
      </p:sp>
      <p:sp>
        <p:nvSpPr>
          <p:cNvPr id="38" name="Rounded Rectangle 37"/>
          <p:cNvSpPr/>
          <p:nvPr/>
        </p:nvSpPr>
        <p:spPr>
          <a:xfrm>
            <a:off x="7818120" y="2011680"/>
            <a:ext cx="3822191" cy="4297680"/>
          </a:xfrm>
          <a:prstGeom prst="roundRect">
            <a:avLst>
              <a:gd name="adj" fmla="val 2392"/>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39" name="Rounded Rectangle 38"/>
          <p:cNvSpPr/>
          <p:nvPr/>
        </p:nvSpPr>
        <p:spPr>
          <a:xfrm>
            <a:off x="8001000" y="2176272"/>
            <a:ext cx="3456432" cy="566928"/>
          </a:xfrm>
          <a:prstGeom prst="roundRect">
            <a:avLst>
              <a:gd name="adj" fmla="val 14000"/>
            </a:avLst>
          </a:prstGeom>
          <a:solidFill>
            <a:srgbClr val="F2F3F8"/>
          </a:solidFill>
          <a:ln>
            <a:noFill/>
          </a:ln>
          <a:effectLst/>
        </p:spPr>
        <p:txBody>
          <a:bodyPr rtlCol="0" anchor="ctr"/>
          <a:lstStyle/>
          <a:p>
            <a:pPr algn="ctr"/>
            <a:endParaRPr/>
          </a:p>
        </p:txBody>
      </p:sp>
      <p:sp>
        <p:nvSpPr>
          <p:cNvPr id="40" name="TextBox 39"/>
          <p:cNvSpPr txBox="1"/>
          <p:nvPr/>
        </p:nvSpPr>
        <p:spPr>
          <a:xfrm>
            <a:off x="8156448" y="2176272"/>
            <a:ext cx="1371600" cy="566928"/>
          </a:xfrm>
          <a:prstGeom prst="rect">
            <a:avLst/>
          </a:prstGeom>
          <a:noFill/>
        </p:spPr>
        <p:txBody>
          <a:bodyPr wrap="square" lIns="0" tIns="0" rIns="0" bIns="0" anchor="ctr">
            <a:spAutoFit/>
          </a:bodyPr>
          <a:lstStyle/>
          <a:p>
            <a:pPr>
              <a:lnSpc>
                <a:spcPct val="108000"/>
              </a:lnSpc>
              <a:spcAft>
                <a:spcPts val="300"/>
              </a:spcAft>
            </a:pPr>
            <a:r>
              <a:rPr sz="1500" b="1" i="0" dirty="0">
                <a:solidFill>
                  <a:srgbClr val="0F1129"/>
                </a:solidFill>
                <a:latin typeface="Montserrat"/>
              </a:rPr>
              <a:t>1874</a:t>
            </a:r>
          </a:p>
        </p:txBody>
      </p:sp>
      <p:sp>
        <p:nvSpPr>
          <p:cNvPr id="41" name="TextBox 40"/>
          <p:cNvSpPr txBox="1"/>
          <p:nvPr/>
        </p:nvSpPr>
        <p:spPr>
          <a:xfrm>
            <a:off x="9464040" y="2176272"/>
            <a:ext cx="1920240" cy="566928"/>
          </a:xfrm>
          <a:prstGeom prst="rect">
            <a:avLst/>
          </a:prstGeom>
          <a:noFill/>
        </p:spPr>
        <p:txBody>
          <a:bodyPr wrap="square" lIns="0" tIns="0" rIns="0" bIns="0" anchor="ctr">
            <a:spAutoFit/>
          </a:bodyPr>
          <a:lstStyle/>
          <a:p>
            <a:pPr>
              <a:lnSpc>
                <a:spcPct val="100000"/>
              </a:lnSpc>
              <a:spcAft>
                <a:spcPts val="300"/>
              </a:spcAft>
            </a:pPr>
            <a:r>
              <a:rPr sz="830" b="0" i="0">
                <a:solidFill>
                  <a:srgbClr val="6B6F8A"/>
                </a:solidFill>
                <a:latin typeface="Montserrat"/>
              </a:rPr>
              <a:t>founded – Azerbaijan’s first bank</a:t>
            </a:r>
          </a:p>
        </p:txBody>
      </p:sp>
      <p:sp>
        <p:nvSpPr>
          <p:cNvPr id="42" name="Rounded Rectangle 41"/>
          <p:cNvSpPr/>
          <p:nvPr/>
        </p:nvSpPr>
        <p:spPr>
          <a:xfrm>
            <a:off x="8001000" y="2816352"/>
            <a:ext cx="3456432" cy="566928"/>
          </a:xfrm>
          <a:prstGeom prst="roundRect">
            <a:avLst>
              <a:gd name="adj" fmla="val 14000"/>
            </a:avLst>
          </a:prstGeom>
          <a:solidFill>
            <a:srgbClr val="F2F3F8"/>
          </a:solidFill>
          <a:ln>
            <a:noFill/>
          </a:ln>
          <a:effectLst/>
        </p:spPr>
        <p:txBody>
          <a:bodyPr rtlCol="0" anchor="ctr"/>
          <a:lstStyle/>
          <a:p>
            <a:pPr algn="ctr"/>
            <a:endParaRPr/>
          </a:p>
        </p:txBody>
      </p:sp>
      <p:sp>
        <p:nvSpPr>
          <p:cNvPr id="43" name="TextBox 42"/>
          <p:cNvSpPr txBox="1"/>
          <p:nvPr/>
        </p:nvSpPr>
        <p:spPr>
          <a:xfrm>
            <a:off x="8156448" y="2816352"/>
            <a:ext cx="1371600" cy="566928"/>
          </a:xfrm>
          <a:prstGeom prst="rect">
            <a:avLst/>
          </a:prstGeom>
          <a:noFill/>
        </p:spPr>
        <p:txBody>
          <a:bodyPr wrap="square" lIns="0" tIns="0" rIns="0" bIns="0" anchor="ctr">
            <a:spAutoFit/>
          </a:bodyPr>
          <a:lstStyle/>
          <a:p>
            <a:pPr>
              <a:lnSpc>
                <a:spcPct val="108000"/>
              </a:lnSpc>
              <a:spcAft>
                <a:spcPts val="300"/>
              </a:spcAft>
            </a:pPr>
            <a:r>
              <a:rPr sz="1500" b="1" i="0">
                <a:solidFill>
                  <a:srgbClr val="0F1129"/>
                </a:solidFill>
                <a:latin typeface="Montserrat"/>
              </a:rPr>
              <a:t>5M+</a:t>
            </a:r>
          </a:p>
        </p:txBody>
      </p:sp>
      <p:sp>
        <p:nvSpPr>
          <p:cNvPr id="44" name="TextBox 43"/>
          <p:cNvSpPr txBox="1"/>
          <p:nvPr/>
        </p:nvSpPr>
        <p:spPr>
          <a:xfrm>
            <a:off x="9464040" y="2816352"/>
            <a:ext cx="1920240" cy="566928"/>
          </a:xfrm>
          <a:prstGeom prst="rect">
            <a:avLst/>
          </a:prstGeom>
          <a:noFill/>
        </p:spPr>
        <p:txBody>
          <a:bodyPr wrap="square" lIns="0" tIns="0" rIns="0" bIns="0" anchor="ctr">
            <a:spAutoFit/>
          </a:bodyPr>
          <a:lstStyle/>
          <a:p>
            <a:pPr>
              <a:lnSpc>
                <a:spcPct val="100000"/>
              </a:lnSpc>
              <a:spcAft>
                <a:spcPts val="300"/>
              </a:spcAft>
            </a:pPr>
            <a:r>
              <a:rPr sz="830" b="0" i="0">
                <a:solidFill>
                  <a:srgbClr val="6B6F8A"/>
                </a:solidFill>
                <a:latin typeface="Montserrat"/>
              </a:rPr>
              <a:t>individual customers</a:t>
            </a:r>
          </a:p>
        </p:txBody>
      </p:sp>
      <p:sp>
        <p:nvSpPr>
          <p:cNvPr id="45" name="Rounded Rectangle 44"/>
          <p:cNvSpPr/>
          <p:nvPr/>
        </p:nvSpPr>
        <p:spPr>
          <a:xfrm>
            <a:off x="8001000" y="3456432"/>
            <a:ext cx="3456432" cy="566928"/>
          </a:xfrm>
          <a:prstGeom prst="roundRect">
            <a:avLst>
              <a:gd name="adj" fmla="val 14000"/>
            </a:avLst>
          </a:prstGeom>
          <a:solidFill>
            <a:srgbClr val="F2F3F8"/>
          </a:solidFill>
          <a:ln>
            <a:noFill/>
          </a:ln>
          <a:effectLst/>
        </p:spPr>
        <p:txBody>
          <a:bodyPr rtlCol="0" anchor="ctr"/>
          <a:lstStyle/>
          <a:p>
            <a:pPr algn="ctr"/>
            <a:endParaRPr/>
          </a:p>
        </p:txBody>
      </p:sp>
      <p:sp>
        <p:nvSpPr>
          <p:cNvPr id="46" name="TextBox 45"/>
          <p:cNvSpPr txBox="1"/>
          <p:nvPr/>
        </p:nvSpPr>
        <p:spPr>
          <a:xfrm>
            <a:off x="8156448" y="3456432"/>
            <a:ext cx="1371600" cy="566928"/>
          </a:xfrm>
          <a:prstGeom prst="rect">
            <a:avLst/>
          </a:prstGeom>
          <a:noFill/>
        </p:spPr>
        <p:txBody>
          <a:bodyPr wrap="square" lIns="0" tIns="0" rIns="0" bIns="0" anchor="ctr">
            <a:spAutoFit/>
          </a:bodyPr>
          <a:lstStyle/>
          <a:p>
            <a:pPr>
              <a:lnSpc>
                <a:spcPct val="108000"/>
              </a:lnSpc>
              <a:spcAft>
                <a:spcPts val="300"/>
              </a:spcAft>
            </a:pPr>
            <a:r>
              <a:rPr sz="1500" b="1" i="0">
                <a:solidFill>
                  <a:srgbClr val="0F1129"/>
                </a:solidFill>
                <a:latin typeface="Montserrat"/>
              </a:rPr>
              <a:t>3M+</a:t>
            </a:r>
          </a:p>
        </p:txBody>
      </p:sp>
      <p:sp>
        <p:nvSpPr>
          <p:cNvPr id="47" name="TextBox 46"/>
          <p:cNvSpPr txBox="1"/>
          <p:nvPr/>
        </p:nvSpPr>
        <p:spPr>
          <a:xfrm>
            <a:off x="9464040" y="3456432"/>
            <a:ext cx="1920240" cy="566928"/>
          </a:xfrm>
          <a:prstGeom prst="rect">
            <a:avLst/>
          </a:prstGeom>
          <a:noFill/>
        </p:spPr>
        <p:txBody>
          <a:bodyPr wrap="square" lIns="0" tIns="0" rIns="0" bIns="0" anchor="ctr">
            <a:spAutoFit/>
          </a:bodyPr>
          <a:lstStyle/>
          <a:p>
            <a:pPr>
              <a:lnSpc>
                <a:spcPct val="100000"/>
              </a:lnSpc>
              <a:spcAft>
                <a:spcPts val="300"/>
              </a:spcAft>
            </a:pPr>
            <a:r>
              <a:rPr sz="830" b="0" i="0">
                <a:solidFill>
                  <a:srgbClr val="6B6F8A"/>
                </a:solidFill>
                <a:latin typeface="Montserrat"/>
              </a:rPr>
              <a:t>active mobile app users</a:t>
            </a:r>
          </a:p>
        </p:txBody>
      </p:sp>
      <p:sp>
        <p:nvSpPr>
          <p:cNvPr id="48" name="TextBox 47"/>
          <p:cNvSpPr txBox="1"/>
          <p:nvPr/>
        </p:nvSpPr>
        <p:spPr>
          <a:xfrm>
            <a:off x="8001000" y="4160520"/>
            <a:ext cx="2377440" cy="256032"/>
          </a:xfrm>
          <a:prstGeom prst="rect">
            <a:avLst/>
          </a:prstGeom>
          <a:noFill/>
        </p:spPr>
        <p:txBody>
          <a:bodyPr wrap="square" lIns="0" tIns="0" rIns="0" bIns="0" anchor="t">
            <a:spAutoFit/>
          </a:bodyPr>
          <a:lstStyle/>
          <a:p>
            <a:pPr>
              <a:lnSpc>
                <a:spcPct val="108000"/>
              </a:lnSpc>
              <a:spcAft>
                <a:spcPts val="300"/>
              </a:spcAft>
            </a:pPr>
            <a:r>
              <a:rPr sz="1000" b="1" i="0">
                <a:solidFill>
                  <a:srgbClr val="0F1129"/>
                </a:solidFill>
                <a:latin typeface="Montserrat"/>
              </a:rPr>
              <a:t>Net profit, AZN m</a:t>
            </a:r>
          </a:p>
        </p:txBody>
      </p:sp>
      <p:sp>
        <p:nvSpPr>
          <p:cNvPr id="49" name="Rounded Rectangle 48"/>
          <p:cNvSpPr/>
          <p:nvPr/>
        </p:nvSpPr>
        <p:spPr>
          <a:xfrm>
            <a:off x="10451592" y="4151376"/>
            <a:ext cx="1005840" cy="237744"/>
          </a:xfrm>
          <a:prstGeom prst="roundRect">
            <a:avLst>
              <a:gd name="adj" fmla="val 50000"/>
            </a:avLst>
          </a:prstGeom>
          <a:solidFill>
            <a:srgbClr val="E3F5EA"/>
          </a:solidFill>
          <a:ln>
            <a:noFill/>
          </a:ln>
          <a:effectLst/>
        </p:spPr>
        <p:txBody>
          <a:bodyPr rtlCol="0" anchor="ctr"/>
          <a:lstStyle/>
          <a:p>
            <a:pPr algn="ctr"/>
            <a:endParaRPr/>
          </a:p>
        </p:txBody>
      </p:sp>
      <p:sp>
        <p:nvSpPr>
          <p:cNvPr id="50" name="TextBox 49"/>
          <p:cNvSpPr txBox="1"/>
          <p:nvPr/>
        </p:nvSpPr>
        <p:spPr>
          <a:xfrm>
            <a:off x="10451592" y="4151376"/>
            <a:ext cx="1005840" cy="237744"/>
          </a:xfrm>
          <a:prstGeom prst="rect">
            <a:avLst/>
          </a:prstGeom>
          <a:noFill/>
        </p:spPr>
        <p:txBody>
          <a:bodyPr wrap="square" lIns="0" tIns="0" rIns="0" bIns="0" anchor="ctr">
            <a:spAutoFit/>
          </a:bodyPr>
          <a:lstStyle/>
          <a:p>
            <a:pPr algn="ctr">
              <a:lnSpc>
                <a:spcPct val="108000"/>
              </a:lnSpc>
              <a:spcAft>
                <a:spcPts val="300"/>
              </a:spcAft>
            </a:pPr>
            <a:r>
              <a:rPr sz="800" b="1" i="0">
                <a:solidFill>
                  <a:srgbClr val="15803D"/>
                </a:solidFill>
                <a:latin typeface="Montserrat"/>
              </a:rPr>
              <a:t>+69% y/y</a:t>
            </a:r>
          </a:p>
        </p:txBody>
      </p:sp>
      <p:graphicFrame>
        <p:nvGraphicFramePr>
          <p:cNvPr id="51" name="Chart 50"/>
          <p:cNvGraphicFramePr>
            <a:graphicFrameLocks noGrp="1"/>
          </p:cNvGraphicFramePr>
          <p:nvPr/>
        </p:nvGraphicFramePr>
        <p:xfrm>
          <a:off x="7909560" y="4434840"/>
          <a:ext cx="3639312" cy="17830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Kapital Bank CSR </a:t>
            </a:r>
            <a:r>
              <a:rPr lang="en-US" sz="800" b="0" i="0" dirty="0">
                <a:solidFill>
                  <a:srgbClr val="6B6F8A"/>
                </a:solidFill>
                <a:latin typeface="Montserrat"/>
              </a:rPr>
              <a:t>Strategy</a:t>
            </a:r>
            <a:r>
              <a:rPr sz="800" b="0" i="0" dirty="0">
                <a:solidFill>
                  <a:srgbClr val="6B6F8A"/>
                </a:solidFill>
                <a:latin typeface="Montserrat"/>
              </a:rPr>
              <a:t>; Complaints Procedure 2024–2025; Sustainability Report 202</a:t>
            </a:r>
            <a:r>
              <a:rPr lang="en-US" sz="800" b="0" i="0" dirty="0">
                <a:solidFill>
                  <a:srgbClr val="6B6F8A"/>
                </a:solidFill>
                <a:latin typeface="Montserrat"/>
              </a:rPr>
              <a:t>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4</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BHR journey self-assessment insights (1/4)</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2635758" cy="2057400"/>
          </a:xfrm>
          <a:prstGeom prst="roundRect">
            <a:avLst>
              <a:gd name="adj" fmla="val 4444"/>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2" name="Rounded Rectangle 11"/>
          <p:cNvSpPr/>
          <p:nvPr/>
        </p:nvSpPr>
        <p:spPr>
          <a:xfrm>
            <a:off x="749808" y="2212848"/>
            <a:ext cx="420624" cy="420624"/>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13" name="Picture 12" descr="LuScale.png"/>
          <p:cNvPicPr>
            <a:picLocks noChangeAspect="1"/>
          </p:cNvPicPr>
          <p:nvPr/>
        </p:nvPicPr>
        <p:blipFill>
          <a:blip r:embed="rId2"/>
          <a:stretch>
            <a:fillRect/>
          </a:stretch>
        </p:blipFill>
        <p:spPr>
          <a:xfrm>
            <a:off x="842345" y="2305385"/>
            <a:ext cx="235549" cy="235549"/>
          </a:xfrm>
          <a:prstGeom prst="rect">
            <a:avLst/>
          </a:prstGeom>
        </p:spPr>
      </p:pic>
      <p:sp>
        <p:nvSpPr>
          <p:cNvPr id="14" name="TextBox 13"/>
          <p:cNvSpPr txBox="1"/>
          <p:nvPr/>
        </p:nvSpPr>
        <p:spPr>
          <a:xfrm>
            <a:off x="749808" y="2724912"/>
            <a:ext cx="2269998" cy="411480"/>
          </a:xfrm>
          <a:prstGeom prst="rect">
            <a:avLst/>
          </a:prstGeom>
          <a:noFill/>
        </p:spPr>
        <p:txBody>
          <a:bodyPr wrap="square" lIns="0" tIns="0" rIns="0" bIns="0" anchor="t">
            <a:spAutoFit/>
          </a:bodyPr>
          <a:lstStyle/>
          <a:p>
            <a:pPr>
              <a:lnSpc>
                <a:spcPct val="100000"/>
              </a:lnSpc>
              <a:spcAft>
                <a:spcPts val="300"/>
              </a:spcAft>
            </a:pPr>
            <a:r>
              <a:rPr sz="1050" b="1" i="0" dirty="0">
                <a:solidFill>
                  <a:srgbClr val="0F1129"/>
                </a:solidFill>
                <a:latin typeface="Montserrat"/>
              </a:rPr>
              <a:t>Code of Ethics &amp; Conduct</a:t>
            </a:r>
          </a:p>
        </p:txBody>
      </p:sp>
      <p:sp>
        <p:nvSpPr>
          <p:cNvPr id="15" name="TextBox 14"/>
          <p:cNvSpPr txBox="1"/>
          <p:nvPr/>
        </p:nvSpPr>
        <p:spPr>
          <a:xfrm>
            <a:off x="749808" y="3218688"/>
            <a:ext cx="2269998" cy="813815"/>
          </a:xfrm>
          <a:prstGeom prst="rect">
            <a:avLst/>
          </a:prstGeom>
          <a:noFill/>
        </p:spPr>
        <p:txBody>
          <a:bodyPr wrap="square" lIns="0" tIns="0" rIns="0" bIns="0" anchor="t">
            <a:spAutoFit/>
          </a:bodyPr>
          <a:lstStyle/>
          <a:p>
            <a:pPr>
              <a:lnSpc>
                <a:spcPct val="106000"/>
              </a:lnSpc>
              <a:spcAft>
                <a:spcPts val="300"/>
              </a:spcAft>
            </a:pPr>
            <a:r>
              <a:rPr sz="930" b="0" i="0" dirty="0">
                <a:solidFill>
                  <a:srgbClr val="2A2C45"/>
                </a:solidFill>
                <a:latin typeface="Montserrat"/>
              </a:rPr>
              <a:t>Well-established Code of Ethics and Code of Conduct set moral, ethical and legal standards; anti-corruption policy communicated to all employees.</a:t>
            </a:r>
          </a:p>
        </p:txBody>
      </p:sp>
      <p:sp>
        <p:nvSpPr>
          <p:cNvPr id="16" name="Rounded Rectangle 15"/>
          <p:cNvSpPr/>
          <p:nvPr/>
        </p:nvSpPr>
        <p:spPr>
          <a:xfrm>
            <a:off x="3367278" y="2011680"/>
            <a:ext cx="2635758" cy="2057400"/>
          </a:xfrm>
          <a:prstGeom prst="roundRect">
            <a:avLst>
              <a:gd name="adj" fmla="val 4444"/>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7" name="Rounded Rectangle 16"/>
          <p:cNvSpPr/>
          <p:nvPr/>
        </p:nvSpPr>
        <p:spPr>
          <a:xfrm>
            <a:off x="3568446" y="2212848"/>
            <a:ext cx="420624" cy="420624"/>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18" name="Picture 17" descr="LuShieldCheck.png"/>
          <p:cNvPicPr>
            <a:picLocks noChangeAspect="1"/>
          </p:cNvPicPr>
          <p:nvPr/>
        </p:nvPicPr>
        <p:blipFill>
          <a:blip r:embed="rId3"/>
          <a:stretch>
            <a:fillRect/>
          </a:stretch>
        </p:blipFill>
        <p:spPr>
          <a:xfrm>
            <a:off x="3660983" y="2305385"/>
            <a:ext cx="235549" cy="235549"/>
          </a:xfrm>
          <a:prstGeom prst="rect">
            <a:avLst/>
          </a:prstGeom>
        </p:spPr>
      </p:pic>
      <p:sp>
        <p:nvSpPr>
          <p:cNvPr id="19" name="TextBox 18"/>
          <p:cNvSpPr txBox="1"/>
          <p:nvPr/>
        </p:nvSpPr>
        <p:spPr>
          <a:xfrm>
            <a:off x="3568446" y="2724912"/>
            <a:ext cx="2269998" cy="411480"/>
          </a:xfrm>
          <a:prstGeom prst="rect">
            <a:avLst/>
          </a:prstGeom>
          <a:noFill/>
        </p:spPr>
        <p:txBody>
          <a:bodyPr wrap="square" lIns="0" tIns="0" rIns="0" bIns="0" anchor="t">
            <a:spAutoFit/>
          </a:bodyPr>
          <a:lstStyle/>
          <a:p>
            <a:pPr>
              <a:lnSpc>
                <a:spcPct val="100000"/>
              </a:lnSpc>
              <a:spcAft>
                <a:spcPts val="300"/>
              </a:spcAft>
            </a:pPr>
            <a:r>
              <a:rPr sz="1050" b="1" i="0" dirty="0">
                <a:solidFill>
                  <a:srgbClr val="0F1129"/>
                </a:solidFill>
                <a:latin typeface="Montserrat"/>
              </a:rPr>
              <a:t>Anti-harassment</a:t>
            </a:r>
          </a:p>
        </p:txBody>
      </p:sp>
      <p:sp>
        <p:nvSpPr>
          <p:cNvPr id="20" name="TextBox 19"/>
          <p:cNvSpPr txBox="1"/>
          <p:nvPr/>
        </p:nvSpPr>
        <p:spPr>
          <a:xfrm>
            <a:off x="3568446" y="3218688"/>
            <a:ext cx="2269998" cy="813815"/>
          </a:xfrm>
          <a:prstGeom prst="rect">
            <a:avLst/>
          </a:prstGeom>
          <a:noFill/>
        </p:spPr>
        <p:txBody>
          <a:bodyPr wrap="square" lIns="0" tIns="0" rIns="0" bIns="0" anchor="t">
            <a:spAutoFit/>
          </a:bodyPr>
          <a:lstStyle/>
          <a:p>
            <a:pPr>
              <a:lnSpc>
                <a:spcPct val="106000"/>
              </a:lnSpc>
              <a:spcAft>
                <a:spcPts val="300"/>
              </a:spcAft>
            </a:pPr>
            <a:r>
              <a:rPr sz="930" b="0" i="0" dirty="0">
                <a:solidFill>
                  <a:srgbClr val="2A2C45"/>
                </a:solidFill>
                <a:latin typeface="Montserrat"/>
              </a:rPr>
              <a:t>Clear anti-harassment rules and procedures, well managed in practice.</a:t>
            </a:r>
          </a:p>
        </p:txBody>
      </p:sp>
      <p:sp>
        <p:nvSpPr>
          <p:cNvPr id="21" name="Rounded Rectangle 20"/>
          <p:cNvSpPr/>
          <p:nvPr/>
        </p:nvSpPr>
        <p:spPr>
          <a:xfrm>
            <a:off x="6185916" y="2011680"/>
            <a:ext cx="2635758" cy="2057400"/>
          </a:xfrm>
          <a:prstGeom prst="roundRect">
            <a:avLst>
              <a:gd name="adj" fmla="val 4444"/>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2" name="Rounded Rectangle 21"/>
          <p:cNvSpPr/>
          <p:nvPr/>
        </p:nvSpPr>
        <p:spPr>
          <a:xfrm>
            <a:off x="6387084" y="2212848"/>
            <a:ext cx="420624" cy="420624"/>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23" name="Picture 22" descr="LuAccessibility.png"/>
          <p:cNvPicPr>
            <a:picLocks noChangeAspect="1"/>
          </p:cNvPicPr>
          <p:nvPr/>
        </p:nvPicPr>
        <p:blipFill>
          <a:blip r:embed="rId4"/>
          <a:stretch>
            <a:fillRect/>
          </a:stretch>
        </p:blipFill>
        <p:spPr>
          <a:xfrm>
            <a:off x="6479621" y="2305385"/>
            <a:ext cx="235549" cy="235549"/>
          </a:xfrm>
          <a:prstGeom prst="rect">
            <a:avLst/>
          </a:prstGeom>
        </p:spPr>
      </p:pic>
      <p:sp>
        <p:nvSpPr>
          <p:cNvPr id="24" name="TextBox 23"/>
          <p:cNvSpPr txBox="1"/>
          <p:nvPr/>
        </p:nvSpPr>
        <p:spPr>
          <a:xfrm>
            <a:off x="6387084" y="2724912"/>
            <a:ext cx="2269998" cy="411480"/>
          </a:xfrm>
          <a:prstGeom prst="rect">
            <a:avLst/>
          </a:prstGeom>
          <a:noFill/>
        </p:spPr>
        <p:txBody>
          <a:bodyPr wrap="square" lIns="0" tIns="0" rIns="0" bIns="0" anchor="t">
            <a:spAutoFit/>
          </a:bodyPr>
          <a:lstStyle/>
          <a:p>
            <a:pPr>
              <a:lnSpc>
                <a:spcPct val="100000"/>
              </a:lnSpc>
              <a:spcAft>
                <a:spcPts val="300"/>
              </a:spcAft>
            </a:pPr>
            <a:r>
              <a:rPr sz="1050" b="1" i="0">
                <a:solidFill>
                  <a:srgbClr val="0F1129"/>
                </a:solidFill>
                <a:latin typeface="Montserrat"/>
              </a:rPr>
              <a:t>Disability inclusion</a:t>
            </a:r>
          </a:p>
        </p:txBody>
      </p:sp>
      <p:sp>
        <p:nvSpPr>
          <p:cNvPr id="25" name="TextBox 24"/>
          <p:cNvSpPr txBox="1"/>
          <p:nvPr/>
        </p:nvSpPr>
        <p:spPr>
          <a:xfrm>
            <a:off x="6387084" y="3218688"/>
            <a:ext cx="2269998" cy="813815"/>
          </a:xfrm>
          <a:prstGeom prst="rect">
            <a:avLst/>
          </a:prstGeom>
          <a:noFill/>
        </p:spPr>
        <p:txBody>
          <a:bodyPr wrap="square" lIns="0" tIns="0" rIns="0" bIns="0" anchor="t">
            <a:spAutoFit/>
          </a:bodyPr>
          <a:lstStyle/>
          <a:p>
            <a:pPr>
              <a:lnSpc>
                <a:spcPct val="106000"/>
              </a:lnSpc>
              <a:spcAft>
                <a:spcPts val="300"/>
              </a:spcAft>
            </a:pPr>
            <a:r>
              <a:rPr sz="930" b="0" i="0" dirty="0">
                <a:solidFill>
                  <a:srgbClr val="2A2C45"/>
                </a:solidFill>
                <a:latin typeface="Montserrat"/>
              </a:rPr>
              <a:t>Full compliance with the disability employment quota.</a:t>
            </a:r>
          </a:p>
        </p:txBody>
      </p:sp>
      <p:sp>
        <p:nvSpPr>
          <p:cNvPr id="26" name="Rounded Rectangle 25"/>
          <p:cNvSpPr/>
          <p:nvPr/>
        </p:nvSpPr>
        <p:spPr>
          <a:xfrm>
            <a:off x="9004554" y="2011680"/>
            <a:ext cx="2635758" cy="2057400"/>
          </a:xfrm>
          <a:prstGeom prst="roundRect">
            <a:avLst>
              <a:gd name="adj" fmla="val 4444"/>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dirty="0"/>
          </a:p>
        </p:txBody>
      </p:sp>
      <p:sp>
        <p:nvSpPr>
          <p:cNvPr id="27" name="Rounded Rectangle 26"/>
          <p:cNvSpPr/>
          <p:nvPr/>
        </p:nvSpPr>
        <p:spPr>
          <a:xfrm>
            <a:off x="9205722" y="2212848"/>
            <a:ext cx="420624" cy="420624"/>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28" name="Picture 27" descr="LuUsersRound.png"/>
          <p:cNvPicPr>
            <a:picLocks noChangeAspect="1"/>
          </p:cNvPicPr>
          <p:nvPr/>
        </p:nvPicPr>
        <p:blipFill>
          <a:blip r:embed="rId5"/>
          <a:stretch>
            <a:fillRect/>
          </a:stretch>
        </p:blipFill>
        <p:spPr>
          <a:xfrm>
            <a:off x="9298259" y="2305385"/>
            <a:ext cx="235549" cy="235549"/>
          </a:xfrm>
          <a:prstGeom prst="rect">
            <a:avLst/>
          </a:prstGeom>
        </p:spPr>
      </p:pic>
      <p:sp>
        <p:nvSpPr>
          <p:cNvPr id="29" name="TextBox 28"/>
          <p:cNvSpPr txBox="1"/>
          <p:nvPr/>
        </p:nvSpPr>
        <p:spPr>
          <a:xfrm>
            <a:off x="9205722" y="2724912"/>
            <a:ext cx="2269998" cy="161583"/>
          </a:xfrm>
          <a:prstGeom prst="rect">
            <a:avLst/>
          </a:prstGeom>
          <a:noFill/>
        </p:spPr>
        <p:txBody>
          <a:bodyPr wrap="square" lIns="0" tIns="0" rIns="0" bIns="0" anchor="t">
            <a:spAutoFit/>
          </a:bodyPr>
          <a:lstStyle/>
          <a:p>
            <a:pPr>
              <a:lnSpc>
                <a:spcPct val="100000"/>
              </a:lnSpc>
              <a:spcAft>
                <a:spcPts val="300"/>
              </a:spcAft>
            </a:pPr>
            <a:r>
              <a:rPr sz="1050" b="1" i="0" dirty="0">
                <a:solidFill>
                  <a:srgbClr val="0F1129"/>
                </a:solidFill>
                <a:latin typeface="Montserrat"/>
              </a:rPr>
              <a:t>Women in </a:t>
            </a:r>
            <a:r>
              <a:rPr lang="az-Latn-AZ" sz="1050" b="1" i="0" dirty="0">
                <a:solidFill>
                  <a:srgbClr val="0F1129"/>
                </a:solidFill>
                <a:latin typeface="Montserrat"/>
              </a:rPr>
              <a:t>empoüerment</a:t>
            </a:r>
            <a:endParaRPr sz="1050" b="1" i="0" dirty="0">
              <a:solidFill>
                <a:srgbClr val="0F1129"/>
              </a:solidFill>
              <a:latin typeface="Montserrat"/>
            </a:endParaRPr>
          </a:p>
        </p:txBody>
      </p:sp>
      <p:sp>
        <p:nvSpPr>
          <p:cNvPr id="30" name="TextBox 29"/>
          <p:cNvSpPr txBox="1"/>
          <p:nvPr/>
        </p:nvSpPr>
        <p:spPr>
          <a:xfrm>
            <a:off x="9205722" y="3218688"/>
            <a:ext cx="2269998" cy="598434"/>
          </a:xfrm>
          <a:prstGeom prst="rect">
            <a:avLst/>
          </a:prstGeom>
          <a:noFill/>
        </p:spPr>
        <p:txBody>
          <a:bodyPr wrap="square" lIns="0" tIns="0" rIns="0" bIns="0" anchor="t">
            <a:spAutoFit/>
          </a:bodyPr>
          <a:lstStyle/>
          <a:p>
            <a:pPr>
              <a:lnSpc>
                <a:spcPct val="106000"/>
              </a:lnSpc>
              <a:spcAft>
                <a:spcPts val="300"/>
              </a:spcAft>
            </a:pPr>
            <a:r>
              <a:rPr sz="930" b="0" i="0" dirty="0">
                <a:solidFill>
                  <a:srgbClr val="2A2C45"/>
                </a:solidFill>
                <a:latin typeface="Montserrat"/>
              </a:rPr>
              <a:t>Strong representation of women in leadership; merit-based pay and promotion to prevent a gender pay gap</a:t>
            </a:r>
          </a:p>
        </p:txBody>
      </p:sp>
      <p:sp>
        <p:nvSpPr>
          <p:cNvPr id="31" name="Rounded Rectangle 30"/>
          <p:cNvSpPr/>
          <p:nvPr/>
        </p:nvSpPr>
        <p:spPr>
          <a:xfrm>
            <a:off x="548640" y="4251960"/>
            <a:ext cx="2635758" cy="2057400"/>
          </a:xfrm>
          <a:prstGeom prst="roundRect">
            <a:avLst>
              <a:gd name="adj" fmla="val 4444"/>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32" name="Rounded Rectangle 31"/>
          <p:cNvSpPr/>
          <p:nvPr/>
        </p:nvSpPr>
        <p:spPr>
          <a:xfrm>
            <a:off x="749808" y="4453128"/>
            <a:ext cx="420624" cy="420624"/>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33" name="Picture 32" descr="LuMegaphone.png"/>
          <p:cNvPicPr>
            <a:picLocks noChangeAspect="1"/>
          </p:cNvPicPr>
          <p:nvPr/>
        </p:nvPicPr>
        <p:blipFill>
          <a:blip r:embed="rId6"/>
          <a:stretch>
            <a:fillRect/>
          </a:stretch>
        </p:blipFill>
        <p:spPr>
          <a:xfrm>
            <a:off x="842345" y="4545665"/>
            <a:ext cx="235549" cy="235549"/>
          </a:xfrm>
          <a:prstGeom prst="rect">
            <a:avLst/>
          </a:prstGeom>
        </p:spPr>
      </p:pic>
      <p:sp>
        <p:nvSpPr>
          <p:cNvPr id="34" name="TextBox 33"/>
          <p:cNvSpPr txBox="1"/>
          <p:nvPr/>
        </p:nvSpPr>
        <p:spPr>
          <a:xfrm>
            <a:off x="749808" y="4965192"/>
            <a:ext cx="2269998" cy="411480"/>
          </a:xfrm>
          <a:prstGeom prst="rect">
            <a:avLst/>
          </a:prstGeom>
          <a:noFill/>
        </p:spPr>
        <p:txBody>
          <a:bodyPr wrap="square" lIns="0" tIns="0" rIns="0" bIns="0" anchor="t">
            <a:spAutoFit/>
          </a:bodyPr>
          <a:lstStyle/>
          <a:p>
            <a:pPr>
              <a:lnSpc>
                <a:spcPct val="100000"/>
              </a:lnSpc>
              <a:spcAft>
                <a:spcPts val="300"/>
              </a:spcAft>
            </a:pPr>
            <a:r>
              <a:rPr sz="1050" b="1" i="0" dirty="0">
                <a:solidFill>
                  <a:srgbClr val="0F1129"/>
                </a:solidFill>
                <a:latin typeface="Montserrat"/>
              </a:rPr>
              <a:t>Speak-up &amp; fraud protection</a:t>
            </a:r>
          </a:p>
        </p:txBody>
      </p:sp>
      <p:sp>
        <p:nvSpPr>
          <p:cNvPr id="35" name="TextBox 34"/>
          <p:cNvSpPr txBox="1"/>
          <p:nvPr/>
        </p:nvSpPr>
        <p:spPr>
          <a:xfrm>
            <a:off x="749808" y="5458968"/>
            <a:ext cx="2269998" cy="813815"/>
          </a:xfrm>
          <a:prstGeom prst="rect">
            <a:avLst/>
          </a:prstGeom>
          <a:noFill/>
        </p:spPr>
        <p:txBody>
          <a:bodyPr wrap="square" lIns="0" tIns="0" rIns="0" bIns="0" anchor="t">
            <a:spAutoFit/>
          </a:bodyPr>
          <a:lstStyle/>
          <a:p>
            <a:pPr>
              <a:lnSpc>
                <a:spcPct val="106000"/>
              </a:lnSpc>
              <a:spcAft>
                <a:spcPts val="300"/>
              </a:spcAft>
            </a:pPr>
            <a:r>
              <a:rPr sz="930" b="0" i="0" dirty="0">
                <a:solidFill>
                  <a:srgbClr val="2A2C45"/>
                </a:solidFill>
                <a:latin typeface="Montserrat"/>
              </a:rPr>
              <a:t>Anonymous NAVEX platform for employees; anti-corruption hotline; 24/7 AI-based fraud monitoring for customers.</a:t>
            </a:r>
          </a:p>
        </p:txBody>
      </p:sp>
      <p:sp>
        <p:nvSpPr>
          <p:cNvPr id="36" name="Rounded Rectangle 35"/>
          <p:cNvSpPr/>
          <p:nvPr/>
        </p:nvSpPr>
        <p:spPr>
          <a:xfrm>
            <a:off x="3367278" y="4251960"/>
            <a:ext cx="2635758" cy="2057400"/>
          </a:xfrm>
          <a:prstGeom prst="roundRect">
            <a:avLst>
              <a:gd name="adj" fmla="val 4444"/>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37" name="Rounded Rectangle 36"/>
          <p:cNvSpPr/>
          <p:nvPr/>
        </p:nvSpPr>
        <p:spPr>
          <a:xfrm>
            <a:off x="3568446" y="4453128"/>
            <a:ext cx="420624" cy="420624"/>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38" name="Picture 37" descr="LuHeartPulse.png"/>
          <p:cNvPicPr>
            <a:picLocks noChangeAspect="1"/>
          </p:cNvPicPr>
          <p:nvPr/>
        </p:nvPicPr>
        <p:blipFill>
          <a:blip r:embed="rId7"/>
          <a:stretch>
            <a:fillRect/>
          </a:stretch>
        </p:blipFill>
        <p:spPr>
          <a:xfrm>
            <a:off x="3660983" y="4545665"/>
            <a:ext cx="235549" cy="235549"/>
          </a:xfrm>
          <a:prstGeom prst="rect">
            <a:avLst/>
          </a:prstGeom>
        </p:spPr>
      </p:pic>
      <p:sp>
        <p:nvSpPr>
          <p:cNvPr id="39" name="TextBox 38"/>
          <p:cNvSpPr txBox="1"/>
          <p:nvPr/>
        </p:nvSpPr>
        <p:spPr>
          <a:xfrm>
            <a:off x="3568446" y="4965192"/>
            <a:ext cx="2269998" cy="411480"/>
          </a:xfrm>
          <a:prstGeom prst="rect">
            <a:avLst/>
          </a:prstGeom>
          <a:noFill/>
        </p:spPr>
        <p:txBody>
          <a:bodyPr wrap="square" lIns="0" tIns="0" rIns="0" bIns="0" anchor="t">
            <a:spAutoFit/>
          </a:bodyPr>
          <a:lstStyle/>
          <a:p>
            <a:pPr>
              <a:lnSpc>
                <a:spcPct val="100000"/>
              </a:lnSpc>
              <a:spcAft>
                <a:spcPts val="300"/>
              </a:spcAft>
            </a:pPr>
            <a:r>
              <a:rPr sz="1050" b="1" i="0">
                <a:solidFill>
                  <a:srgbClr val="0F1129"/>
                </a:solidFill>
                <a:latin typeface="Montserrat"/>
              </a:rPr>
              <a:t>Wellbeing &amp; learning</a:t>
            </a:r>
          </a:p>
        </p:txBody>
      </p:sp>
      <p:sp>
        <p:nvSpPr>
          <p:cNvPr id="40" name="TextBox 39"/>
          <p:cNvSpPr txBox="1"/>
          <p:nvPr/>
        </p:nvSpPr>
        <p:spPr>
          <a:xfrm>
            <a:off x="3568446" y="5458968"/>
            <a:ext cx="2269998" cy="598434"/>
          </a:xfrm>
          <a:prstGeom prst="rect">
            <a:avLst/>
          </a:prstGeom>
          <a:noFill/>
        </p:spPr>
        <p:txBody>
          <a:bodyPr wrap="square" lIns="0" tIns="0" rIns="0" bIns="0" anchor="t">
            <a:spAutoFit/>
          </a:bodyPr>
          <a:lstStyle/>
          <a:p>
            <a:pPr>
              <a:lnSpc>
                <a:spcPct val="106000"/>
              </a:lnSpc>
              <a:spcAft>
                <a:spcPts val="300"/>
              </a:spcAft>
            </a:pPr>
            <a:r>
              <a:rPr sz="930" b="0" i="0" dirty="0">
                <a:solidFill>
                  <a:srgbClr val="2A2C45"/>
                </a:solidFill>
                <a:latin typeface="Montserrat"/>
              </a:rPr>
              <a:t>Trainings on burnout, wellbeing and mental health; </a:t>
            </a:r>
            <a:r>
              <a:rPr lang="az-Latn-AZ" sz="930" b="0" i="0" dirty="0">
                <a:solidFill>
                  <a:srgbClr val="2A2C45"/>
                </a:solidFill>
                <a:latin typeface="Montserrat"/>
              </a:rPr>
              <a:t>X </a:t>
            </a:r>
            <a:r>
              <a:rPr lang="en-US" sz="930" b="0" i="0" dirty="0">
                <a:solidFill>
                  <a:srgbClr val="2A2C45"/>
                </a:solidFill>
                <a:latin typeface="Montserrat"/>
              </a:rPr>
              <a:t>S</a:t>
            </a:r>
            <a:r>
              <a:rPr lang="az-Latn-AZ" sz="930" b="0" i="0" dirty="0">
                <a:solidFill>
                  <a:srgbClr val="2A2C45"/>
                </a:solidFill>
                <a:latin typeface="Montserrat"/>
              </a:rPr>
              <a:t>pace</a:t>
            </a:r>
            <a:r>
              <a:rPr lang="en-US" sz="930" b="0" i="0" dirty="0">
                <a:solidFill>
                  <a:srgbClr val="2A2C45"/>
                </a:solidFill>
                <a:latin typeface="Montserrat"/>
              </a:rPr>
              <a:t> learning platform </a:t>
            </a:r>
            <a:r>
              <a:rPr sz="930" b="0" i="0" dirty="0">
                <a:solidFill>
                  <a:srgbClr val="2A2C45"/>
                </a:solidFill>
                <a:latin typeface="Montserrat"/>
              </a:rPr>
              <a:t>(since 2018, 30+ internal trainers).</a:t>
            </a:r>
          </a:p>
        </p:txBody>
      </p:sp>
      <p:sp>
        <p:nvSpPr>
          <p:cNvPr id="41" name="Rounded Rectangle 40"/>
          <p:cNvSpPr/>
          <p:nvPr/>
        </p:nvSpPr>
        <p:spPr>
          <a:xfrm>
            <a:off x="6185916" y="4251960"/>
            <a:ext cx="2635758" cy="2057400"/>
          </a:xfrm>
          <a:prstGeom prst="roundRect">
            <a:avLst>
              <a:gd name="adj" fmla="val 4444"/>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42" name="Rounded Rectangle 41"/>
          <p:cNvSpPr/>
          <p:nvPr/>
        </p:nvSpPr>
        <p:spPr>
          <a:xfrm>
            <a:off x="6387084" y="4453128"/>
            <a:ext cx="420624" cy="420624"/>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43" name="Picture 42" descr="LuLandmark.png"/>
          <p:cNvPicPr>
            <a:picLocks noChangeAspect="1"/>
          </p:cNvPicPr>
          <p:nvPr/>
        </p:nvPicPr>
        <p:blipFill>
          <a:blip r:embed="rId8"/>
          <a:stretch>
            <a:fillRect/>
          </a:stretch>
        </p:blipFill>
        <p:spPr>
          <a:xfrm>
            <a:off x="6479621" y="4545665"/>
            <a:ext cx="235549" cy="235549"/>
          </a:xfrm>
          <a:prstGeom prst="rect">
            <a:avLst/>
          </a:prstGeom>
        </p:spPr>
      </p:pic>
      <p:sp>
        <p:nvSpPr>
          <p:cNvPr id="44" name="TextBox 43"/>
          <p:cNvSpPr txBox="1"/>
          <p:nvPr/>
        </p:nvSpPr>
        <p:spPr>
          <a:xfrm>
            <a:off x="6387084" y="4965192"/>
            <a:ext cx="2269998" cy="411480"/>
          </a:xfrm>
          <a:prstGeom prst="rect">
            <a:avLst/>
          </a:prstGeom>
          <a:noFill/>
        </p:spPr>
        <p:txBody>
          <a:bodyPr wrap="square" lIns="0" tIns="0" rIns="0" bIns="0" anchor="t">
            <a:spAutoFit/>
          </a:bodyPr>
          <a:lstStyle/>
          <a:p>
            <a:pPr>
              <a:lnSpc>
                <a:spcPct val="100000"/>
              </a:lnSpc>
              <a:spcAft>
                <a:spcPts val="300"/>
              </a:spcAft>
            </a:pPr>
            <a:r>
              <a:rPr sz="1050" b="1" i="0">
                <a:solidFill>
                  <a:srgbClr val="0F1129"/>
                </a:solidFill>
                <a:latin typeface="Montserrat"/>
              </a:rPr>
              <a:t>Governance &amp; reporting</a:t>
            </a:r>
          </a:p>
        </p:txBody>
      </p:sp>
      <p:sp>
        <p:nvSpPr>
          <p:cNvPr id="45" name="TextBox 44"/>
          <p:cNvSpPr txBox="1"/>
          <p:nvPr/>
        </p:nvSpPr>
        <p:spPr>
          <a:xfrm>
            <a:off x="6387084" y="5458968"/>
            <a:ext cx="2269998" cy="598434"/>
          </a:xfrm>
          <a:prstGeom prst="rect">
            <a:avLst/>
          </a:prstGeom>
          <a:noFill/>
        </p:spPr>
        <p:txBody>
          <a:bodyPr wrap="square" lIns="0" tIns="0" rIns="0" bIns="0" anchor="t">
            <a:spAutoFit/>
          </a:bodyPr>
          <a:lstStyle/>
          <a:p>
            <a:pPr>
              <a:lnSpc>
                <a:spcPct val="106000"/>
              </a:lnSpc>
              <a:spcAft>
                <a:spcPts val="300"/>
              </a:spcAft>
            </a:pPr>
            <a:r>
              <a:rPr sz="930" b="0" i="0" dirty="0">
                <a:solidFill>
                  <a:srgbClr val="2A2C45"/>
                </a:solidFill>
                <a:latin typeface="Montserrat"/>
              </a:rPr>
              <a:t>UNGC participant since Oct 2024; first GRI-based Sustainability Report (2023) with human rights among material topics.</a:t>
            </a:r>
          </a:p>
        </p:txBody>
      </p:sp>
      <p:sp>
        <p:nvSpPr>
          <p:cNvPr id="46" name="Rounded Rectangle 45"/>
          <p:cNvSpPr/>
          <p:nvPr/>
        </p:nvSpPr>
        <p:spPr>
          <a:xfrm>
            <a:off x="9004554" y="4251960"/>
            <a:ext cx="2635758" cy="2057400"/>
          </a:xfrm>
          <a:prstGeom prst="roundRect">
            <a:avLst>
              <a:gd name="adj" fmla="val 4444"/>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47" name="Rounded Rectangle 46"/>
          <p:cNvSpPr/>
          <p:nvPr/>
        </p:nvSpPr>
        <p:spPr>
          <a:xfrm>
            <a:off x="9205722" y="4453128"/>
            <a:ext cx="420624" cy="420624"/>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48" name="Picture 47" descr="LuMessageSquare.png"/>
          <p:cNvPicPr>
            <a:picLocks noChangeAspect="1"/>
          </p:cNvPicPr>
          <p:nvPr/>
        </p:nvPicPr>
        <p:blipFill>
          <a:blip r:embed="rId9"/>
          <a:stretch>
            <a:fillRect/>
          </a:stretch>
        </p:blipFill>
        <p:spPr>
          <a:xfrm>
            <a:off x="9298259" y="4545665"/>
            <a:ext cx="235549" cy="235549"/>
          </a:xfrm>
          <a:prstGeom prst="rect">
            <a:avLst/>
          </a:prstGeom>
        </p:spPr>
      </p:pic>
      <p:sp>
        <p:nvSpPr>
          <p:cNvPr id="49" name="TextBox 48"/>
          <p:cNvSpPr txBox="1"/>
          <p:nvPr/>
        </p:nvSpPr>
        <p:spPr>
          <a:xfrm>
            <a:off x="9205722" y="4965192"/>
            <a:ext cx="2269998" cy="411480"/>
          </a:xfrm>
          <a:prstGeom prst="rect">
            <a:avLst/>
          </a:prstGeom>
          <a:noFill/>
        </p:spPr>
        <p:txBody>
          <a:bodyPr wrap="square" lIns="0" tIns="0" rIns="0" bIns="0" anchor="t">
            <a:spAutoFit/>
          </a:bodyPr>
          <a:lstStyle/>
          <a:p>
            <a:pPr>
              <a:lnSpc>
                <a:spcPct val="100000"/>
              </a:lnSpc>
              <a:spcAft>
                <a:spcPts val="300"/>
              </a:spcAft>
            </a:pPr>
            <a:r>
              <a:rPr sz="1050" b="1" i="0" dirty="0">
                <a:solidFill>
                  <a:srgbClr val="0F1129"/>
                </a:solidFill>
                <a:latin typeface="Montserrat"/>
              </a:rPr>
              <a:t>Customer complaints</a:t>
            </a:r>
          </a:p>
        </p:txBody>
      </p:sp>
      <p:sp>
        <p:nvSpPr>
          <p:cNvPr id="50" name="TextBox 49"/>
          <p:cNvSpPr txBox="1"/>
          <p:nvPr/>
        </p:nvSpPr>
        <p:spPr>
          <a:xfrm>
            <a:off x="9205722" y="5458968"/>
            <a:ext cx="2269998" cy="813815"/>
          </a:xfrm>
          <a:prstGeom prst="rect">
            <a:avLst/>
          </a:prstGeom>
          <a:noFill/>
        </p:spPr>
        <p:txBody>
          <a:bodyPr wrap="square" lIns="0" tIns="0" rIns="0" bIns="0" anchor="t">
            <a:spAutoFit/>
          </a:bodyPr>
          <a:lstStyle/>
          <a:p>
            <a:pPr>
              <a:lnSpc>
                <a:spcPct val="106000"/>
              </a:lnSpc>
              <a:spcAft>
                <a:spcPts val="300"/>
              </a:spcAft>
            </a:pPr>
            <a:r>
              <a:rPr sz="930" b="0" i="0" dirty="0">
                <a:solidFill>
                  <a:srgbClr val="2A2C45"/>
                </a:solidFill>
                <a:latin typeface="Montserrat"/>
              </a:rPr>
              <a:t>Board-approved procedure (2024, updated 2025): own investigation unit, 15 / 30 working-day deadlines, compensation for losses, monthly Board reporting.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5</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BHR journey self-assessment insights (2/4)</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11091672" cy="1261872"/>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2" name="Rounded Rectangle 11"/>
          <p:cNvSpPr/>
          <p:nvPr/>
        </p:nvSpPr>
        <p:spPr>
          <a:xfrm>
            <a:off x="749808" y="2157984"/>
            <a:ext cx="384048" cy="384048"/>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13" name="Picture 12" descr="LuSmartphone.png"/>
          <p:cNvPicPr>
            <a:picLocks noChangeAspect="1"/>
          </p:cNvPicPr>
          <p:nvPr/>
        </p:nvPicPr>
        <p:blipFill>
          <a:blip r:embed="rId2"/>
          <a:stretch>
            <a:fillRect/>
          </a:stretch>
        </p:blipFill>
        <p:spPr>
          <a:xfrm>
            <a:off x="834298" y="2242474"/>
            <a:ext cx="215066" cy="215066"/>
          </a:xfrm>
          <a:prstGeom prst="rect">
            <a:avLst/>
          </a:prstGeom>
        </p:spPr>
      </p:pic>
      <p:sp>
        <p:nvSpPr>
          <p:cNvPr id="14" name="TextBox 13"/>
          <p:cNvSpPr txBox="1"/>
          <p:nvPr/>
        </p:nvSpPr>
        <p:spPr>
          <a:xfrm>
            <a:off x="1243584" y="2139696"/>
            <a:ext cx="9674352" cy="420624"/>
          </a:xfrm>
          <a:prstGeom prst="rect">
            <a:avLst/>
          </a:prstGeom>
          <a:noFill/>
        </p:spPr>
        <p:txBody>
          <a:bodyPr wrap="square" lIns="0" tIns="0" rIns="0" bIns="0" anchor="ctr">
            <a:spAutoFit/>
          </a:bodyPr>
          <a:lstStyle/>
          <a:p>
            <a:pPr>
              <a:lnSpc>
                <a:spcPct val="100000"/>
              </a:lnSpc>
              <a:spcAft>
                <a:spcPts val="300"/>
              </a:spcAft>
            </a:pPr>
            <a:r>
              <a:rPr sz="1100" b="1" i="0" dirty="0">
                <a:solidFill>
                  <a:srgbClr val="0F1129"/>
                </a:solidFill>
                <a:latin typeface="Montserrat"/>
              </a:rPr>
              <a:t>1. Financial inclusion &amp; digital accessibility</a:t>
            </a:r>
          </a:p>
        </p:txBody>
      </p:sp>
      <p:sp>
        <p:nvSpPr>
          <p:cNvPr id="15" name="Rounded Rectangle 14"/>
          <p:cNvSpPr/>
          <p:nvPr/>
        </p:nvSpPr>
        <p:spPr>
          <a:xfrm>
            <a:off x="10954512" y="2231136"/>
            <a:ext cx="502920" cy="237744"/>
          </a:xfrm>
          <a:prstGeom prst="roundRect">
            <a:avLst>
              <a:gd name="adj" fmla="val 50000"/>
            </a:avLst>
          </a:prstGeom>
          <a:solidFill>
            <a:srgbClr val="FFF1E7"/>
          </a:solidFill>
          <a:ln>
            <a:noFill/>
          </a:ln>
          <a:effectLst/>
        </p:spPr>
        <p:txBody>
          <a:bodyPr rtlCol="0" anchor="ctr"/>
          <a:lstStyle/>
          <a:p>
            <a:pPr algn="ctr"/>
            <a:endParaRPr/>
          </a:p>
        </p:txBody>
      </p:sp>
      <p:sp>
        <p:nvSpPr>
          <p:cNvPr id="16" name="TextBox 15"/>
          <p:cNvSpPr txBox="1"/>
          <p:nvPr/>
        </p:nvSpPr>
        <p:spPr>
          <a:xfrm>
            <a:off x="10954512" y="2231136"/>
            <a:ext cx="502920" cy="237744"/>
          </a:xfrm>
          <a:prstGeom prst="rect">
            <a:avLst/>
          </a:prstGeom>
          <a:noFill/>
        </p:spPr>
        <p:txBody>
          <a:bodyPr wrap="square" lIns="0" tIns="0" rIns="0" bIns="0" anchor="ctr">
            <a:spAutoFit/>
          </a:bodyPr>
          <a:lstStyle/>
          <a:p>
            <a:pPr algn="ctr">
              <a:lnSpc>
                <a:spcPct val="108000"/>
              </a:lnSpc>
              <a:spcAft>
                <a:spcPts val="300"/>
              </a:spcAft>
            </a:pPr>
            <a:r>
              <a:rPr sz="850" b="1" i="0">
                <a:solidFill>
                  <a:srgbClr val="E8590C"/>
                </a:solidFill>
                <a:latin typeface="Montserrat"/>
              </a:rPr>
              <a:t>S</a:t>
            </a:r>
          </a:p>
        </p:txBody>
      </p:sp>
      <p:sp>
        <p:nvSpPr>
          <p:cNvPr id="17" name="Oval 16"/>
          <p:cNvSpPr/>
          <p:nvPr/>
        </p:nvSpPr>
        <p:spPr>
          <a:xfrm>
            <a:off x="749808" y="2660903"/>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18" name="TextBox 17"/>
          <p:cNvSpPr txBox="1"/>
          <p:nvPr/>
        </p:nvSpPr>
        <p:spPr>
          <a:xfrm>
            <a:off x="932688" y="2596896"/>
            <a:ext cx="3258312" cy="274320"/>
          </a:xfrm>
          <a:prstGeom prst="rect">
            <a:avLst/>
          </a:prstGeom>
          <a:noFill/>
        </p:spPr>
        <p:txBody>
          <a:bodyPr wrap="square" lIns="0" tIns="0" rIns="0" bIns="0">
            <a:spAutoFit/>
          </a:bodyPr>
          <a:lstStyle/>
          <a:p>
            <a:pPr>
              <a:lnSpc>
                <a:spcPct val="105000"/>
              </a:lnSpc>
            </a:pPr>
            <a:r>
              <a:rPr sz="940" b="1" dirty="0">
                <a:solidFill>
                  <a:srgbClr val="0F1129"/>
                </a:solidFill>
                <a:latin typeface="Montserrat"/>
              </a:rPr>
              <a:t>“End the Silence”</a:t>
            </a:r>
            <a:r>
              <a:rPr sz="900" dirty="0">
                <a:solidFill>
                  <a:srgbClr val="2A2C45"/>
                </a:solidFill>
                <a:latin typeface="Montserrat"/>
              </a:rPr>
              <a:t> – first sign-language video-call service in the country; sign-language service and staff training in 6 branches</a:t>
            </a:r>
            <a:r>
              <a:rPr sz="840" b="1" dirty="0">
                <a:solidFill>
                  <a:srgbClr val="E4202E"/>
                </a:solidFill>
                <a:latin typeface="Montserrat"/>
              </a:rPr>
              <a:t>   HR link: Issue 3</a:t>
            </a:r>
          </a:p>
        </p:txBody>
      </p:sp>
      <p:sp>
        <p:nvSpPr>
          <p:cNvPr id="19" name="Oval 18"/>
          <p:cNvSpPr/>
          <p:nvPr/>
        </p:nvSpPr>
        <p:spPr>
          <a:xfrm>
            <a:off x="4373880" y="2660903"/>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20" name="TextBox 19"/>
          <p:cNvSpPr txBox="1"/>
          <p:nvPr/>
        </p:nvSpPr>
        <p:spPr>
          <a:xfrm>
            <a:off x="4556760" y="2596896"/>
            <a:ext cx="3258312" cy="434927"/>
          </a:xfrm>
          <a:prstGeom prst="rect">
            <a:avLst/>
          </a:prstGeom>
          <a:noFill/>
        </p:spPr>
        <p:txBody>
          <a:bodyPr wrap="square" lIns="0" tIns="0" rIns="0" bIns="0">
            <a:spAutoFit/>
          </a:bodyPr>
          <a:lstStyle/>
          <a:p>
            <a:pPr>
              <a:lnSpc>
                <a:spcPct val="105000"/>
              </a:lnSpc>
            </a:pPr>
            <a:r>
              <a:rPr lang="en-US" sz="940" b="1" dirty="0">
                <a:solidFill>
                  <a:srgbClr val="0F1129"/>
                </a:solidFill>
                <a:latin typeface="Montserrat"/>
              </a:rPr>
              <a:t>“Ctrl is hers”</a:t>
            </a:r>
            <a:r>
              <a:rPr sz="900" dirty="0">
                <a:solidFill>
                  <a:srgbClr val="2A2C45"/>
                </a:solidFill>
                <a:latin typeface="Montserrat"/>
              </a:rPr>
              <a:t> </a:t>
            </a:r>
            <a:r>
              <a:rPr lang="az-Latn-AZ" sz="900" dirty="0">
                <a:solidFill>
                  <a:srgbClr val="2A2C45"/>
                </a:solidFill>
                <a:latin typeface="Montserrat"/>
              </a:rPr>
              <a:t>c</a:t>
            </a:r>
            <a:r>
              <a:rPr lang="en-US" sz="900" dirty="0" err="1">
                <a:solidFill>
                  <a:srgbClr val="2A2C45"/>
                </a:solidFill>
                <a:latin typeface="Montserrat"/>
              </a:rPr>
              <a:t>areer</a:t>
            </a:r>
            <a:r>
              <a:rPr lang="az-Latn-AZ" sz="900" dirty="0">
                <a:solidFill>
                  <a:srgbClr val="2A2C45"/>
                </a:solidFill>
                <a:latin typeface="Montserrat"/>
              </a:rPr>
              <a:t> d</a:t>
            </a:r>
            <a:r>
              <a:rPr lang="en-US" sz="900" dirty="0" err="1">
                <a:solidFill>
                  <a:srgbClr val="2A2C45"/>
                </a:solidFill>
                <a:latin typeface="Montserrat"/>
              </a:rPr>
              <a:t>evelopment</a:t>
            </a:r>
            <a:r>
              <a:rPr lang="en-US" sz="900" dirty="0">
                <a:solidFill>
                  <a:srgbClr val="2A2C45"/>
                </a:solidFill>
                <a:latin typeface="Montserrat"/>
              </a:rPr>
              <a:t> </a:t>
            </a:r>
            <a:r>
              <a:rPr lang="az-Latn-AZ" sz="900" dirty="0">
                <a:solidFill>
                  <a:srgbClr val="2A2C45"/>
                </a:solidFill>
                <a:latin typeface="Montserrat"/>
              </a:rPr>
              <a:t>p</a:t>
            </a:r>
            <a:r>
              <a:rPr lang="en-US" sz="900" dirty="0" err="1">
                <a:solidFill>
                  <a:srgbClr val="2A2C45"/>
                </a:solidFill>
                <a:latin typeface="Montserrat"/>
              </a:rPr>
              <a:t>rogram</a:t>
            </a:r>
            <a:r>
              <a:rPr lang="en-US" sz="900" dirty="0">
                <a:solidFill>
                  <a:srgbClr val="2A2C45"/>
                </a:solidFill>
                <a:latin typeface="Montserrat"/>
              </a:rPr>
              <a:t> for</a:t>
            </a:r>
            <a:r>
              <a:rPr lang="az-Latn-AZ" sz="900" dirty="0">
                <a:solidFill>
                  <a:srgbClr val="2A2C45"/>
                </a:solidFill>
                <a:latin typeface="Montserrat"/>
              </a:rPr>
              <a:t> </a:t>
            </a:r>
            <a:r>
              <a:rPr lang="en-US" sz="900" dirty="0">
                <a:solidFill>
                  <a:srgbClr val="2A2C45"/>
                </a:solidFill>
                <a:latin typeface="Montserrat"/>
              </a:rPr>
              <a:t>women in tech – for students, recent graduates, professionals working in tech, and those seeking a career switch</a:t>
            </a:r>
            <a:endParaRPr sz="900" dirty="0">
              <a:solidFill>
                <a:srgbClr val="2A2C45"/>
              </a:solidFill>
              <a:latin typeface="Montserrat"/>
            </a:endParaRPr>
          </a:p>
        </p:txBody>
      </p:sp>
      <p:sp>
        <p:nvSpPr>
          <p:cNvPr id="21" name="Oval 20"/>
          <p:cNvSpPr/>
          <p:nvPr/>
        </p:nvSpPr>
        <p:spPr>
          <a:xfrm>
            <a:off x="7997952" y="2660903"/>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22" name="TextBox 21"/>
          <p:cNvSpPr txBox="1"/>
          <p:nvPr/>
        </p:nvSpPr>
        <p:spPr>
          <a:xfrm>
            <a:off x="8180832" y="2596896"/>
            <a:ext cx="3258312" cy="434927"/>
          </a:xfrm>
          <a:prstGeom prst="rect">
            <a:avLst/>
          </a:prstGeom>
          <a:noFill/>
        </p:spPr>
        <p:txBody>
          <a:bodyPr wrap="square" lIns="0" tIns="0" rIns="0" bIns="0">
            <a:spAutoFit/>
          </a:bodyPr>
          <a:lstStyle/>
          <a:p>
            <a:pPr>
              <a:lnSpc>
                <a:spcPct val="105000"/>
              </a:lnSpc>
            </a:pPr>
            <a:r>
              <a:rPr lang="en-US" sz="940" b="1" dirty="0">
                <a:solidFill>
                  <a:srgbClr val="0F1129"/>
                </a:solidFill>
                <a:latin typeface="Montserrat"/>
              </a:rPr>
              <a:t>“Together in Business”</a:t>
            </a:r>
            <a:r>
              <a:rPr sz="900" dirty="0">
                <a:solidFill>
                  <a:srgbClr val="2A2C45"/>
                </a:solidFill>
                <a:latin typeface="Montserrat"/>
              </a:rPr>
              <a:t> </a:t>
            </a:r>
            <a:r>
              <a:rPr lang="en-US" sz="900" dirty="0">
                <a:solidFill>
                  <a:srgbClr val="2A2C45"/>
                </a:solidFill>
                <a:latin typeface="Montserrat"/>
              </a:rPr>
              <a:t>entrepreneurship and economic inclusion support program </a:t>
            </a:r>
            <a:r>
              <a:rPr sz="900" dirty="0">
                <a:solidFill>
                  <a:srgbClr val="2A2C45"/>
                </a:solidFill>
                <a:latin typeface="Montserrat"/>
              </a:rPr>
              <a:t>– </a:t>
            </a:r>
            <a:r>
              <a:rPr lang="az-Latn-AZ" sz="900" dirty="0">
                <a:solidFill>
                  <a:srgbClr val="2A2C45"/>
                </a:solidFill>
                <a:latin typeface="Montserrat"/>
              </a:rPr>
              <a:t>aim to s</a:t>
            </a:r>
            <a:r>
              <a:rPr lang="en-US" sz="900" dirty="0" err="1">
                <a:solidFill>
                  <a:srgbClr val="2A2C45"/>
                </a:solidFill>
                <a:latin typeface="Montserrat"/>
              </a:rPr>
              <a:t>upport</a:t>
            </a:r>
            <a:r>
              <a:rPr lang="az-Latn-AZ" sz="900" dirty="0">
                <a:solidFill>
                  <a:srgbClr val="2A2C45"/>
                </a:solidFill>
                <a:latin typeface="Montserrat"/>
              </a:rPr>
              <a:t> total 100 </a:t>
            </a:r>
            <a:r>
              <a:rPr lang="en-US" sz="900" dirty="0">
                <a:solidFill>
                  <a:srgbClr val="2A2C45"/>
                </a:solidFill>
                <a:latin typeface="Montserrat"/>
              </a:rPr>
              <a:t>business ideas and existing businesses</a:t>
            </a:r>
            <a:endParaRPr sz="900" dirty="0">
              <a:solidFill>
                <a:srgbClr val="2A2C45"/>
              </a:solidFill>
              <a:latin typeface="Montserrat"/>
            </a:endParaRPr>
          </a:p>
        </p:txBody>
      </p:sp>
      <p:sp>
        <p:nvSpPr>
          <p:cNvPr id="23" name="Rounded Rectangle 22"/>
          <p:cNvSpPr/>
          <p:nvPr/>
        </p:nvSpPr>
        <p:spPr>
          <a:xfrm>
            <a:off x="548640" y="3401568"/>
            <a:ext cx="5454396" cy="2926080"/>
          </a:xfrm>
          <a:prstGeom prst="roundRect">
            <a:avLst>
              <a:gd name="adj" fmla="val 3125"/>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4" name="Rounded Rectangle 23"/>
          <p:cNvSpPr/>
          <p:nvPr/>
        </p:nvSpPr>
        <p:spPr>
          <a:xfrm>
            <a:off x="749808" y="3547872"/>
            <a:ext cx="384048" cy="384048"/>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25" name="Picture 24" descr="LuGraduationCap.png"/>
          <p:cNvPicPr>
            <a:picLocks noChangeAspect="1"/>
          </p:cNvPicPr>
          <p:nvPr/>
        </p:nvPicPr>
        <p:blipFill>
          <a:blip r:embed="rId3"/>
          <a:stretch>
            <a:fillRect/>
          </a:stretch>
        </p:blipFill>
        <p:spPr>
          <a:xfrm>
            <a:off x="834298" y="3632362"/>
            <a:ext cx="215066" cy="215066"/>
          </a:xfrm>
          <a:prstGeom prst="rect">
            <a:avLst/>
          </a:prstGeom>
        </p:spPr>
      </p:pic>
      <p:sp>
        <p:nvSpPr>
          <p:cNvPr id="26" name="TextBox 25"/>
          <p:cNvSpPr txBox="1"/>
          <p:nvPr/>
        </p:nvSpPr>
        <p:spPr>
          <a:xfrm>
            <a:off x="1243584" y="3529584"/>
            <a:ext cx="4037076" cy="420624"/>
          </a:xfrm>
          <a:prstGeom prst="rect">
            <a:avLst/>
          </a:prstGeom>
          <a:noFill/>
        </p:spPr>
        <p:txBody>
          <a:bodyPr wrap="square" lIns="0" tIns="0" rIns="0" bIns="0" anchor="ctr">
            <a:spAutoFit/>
          </a:bodyPr>
          <a:lstStyle/>
          <a:p>
            <a:pPr>
              <a:lnSpc>
                <a:spcPct val="100000"/>
              </a:lnSpc>
              <a:spcAft>
                <a:spcPts val="300"/>
              </a:spcAft>
            </a:pPr>
            <a:r>
              <a:rPr sz="1100" b="1" i="0">
                <a:solidFill>
                  <a:srgbClr val="0F1129"/>
                </a:solidFill>
                <a:latin typeface="Montserrat"/>
              </a:rPr>
              <a:t>2. Education, youth &amp; future skills</a:t>
            </a:r>
          </a:p>
        </p:txBody>
      </p:sp>
      <p:sp>
        <p:nvSpPr>
          <p:cNvPr id="27" name="Rounded Rectangle 26"/>
          <p:cNvSpPr/>
          <p:nvPr/>
        </p:nvSpPr>
        <p:spPr>
          <a:xfrm>
            <a:off x="5317236" y="3621024"/>
            <a:ext cx="502920" cy="237744"/>
          </a:xfrm>
          <a:prstGeom prst="roundRect">
            <a:avLst>
              <a:gd name="adj" fmla="val 50000"/>
            </a:avLst>
          </a:prstGeom>
          <a:solidFill>
            <a:srgbClr val="FFF1E7"/>
          </a:solidFill>
          <a:ln>
            <a:noFill/>
          </a:ln>
          <a:effectLst/>
        </p:spPr>
        <p:txBody>
          <a:bodyPr rtlCol="0" anchor="ctr"/>
          <a:lstStyle/>
          <a:p>
            <a:pPr algn="ctr"/>
            <a:endParaRPr/>
          </a:p>
        </p:txBody>
      </p:sp>
      <p:sp>
        <p:nvSpPr>
          <p:cNvPr id="28" name="TextBox 27"/>
          <p:cNvSpPr txBox="1"/>
          <p:nvPr/>
        </p:nvSpPr>
        <p:spPr>
          <a:xfrm>
            <a:off x="5317236" y="3621024"/>
            <a:ext cx="502920" cy="237744"/>
          </a:xfrm>
          <a:prstGeom prst="rect">
            <a:avLst/>
          </a:prstGeom>
          <a:noFill/>
        </p:spPr>
        <p:txBody>
          <a:bodyPr wrap="square" lIns="0" tIns="0" rIns="0" bIns="0" anchor="ctr">
            <a:spAutoFit/>
          </a:bodyPr>
          <a:lstStyle/>
          <a:p>
            <a:pPr algn="ctr">
              <a:lnSpc>
                <a:spcPct val="108000"/>
              </a:lnSpc>
              <a:spcAft>
                <a:spcPts val="300"/>
              </a:spcAft>
            </a:pPr>
            <a:r>
              <a:rPr sz="850" b="1" i="0">
                <a:solidFill>
                  <a:srgbClr val="E8590C"/>
                </a:solidFill>
                <a:latin typeface="Montserrat"/>
              </a:rPr>
              <a:t>S</a:t>
            </a:r>
          </a:p>
        </p:txBody>
      </p:sp>
      <p:sp>
        <p:nvSpPr>
          <p:cNvPr id="29" name="Oval 28"/>
          <p:cNvSpPr/>
          <p:nvPr/>
        </p:nvSpPr>
        <p:spPr>
          <a:xfrm>
            <a:off x="749808" y="4069080"/>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0" name="TextBox 29"/>
          <p:cNvSpPr txBox="1"/>
          <p:nvPr/>
        </p:nvSpPr>
        <p:spPr>
          <a:xfrm>
            <a:off x="932688" y="4005072"/>
            <a:ext cx="4869180" cy="274320"/>
          </a:xfrm>
          <a:prstGeom prst="rect">
            <a:avLst/>
          </a:prstGeom>
          <a:noFill/>
        </p:spPr>
        <p:txBody>
          <a:bodyPr wrap="square" lIns="0" tIns="0" rIns="0" bIns="0">
            <a:spAutoFit/>
          </a:bodyPr>
          <a:lstStyle/>
          <a:p>
            <a:pPr>
              <a:lnSpc>
                <a:spcPct val="105000"/>
              </a:lnSpc>
            </a:pPr>
            <a:r>
              <a:rPr lang="en-US" sz="890" b="1" dirty="0">
                <a:solidFill>
                  <a:srgbClr val="0F1129"/>
                </a:solidFill>
                <a:latin typeface="Montserrat"/>
              </a:rPr>
              <a:t>“Onu </a:t>
            </a:r>
            <a:r>
              <a:rPr lang="en-US" sz="890" b="1" dirty="0" err="1">
                <a:solidFill>
                  <a:srgbClr val="0F1129"/>
                </a:solidFill>
                <a:latin typeface="Montserrat"/>
              </a:rPr>
              <a:t>oxut</a:t>
            </a:r>
            <a:r>
              <a:rPr lang="en-US" sz="890" b="1" dirty="0">
                <a:solidFill>
                  <a:srgbClr val="0F1129"/>
                </a:solidFill>
                <a:latin typeface="Montserrat"/>
              </a:rPr>
              <a:t>”</a:t>
            </a:r>
            <a:r>
              <a:rPr sz="890" b="1" dirty="0">
                <a:solidFill>
                  <a:srgbClr val="0F1129"/>
                </a:solidFill>
                <a:latin typeface="Montserrat"/>
              </a:rPr>
              <a:t> scholarship</a:t>
            </a:r>
            <a:r>
              <a:rPr sz="850" dirty="0">
                <a:solidFill>
                  <a:srgbClr val="2A2C45"/>
                </a:solidFill>
                <a:latin typeface="Montserrat"/>
              </a:rPr>
              <a:t> – 23 students (+20 in 2025–26); master’s at Aalto University; inclusion internship at Camphill (USA)</a:t>
            </a:r>
          </a:p>
        </p:txBody>
      </p:sp>
      <p:cxnSp>
        <p:nvCxnSpPr>
          <p:cNvPr id="31" name="Connector 30"/>
          <p:cNvCxnSpPr/>
          <p:nvPr/>
        </p:nvCxnSpPr>
        <p:spPr>
          <a:xfrm>
            <a:off x="749808" y="4360019"/>
            <a:ext cx="5052060" cy="0"/>
          </a:xfrm>
          <a:prstGeom prst="line">
            <a:avLst/>
          </a:prstGeom>
          <a:ln w="6350">
            <a:solidFill>
              <a:srgbClr val="E7E9F2"/>
            </a:solidFill>
          </a:ln>
        </p:spPr>
      </p:cxnSp>
      <p:sp>
        <p:nvSpPr>
          <p:cNvPr id="32" name="Oval 31"/>
          <p:cNvSpPr/>
          <p:nvPr/>
        </p:nvSpPr>
        <p:spPr>
          <a:xfrm>
            <a:off x="749808" y="4488035"/>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3" name="TextBox 32"/>
          <p:cNvSpPr txBox="1"/>
          <p:nvPr/>
        </p:nvSpPr>
        <p:spPr>
          <a:xfrm>
            <a:off x="932688" y="4424027"/>
            <a:ext cx="4869180" cy="273793"/>
          </a:xfrm>
          <a:prstGeom prst="rect">
            <a:avLst/>
          </a:prstGeom>
          <a:noFill/>
        </p:spPr>
        <p:txBody>
          <a:bodyPr wrap="square" lIns="0" tIns="0" rIns="0" bIns="0">
            <a:spAutoFit/>
          </a:bodyPr>
          <a:lstStyle/>
          <a:p>
            <a:pPr>
              <a:lnSpc>
                <a:spcPct val="105000"/>
              </a:lnSpc>
            </a:pPr>
            <a:r>
              <a:rPr lang="en-US" sz="890" b="1" dirty="0">
                <a:solidFill>
                  <a:srgbClr val="0F1129"/>
                </a:solidFill>
                <a:latin typeface="Montserrat"/>
              </a:rPr>
              <a:t>“</a:t>
            </a:r>
            <a:r>
              <a:rPr lang="en-US" sz="890" b="1" dirty="0" err="1">
                <a:solidFill>
                  <a:srgbClr val="0F1129"/>
                </a:solidFill>
                <a:latin typeface="Montserrat"/>
              </a:rPr>
              <a:t>Arzumuz</a:t>
            </a:r>
            <a:r>
              <a:rPr lang="en-US" sz="890" b="1" dirty="0">
                <a:solidFill>
                  <a:srgbClr val="0F1129"/>
                </a:solidFill>
                <a:latin typeface="Montserrat"/>
              </a:rPr>
              <a:t> var!”</a:t>
            </a:r>
            <a:r>
              <a:rPr lang="en-US" sz="850" dirty="0">
                <a:solidFill>
                  <a:srgbClr val="2A2C45"/>
                </a:solidFill>
                <a:latin typeface="Montserrat"/>
              </a:rPr>
              <a:t> –</a:t>
            </a:r>
            <a:r>
              <a:rPr lang="az-Latn-AZ" sz="850" dirty="0">
                <a:solidFill>
                  <a:srgbClr val="2A2C45"/>
                </a:solidFill>
                <a:latin typeface="Montserrat"/>
              </a:rPr>
              <a:t> </a:t>
            </a:r>
            <a:r>
              <a:rPr lang="en-US" sz="850" dirty="0">
                <a:solidFill>
                  <a:srgbClr val="2A2C45"/>
                </a:solidFill>
                <a:latin typeface="Montserrat"/>
              </a:rPr>
              <a:t>Scholarships for girls from low-income families across 9 districts; 11 university enrolments, with ongoing support for</a:t>
            </a:r>
            <a:r>
              <a:rPr lang="az-Latn-AZ" sz="850" dirty="0">
                <a:solidFill>
                  <a:srgbClr val="2A2C45"/>
                </a:solidFill>
                <a:latin typeface="Montserrat"/>
              </a:rPr>
              <a:t> 11</a:t>
            </a:r>
            <a:r>
              <a:rPr lang="en-US" sz="850" dirty="0">
                <a:solidFill>
                  <a:srgbClr val="2A2C45"/>
                </a:solidFill>
                <a:latin typeface="Montserrat"/>
              </a:rPr>
              <a:t> students and 7 applicants</a:t>
            </a:r>
          </a:p>
        </p:txBody>
      </p:sp>
      <p:cxnSp>
        <p:nvCxnSpPr>
          <p:cNvPr id="34" name="Connector 33"/>
          <p:cNvCxnSpPr/>
          <p:nvPr/>
        </p:nvCxnSpPr>
        <p:spPr>
          <a:xfrm>
            <a:off x="749808" y="4782451"/>
            <a:ext cx="5052060" cy="0"/>
          </a:xfrm>
          <a:prstGeom prst="line">
            <a:avLst/>
          </a:prstGeom>
          <a:ln w="6350">
            <a:solidFill>
              <a:srgbClr val="E7E9F2"/>
            </a:solidFill>
          </a:ln>
        </p:spPr>
      </p:cxnSp>
      <p:sp>
        <p:nvSpPr>
          <p:cNvPr id="35" name="Oval 34"/>
          <p:cNvSpPr/>
          <p:nvPr/>
        </p:nvSpPr>
        <p:spPr>
          <a:xfrm>
            <a:off x="749808" y="4910467"/>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6" name="TextBox 35"/>
          <p:cNvSpPr txBox="1"/>
          <p:nvPr/>
        </p:nvSpPr>
        <p:spPr>
          <a:xfrm>
            <a:off x="932688" y="4846459"/>
            <a:ext cx="4869180" cy="273793"/>
          </a:xfrm>
          <a:prstGeom prst="rect">
            <a:avLst/>
          </a:prstGeom>
          <a:noFill/>
        </p:spPr>
        <p:txBody>
          <a:bodyPr wrap="square" lIns="0" tIns="0" rIns="0" bIns="0">
            <a:spAutoFit/>
          </a:bodyPr>
          <a:lstStyle/>
          <a:p>
            <a:pPr>
              <a:lnSpc>
                <a:spcPct val="105000"/>
              </a:lnSpc>
            </a:pPr>
            <a:r>
              <a:rPr lang="en-US" sz="890" b="1" dirty="0">
                <a:solidFill>
                  <a:srgbClr val="0F1129"/>
                </a:solidFill>
                <a:latin typeface="Montserrat"/>
              </a:rPr>
              <a:t>“</a:t>
            </a:r>
            <a:r>
              <a:rPr sz="890" b="1" dirty="0">
                <a:solidFill>
                  <a:srgbClr val="0F1129"/>
                </a:solidFill>
                <a:latin typeface="Montserrat"/>
              </a:rPr>
              <a:t>Spark</a:t>
            </a:r>
            <a:r>
              <a:rPr lang="en-US" sz="890" b="1" dirty="0">
                <a:solidFill>
                  <a:srgbClr val="0F1129"/>
                </a:solidFill>
                <a:latin typeface="Montserrat"/>
              </a:rPr>
              <a:t>"</a:t>
            </a:r>
            <a:r>
              <a:rPr sz="890" b="1" dirty="0">
                <a:solidFill>
                  <a:srgbClr val="0F1129"/>
                </a:solidFill>
                <a:latin typeface="Montserrat"/>
              </a:rPr>
              <a:t> </a:t>
            </a:r>
            <a:r>
              <a:rPr sz="890" dirty="0">
                <a:solidFill>
                  <a:srgbClr val="0F1129"/>
                </a:solidFill>
                <a:latin typeface="Montserrat"/>
              </a:rPr>
              <a:t>student innovation</a:t>
            </a:r>
            <a:r>
              <a:rPr lang="az-Latn-AZ" sz="850" dirty="0">
                <a:solidFill>
                  <a:srgbClr val="2A2C45"/>
                </a:solidFill>
                <a:latin typeface="Montserrat"/>
              </a:rPr>
              <a:t> program </a:t>
            </a:r>
            <a:r>
              <a:rPr sz="850" dirty="0">
                <a:solidFill>
                  <a:srgbClr val="2A2C45"/>
                </a:solidFill>
                <a:latin typeface="Montserrat"/>
              </a:rPr>
              <a:t>– mentoring; top 3 projects won AZN 4,000 / 2,000 / 1,000</a:t>
            </a:r>
          </a:p>
        </p:txBody>
      </p:sp>
      <p:cxnSp>
        <p:nvCxnSpPr>
          <p:cNvPr id="37" name="Connector 36"/>
          <p:cNvCxnSpPr/>
          <p:nvPr/>
        </p:nvCxnSpPr>
        <p:spPr>
          <a:xfrm>
            <a:off x="749808" y="5128393"/>
            <a:ext cx="5052060" cy="0"/>
          </a:xfrm>
          <a:prstGeom prst="line">
            <a:avLst/>
          </a:prstGeom>
          <a:ln w="6350">
            <a:solidFill>
              <a:srgbClr val="E7E9F2"/>
            </a:solidFill>
          </a:ln>
        </p:spPr>
      </p:cxnSp>
      <p:sp>
        <p:nvSpPr>
          <p:cNvPr id="38" name="Oval 37"/>
          <p:cNvSpPr/>
          <p:nvPr/>
        </p:nvSpPr>
        <p:spPr>
          <a:xfrm>
            <a:off x="749808" y="5256409"/>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9" name="TextBox 38"/>
          <p:cNvSpPr txBox="1"/>
          <p:nvPr/>
        </p:nvSpPr>
        <p:spPr>
          <a:xfrm>
            <a:off x="932688" y="5192401"/>
            <a:ext cx="4869180" cy="274320"/>
          </a:xfrm>
          <a:prstGeom prst="rect">
            <a:avLst/>
          </a:prstGeom>
          <a:noFill/>
        </p:spPr>
        <p:txBody>
          <a:bodyPr wrap="square" lIns="0" tIns="0" rIns="0" bIns="0">
            <a:spAutoFit/>
          </a:bodyPr>
          <a:lstStyle/>
          <a:p>
            <a:pPr>
              <a:lnSpc>
                <a:spcPct val="105000"/>
              </a:lnSpc>
            </a:pPr>
            <a:r>
              <a:rPr sz="890" b="1" dirty="0">
                <a:solidFill>
                  <a:srgbClr val="0F1129"/>
                </a:solidFill>
                <a:latin typeface="Montserrat"/>
              </a:rPr>
              <a:t>“Change starts with you!”</a:t>
            </a:r>
            <a:r>
              <a:rPr sz="850" dirty="0">
                <a:solidFill>
                  <a:srgbClr val="2A2C45"/>
                </a:solidFill>
                <a:latin typeface="Montserrat"/>
              </a:rPr>
              <a:t> – </a:t>
            </a:r>
            <a:r>
              <a:rPr lang="az-Latn-AZ" sz="850" dirty="0">
                <a:solidFill>
                  <a:srgbClr val="2A2C45"/>
                </a:solidFill>
                <a:latin typeface="Montserrat"/>
              </a:rPr>
              <a:t>a</a:t>
            </a:r>
            <a:r>
              <a:rPr lang="en-US" sz="850" dirty="0" err="1">
                <a:solidFill>
                  <a:srgbClr val="2A2C45"/>
                </a:solidFill>
                <a:latin typeface="Montserrat"/>
              </a:rPr>
              <a:t>nti</a:t>
            </a:r>
            <a:r>
              <a:rPr lang="en-US" sz="850" dirty="0">
                <a:solidFill>
                  <a:srgbClr val="2A2C45"/>
                </a:solidFill>
                <a:latin typeface="Montserrat"/>
              </a:rPr>
              <a:t>-bullying training for teachers by international experts; support</a:t>
            </a:r>
            <a:r>
              <a:rPr lang="az-Latn-AZ" sz="850" dirty="0">
                <a:solidFill>
                  <a:srgbClr val="2A2C45"/>
                </a:solidFill>
                <a:latin typeface="Montserrat"/>
              </a:rPr>
              <a:t>ed</a:t>
            </a:r>
            <a:r>
              <a:rPr lang="en-US" sz="850" dirty="0">
                <a:solidFill>
                  <a:srgbClr val="2A2C45"/>
                </a:solidFill>
                <a:latin typeface="Montserrat"/>
              </a:rPr>
              <a:t> schoolchildren </a:t>
            </a:r>
            <a:r>
              <a:rPr lang="az-Latn-AZ" sz="850" dirty="0">
                <a:solidFill>
                  <a:srgbClr val="2A2C45"/>
                </a:solidFill>
                <a:latin typeface="Montserrat"/>
              </a:rPr>
              <a:t>and children </a:t>
            </a:r>
            <a:r>
              <a:rPr lang="en-US" sz="850" dirty="0">
                <a:solidFill>
                  <a:srgbClr val="2A2C45"/>
                </a:solidFill>
                <a:latin typeface="Montserrat"/>
              </a:rPr>
              <a:t>at SOS Children’s Villages.</a:t>
            </a:r>
            <a:endParaRPr sz="850" dirty="0">
              <a:solidFill>
                <a:srgbClr val="2A2C45"/>
              </a:solidFill>
              <a:latin typeface="Montserrat"/>
            </a:endParaRPr>
          </a:p>
        </p:txBody>
      </p:sp>
      <p:cxnSp>
        <p:nvCxnSpPr>
          <p:cNvPr id="40" name="Connector 39"/>
          <p:cNvCxnSpPr/>
          <p:nvPr/>
        </p:nvCxnSpPr>
        <p:spPr>
          <a:xfrm>
            <a:off x="749808" y="5550825"/>
            <a:ext cx="5052060" cy="0"/>
          </a:xfrm>
          <a:prstGeom prst="line">
            <a:avLst/>
          </a:prstGeom>
          <a:ln w="6350">
            <a:solidFill>
              <a:srgbClr val="E7E9F2"/>
            </a:solidFill>
          </a:ln>
        </p:spPr>
      </p:cxnSp>
      <p:sp>
        <p:nvSpPr>
          <p:cNvPr id="41" name="Oval 40"/>
          <p:cNvSpPr/>
          <p:nvPr/>
        </p:nvSpPr>
        <p:spPr>
          <a:xfrm>
            <a:off x="749808" y="5678841"/>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42" name="TextBox 41"/>
          <p:cNvSpPr txBox="1"/>
          <p:nvPr/>
        </p:nvSpPr>
        <p:spPr>
          <a:xfrm>
            <a:off x="932688" y="5614833"/>
            <a:ext cx="4869180" cy="279948"/>
          </a:xfrm>
          <a:prstGeom prst="rect">
            <a:avLst/>
          </a:prstGeom>
          <a:noFill/>
        </p:spPr>
        <p:txBody>
          <a:bodyPr wrap="square" lIns="0" tIns="0" rIns="0" bIns="0">
            <a:spAutoFit/>
          </a:bodyPr>
          <a:lstStyle/>
          <a:p>
            <a:pPr>
              <a:lnSpc>
                <a:spcPct val="105000"/>
              </a:lnSpc>
            </a:pPr>
            <a:r>
              <a:rPr lang="en-US" sz="890" b="1" dirty="0">
                <a:solidFill>
                  <a:srgbClr val="0F1129"/>
                </a:solidFill>
                <a:latin typeface="Montserrat"/>
              </a:rPr>
              <a:t>Intellectual contests </a:t>
            </a:r>
            <a:r>
              <a:rPr lang="en-US" sz="890" dirty="0">
                <a:solidFill>
                  <a:srgbClr val="0F1129"/>
                </a:solidFill>
                <a:latin typeface="Montserrat"/>
              </a:rPr>
              <a:t>– Supported the “What? Where? When?” intellectual game and the Republican Subject Olympiads.</a:t>
            </a:r>
            <a:endParaRPr lang="en-US" sz="850" dirty="0">
              <a:solidFill>
                <a:srgbClr val="2A2C45"/>
              </a:solidFill>
              <a:latin typeface="Montserrat"/>
            </a:endParaRPr>
          </a:p>
        </p:txBody>
      </p:sp>
      <p:cxnSp>
        <p:nvCxnSpPr>
          <p:cNvPr id="43" name="Connector 42"/>
          <p:cNvCxnSpPr/>
          <p:nvPr/>
        </p:nvCxnSpPr>
        <p:spPr>
          <a:xfrm>
            <a:off x="749808" y="5921105"/>
            <a:ext cx="5052060" cy="0"/>
          </a:xfrm>
          <a:prstGeom prst="line">
            <a:avLst/>
          </a:prstGeom>
          <a:ln w="6350">
            <a:solidFill>
              <a:srgbClr val="E7E9F2"/>
            </a:solidFill>
          </a:ln>
        </p:spPr>
      </p:cxnSp>
      <p:sp>
        <p:nvSpPr>
          <p:cNvPr id="44" name="Oval 43"/>
          <p:cNvSpPr/>
          <p:nvPr/>
        </p:nvSpPr>
        <p:spPr>
          <a:xfrm>
            <a:off x="749808" y="6049121"/>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45" name="TextBox 44"/>
          <p:cNvSpPr txBox="1"/>
          <p:nvPr/>
        </p:nvSpPr>
        <p:spPr>
          <a:xfrm>
            <a:off x="932688" y="5985113"/>
            <a:ext cx="4869180" cy="274320"/>
          </a:xfrm>
          <a:prstGeom prst="rect">
            <a:avLst/>
          </a:prstGeom>
          <a:noFill/>
        </p:spPr>
        <p:txBody>
          <a:bodyPr wrap="square" lIns="0" tIns="0" rIns="0" bIns="0">
            <a:spAutoFit/>
          </a:bodyPr>
          <a:lstStyle/>
          <a:p>
            <a:pPr>
              <a:lnSpc>
                <a:spcPct val="105000"/>
              </a:lnSpc>
            </a:pPr>
            <a:r>
              <a:rPr sz="890" b="1" dirty="0">
                <a:solidFill>
                  <a:srgbClr val="0F1129"/>
                </a:solidFill>
                <a:latin typeface="Montserrat"/>
              </a:rPr>
              <a:t>Tuition support</a:t>
            </a:r>
            <a:r>
              <a:rPr sz="850" dirty="0">
                <a:solidFill>
                  <a:srgbClr val="2A2C45"/>
                </a:solidFill>
                <a:latin typeface="Montserrat"/>
              </a:rPr>
              <a:t> – fees for children of martyrs and veterans</a:t>
            </a:r>
          </a:p>
        </p:txBody>
      </p:sp>
      <p:sp>
        <p:nvSpPr>
          <p:cNvPr id="46" name="Rounded Rectangle 45"/>
          <p:cNvSpPr/>
          <p:nvPr/>
        </p:nvSpPr>
        <p:spPr>
          <a:xfrm>
            <a:off x="6185916" y="3401568"/>
            <a:ext cx="5454396" cy="2926080"/>
          </a:xfrm>
          <a:prstGeom prst="roundRect">
            <a:avLst>
              <a:gd name="adj" fmla="val 3125"/>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dirty="0"/>
          </a:p>
        </p:txBody>
      </p:sp>
      <p:sp>
        <p:nvSpPr>
          <p:cNvPr id="47" name="Rounded Rectangle 46"/>
          <p:cNvSpPr/>
          <p:nvPr/>
        </p:nvSpPr>
        <p:spPr>
          <a:xfrm>
            <a:off x="6387084" y="3547872"/>
            <a:ext cx="384048" cy="384048"/>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48" name="Picture 47" descr="LuHandshake.png"/>
          <p:cNvPicPr>
            <a:picLocks noChangeAspect="1"/>
          </p:cNvPicPr>
          <p:nvPr/>
        </p:nvPicPr>
        <p:blipFill>
          <a:blip r:embed="rId4"/>
          <a:stretch>
            <a:fillRect/>
          </a:stretch>
        </p:blipFill>
        <p:spPr>
          <a:xfrm>
            <a:off x="6471574" y="3632362"/>
            <a:ext cx="215066" cy="215066"/>
          </a:xfrm>
          <a:prstGeom prst="rect">
            <a:avLst/>
          </a:prstGeom>
        </p:spPr>
      </p:pic>
      <p:sp>
        <p:nvSpPr>
          <p:cNvPr id="49" name="TextBox 48"/>
          <p:cNvSpPr txBox="1"/>
          <p:nvPr/>
        </p:nvSpPr>
        <p:spPr>
          <a:xfrm>
            <a:off x="6880860" y="3529584"/>
            <a:ext cx="4037076" cy="420624"/>
          </a:xfrm>
          <a:prstGeom prst="rect">
            <a:avLst/>
          </a:prstGeom>
          <a:noFill/>
        </p:spPr>
        <p:txBody>
          <a:bodyPr wrap="square" lIns="0" tIns="0" rIns="0" bIns="0" anchor="ctr">
            <a:spAutoFit/>
          </a:bodyPr>
          <a:lstStyle/>
          <a:p>
            <a:pPr>
              <a:lnSpc>
                <a:spcPct val="100000"/>
              </a:lnSpc>
              <a:spcAft>
                <a:spcPts val="300"/>
              </a:spcAft>
            </a:pPr>
            <a:r>
              <a:rPr sz="1100" b="1" i="0">
                <a:solidFill>
                  <a:srgbClr val="0F1129"/>
                </a:solidFill>
                <a:latin typeface="Montserrat"/>
              </a:rPr>
              <a:t>3. Inclusive economy &amp; equal opportunities</a:t>
            </a:r>
          </a:p>
        </p:txBody>
      </p:sp>
      <p:sp>
        <p:nvSpPr>
          <p:cNvPr id="50" name="Rounded Rectangle 49"/>
          <p:cNvSpPr/>
          <p:nvPr/>
        </p:nvSpPr>
        <p:spPr>
          <a:xfrm>
            <a:off x="10954512" y="3621024"/>
            <a:ext cx="502920" cy="237744"/>
          </a:xfrm>
          <a:prstGeom prst="roundRect">
            <a:avLst>
              <a:gd name="adj" fmla="val 50000"/>
            </a:avLst>
          </a:prstGeom>
          <a:solidFill>
            <a:srgbClr val="FFF1E7"/>
          </a:solidFill>
          <a:ln>
            <a:noFill/>
          </a:ln>
          <a:effectLst/>
        </p:spPr>
        <p:txBody>
          <a:bodyPr rtlCol="0" anchor="ctr"/>
          <a:lstStyle/>
          <a:p>
            <a:pPr algn="ctr"/>
            <a:endParaRPr/>
          </a:p>
        </p:txBody>
      </p:sp>
      <p:sp>
        <p:nvSpPr>
          <p:cNvPr id="51" name="TextBox 50"/>
          <p:cNvSpPr txBox="1"/>
          <p:nvPr/>
        </p:nvSpPr>
        <p:spPr>
          <a:xfrm>
            <a:off x="10954512" y="3621024"/>
            <a:ext cx="502920" cy="237744"/>
          </a:xfrm>
          <a:prstGeom prst="rect">
            <a:avLst/>
          </a:prstGeom>
          <a:noFill/>
        </p:spPr>
        <p:txBody>
          <a:bodyPr wrap="square" lIns="0" tIns="0" rIns="0" bIns="0" anchor="ctr">
            <a:spAutoFit/>
          </a:bodyPr>
          <a:lstStyle/>
          <a:p>
            <a:pPr algn="ctr">
              <a:lnSpc>
                <a:spcPct val="108000"/>
              </a:lnSpc>
              <a:spcAft>
                <a:spcPts val="300"/>
              </a:spcAft>
            </a:pPr>
            <a:r>
              <a:rPr sz="850" b="1" i="0">
                <a:solidFill>
                  <a:srgbClr val="E8590C"/>
                </a:solidFill>
                <a:latin typeface="Montserrat"/>
              </a:rPr>
              <a:t>S</a:t>
            </a:r>
          </a:p>
        </p:txBody>
      </p:sp>
      <p:sp>
        <p:nvSpPr>
          <p:cNvPr id="52" name="Oval 51"/>
          <p:cNvSpPr/>
          <p:nvPr/>
        </p:nvSpPr>
        <p:spPr>
          <a:xfrm>
            <a:off x="6387084" y="4110114"/>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53" name="TextBox 52"/>
          <p:cNvSpPr txBox="1"/>
          <p:nvPr/>
        </p:nvSpPr>
        <p:spPr>
          <a:xfrm>
            <a:off x="6569964" y="4046106"/>
            <a:ext cx="4869180" cy="274320"/>
          </a:xfrm>
          <a:prstGeom prst="rect">
            <a:avLst/>
          </a:prstGeom>
          <a:noFill/>
        </p:spPr>
        <p:txBody>
          <a:bodyPr wrap="square" lIns="0" tIns="0" rIns="0" bIns="0">
            <a:spAutoFit/>
          </a:bodyPr>
          <a:lstStyle/>
          <a:p>
            <a:pPr>
              <a:lnSpc>
                <a:spcPct val="105000"/>
              </a:lnSpc>
            </a:pPr>
            <a:r>
              <a:rPr sz="890" b="1">
                <a:solidFill>
                  <a:srgbClr val="0F1129"/>
                </a:solidFill>
                <a:latin typeface="Montserrat"/>
              </a:rPr>
              <a:t>She’s Next with Visa</a:t>
            </a:r>
            <a:r>
              <a:rPr sz="850">
                <a:solidFill>
                  <a:srgbClr val="2A2C45"/>
                </a:solidFill>
                <a:latin typeface="Montserrat"/>
              </a:rPr>
              <a:t> – 400+ women applied; AZN 45,000 to 6 winners; co-branded business card</a:t>
            </a:r>
            <a:r>
              <a:rPr sz="790" b="1">
                <a:solidFill>
                  <a:srgbClr val="E4202E"/>
                </a:solidFill>
                <a:latin typeface="Montserrat"/>
              </a:rPr>
              <a:t>   HR link: Issue 3</a:t>
            </a:r>
          </a:p>
        </p:txBody>
      </p:sp>
      <p:cxnSp>
        <p:nvCxnSpPr>
          <p:cNvPr id="54" name="Connector 53"/>
          <p:cNvCxnSpPr/>
          <p:nvPr/>
        </p:nvCxnSpPr>
        <p:spPr>
          <a:xfrm>
            <a:off x="6387084" y="4317543"/>
            <a:ext cx="5052060" cy="0"/>
          </a:xfrm>
          <a:prstGeom prst="line">
            <a:avLst/>
          </a:prstGeom>
          <a:ln w="6350">
            <a:solidFill>
              <a:srgbClr val="E7E9F2"/>
            </a:solidFill>
          </a:ln>
        </p:spPr>
      </p:cxnSp>
      <p:sp>
        <p:nvSpPr>
          <p:cNvPr id="55" name="Oval 54"/>
          <p:cNvSpPr/>
          <p:nvPr/>
        </p:nvSpPr>
        <p:spPr>
          <a:xfrm>
            <a:off x="6387084" y="4533489"/>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56" name="TextBox 55"/>
          <p:cNvSpPr txBox="1"/>
          <p:nvPr/>
        </p:nvSpPr>
        <p:spPr>
          <a:xfrm>
            <a:off x="6569964" y="4469481"/>
            <a:ext cx="4869180" cy="274320"/>
          </a:xfrm>
          <a:prstGeom prst="rect">
            <a:avLst/>
          </a:prstGeom>
          <a:noFill/>
        </p:spPr>
        <p:txBody>
          <a:bodyPr wrap="square" lIns="0" tIns="0" rIns="0" bIns="0">
            <a:spAutoFit/>
          </a:bodyPr>
          <a:lstStyle/>
          <a:p>
            <a:pPr>
              <a:lnSpc>
                <a:spcPct val="105000"/>
              </a:lnSpc>
            </a:pPr>
            <a:r>
              <a:rPr sz="890" b="1" dirty="0">
                <a:solidFill>
                  <a:srgbClr val="0F1129"/>
                </a:solidFill>
                <a:latin typeface="Montserrat"/>
              </a:rPr>
              <a:t>“Women first in everything” fair</a:t>
            </a:r>
            <a:r>
              <a:rPr sz="850" dirty="0">
                <a:solidFill>
                  <a:srgbClr val="2A2C45"/>
                </a:solidFill>
                <a:latin typeface="Montserrat"/>
              </a:rPr>
              <a:t> – 60 women entrepreneurs; microcredit discount up to 8%; free management training</a:t>
            </a:r>
            <a:r>
              <a:rPr sz="790" b="1" dirty="0">
                <a:solidFill>
                  <a:srgbClr val="E4202E"/>
                </a:solidFill>
                <a:latin typeface="Montserrat"/>
              </a:rPr>
              <a:t>   HR link: Issue 3</a:t>
            </a:r>
          </a:p>
        </p:txBody>
      </p:sp>
      <p:cxnSp>
        <p:nvCxnSpPr>
          <p:cNvPr id="57" name="Connector 56"/>
          <p:cNvCxnSpPr/>
          <p:nvPr/>
        </p:nvCxnSpPr>
        <p:spPr>
          <a:xfrm>
            <a:off x="6387084" y="4775085"/>
            <a:ext cx="5052060" cy="0"/>
          </a:xfrm>
          <a:prstGeom prst="line">
            <a:avLst/>
          </a:prstGeom>
          <a:ln w="6350">
            <a:solidFill>
              <a:srgbClr val="E7E9F2"/>
            </a:solidFill>
          </a:ln>
        </p:spPr>
      </p:cxnSp>
      <p:sp>
        <p:nvSpPr>
          <p:cNvPr id="61" name="Oval 60"/>
          <p:cNvSpPr/>
          <p:nvPr/>
        </p:nvSpPr>
        <p:spPr>
          <a:xfrm>
            <a:off x="6387084" y="4980706"/>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62" name="TextBox 61"/>
          <p:cNvSpPr txBox="1"/>
          <p:nvPr/>
        </p:nvSpPr>
        <p:spPr>
          <a:xfrm>
            <a:off x="6569964" y="4916698"/>
            <a:ext cx="4869180" cy="279948"/>
          </a:xfrm>
          <a:prstGeom prst="rect">
            <a:avLst/>
          </a:prstGeom>
          <a:noFill/>
        </p:spPr>
        <p:txBody>
          <a:bodyPr wrap="square" lIns="0" tIns="0" rIns="0" bIns="0">
            <a:spAutoFit/>
          </a:bodyPr>
          <a:lstStyle/>
          <a:p>
            <a:pPr>
              <a:lnSpc>
                <a:spcPct val="105000"/>
              </a:lnSpc>
            </a:pPr>
            <a:r>
              <a:rPr lang="en-US" sz="890" b="1" dirty="0">
                <a:solidFill>
                  <a:srgbClr val="0F1129"/>
                </a:solidFill>
                <a:latin typeface="Montserrat"/>
              </a:rPr>
              <a:t>Age-friendly user testing (60+) – </a:t>
            </a:r>
            <a:r>
              <a:rPr lang="en-US" sz="890" dirty="0">
                <a:solidFill>
                  <a:srgbClr val="0F1129"/>
                </a:solidFill>
                <a:latin typeface="Montserrat"/>
              </a:rPr>
              <a:t>applying WHO’s age-friendly principles to test and redesign features based on feedback from users aged 60 and above.</a:t>
            </a:r>
            <a:r>
              <a:rPr sz="790" dirty="0">
                <a:solidFill>
                  <a:srgbClr val="E4202E"/>
                </a:solidFill>
                <a:latin typeface="Montserrat"/>
              </a:rPr>
              <a:t>   </a:t>
            </a:r>
            <a:r>
              <a:rPr sz="790" b="1" dirty="0">
                <a:solidFill>
                  <a:srgbClr val="E4202E"/>
                </a:solidFill>
                <a:latin typeface="Montserrat"/>
              </a:rPr>
              <a:t>HR link: Issue 3</a:t>
            </a:r>
          </a:p>
        </p:txBody>
      </p:sp>
      <p:cxnSp>
        <p:nvCxnSpPr>
          <p:cNvPr id="63" name="Connector 62"/>
          <p:cNvCxnSpPr/>
          <p:nvPr/>
        </p:nvCxnSpPr>
        <p:spPr>
          <a:xfrm>
            <a:off x="6387084" y="5298376"/>
            <a:ext cx="5052060" cy="0"/>
          </a:xfrm>
          <a:prstGeom prst="line">
            <a:avLst/>
          </a:prstGeom>
          <a:ln w="6350">
            <a:solidFill>
              <a:srgbClr val="E7E9F2"/>
            </a:solidFill>
          </a:ln>
        </p:spPr>
      </p:cxnSp>
      <p:sp>
        <p:nvSpPr>
          <p:cNvPr id="64" name="Oval 63"/>
          <p:cNvSpPr/>
          <p:nvPr/>
        </p:nvSpPr>
        <p:spPr>
          <a:xfrm>
            <a:off x="6387084" y="5426392"/>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65" name="TextBox 64"/>
          <p:cNvSpPr txBox="1"/>
          <p:nvPr/>
        </p:nvSpPr>
        <p:spPr>
          <a:xfrm>
            <a:off x="6569964" y="5362384"/>
            <a:ext cx="4869180" cy="274320"/>
          </a:xfrm>
          <a:prstGeom prst="rect">
            <a:avLst/>
          </a:prstGeom>
          <a:noFill/>
        </p:spPr>
        <p:txBody>
          <a:bodyPr wrap="square" lIns="0" tIns="0" rIns="0" bIns="0">
            <a:spAutoFit/>
          </a:bodyPr>
          <a:lstStyle/>
          <a:p>
            <a:pPr>
              <a:lnSpc>
                <a:spcPct val="105000"/>
              </a:lnSpc>
            </a:pPr>
            <a:r>
              <a:rPr sz="890" b="1" dirty="0">
                <a:solidFill>
                  <a:srgbClr val="0F1129"/>
                </a:solidFill>
                <a:latin typeface="Montserrat"/>
              </a:rPr>
              <a:t>Women Leaders Summit 2025</a:t>
            </a:r>
            <a:r>
              <a:rPr sz="850" dirty="0">
                <a:solidFill>
                  <a:srgbClr val="2A2C45"/>
                </a:solidFill>
                <a:latin typeface="Montserrat"/>
              </a:rPr>
              <a:t> – sponsor of the first national women’s summit</a:t>
            </a:r>
          </a:p>
        </p:txBody>
      </p:sp>
      <p:cxnSp>
        <p:nvCxnSpPr>
          <p:cNvPr id="66" name="Connector 65"/>
          <p:cNvCxnSpPr/>
          <p:nvPr/>
        </p:nvCxnSpPr>
        <p:spPr>
          <a:xfrm>
            <a:off x="6387084" y="5591891"/>
            <a:ext cx="5052060" cy="0"/>
          </a:xfrm>
          <a:prstGeom prst="line">
            <a:avLst/>
          </a:prstGeom>
          <a:ln w="6350">
            <a:solidFill>
              <a:srgbClr val="E7E9F2"/>
            </a:solidFill>
          </a:ln>
        </p:spPr>
      </p:cxnSp>
      <p:sp>
        <p:nvSpPr>
          <p:cNvPr id="67" name="Oval 66"/>
          <p:cNvSpPr/>
          <p:nvPr/>
        </p:nvSpPr>
        <p:spPr>
          <a:xfrm>
            <a:off x="6387084" y="5719907"/>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68" name="TextBox 67"/>
          <p:cNvSpPr txBox="1"/>
          <p:nvPr/>
        </p:nvSpPr>
        <p:spPr>
          <a:xfrm>
            <a:off x="6569964" y="5655899"/>
            <a:ext cx="4869180" cy="274320"/>
          </a:xfrm>
          <a:prstGeom prst="rect">
            <a:avLst/>
          </a:prstGeom>
          <a:noFill/>
        </p:spPr>
        <p:txBody>
          <a:bodyPr wrap="square" lIns="0" tIns="0" rIns="0" bIns="0">
            <a:spAutoFit/>
          </a:bodyPr>
          <a:lstStyle/>
          <a:p>
            <a:pPr>
              <a:lnSpc>
                <a:spcPct val="105000"/>
              </a:lnSpc>
            </a:pPr>
            <a:r>
              <a:rPr sz="890" b="1" dirty="0">
                <a:solidFill>
                  <a:srgbClr val="0F1129"/>
                </a:solidFill>
                <a:latin typeface="Montserrat"/>
              </a:rPr>
              <a:t>“Entrepreneurs Day”, Ganja</a:t>
            </a:r>
            <a:r>
              <a:rPr sz="850" dirty="0">
                <a:solidFill>
                  <a:srgbClr val="2A2C45"/>
                </a:solidFill>
                <a:latin typeface="Montserrat"/>
              </a:rPr>
              <a:t> – free sales opportunity for regional entrepreneurs</a:t>
            </a:r>
          </a:p>
        </p:txBody>
      </p:sp>
      <p:cxnSp>
        <p:nvCxnSpPr>
          <p:cNvPr id="69" name="Connector 68"/>
          <p:cNvCxnSpPr/>
          <p:nvPr/>
        </p:nvCxnSpPr>
        <p:spPr>
          <a:xfrm>
            <a:off x="6387084" y="5894724"/>
            <a:ext cx="5052060" cy="0"/>
          </a:xfrm>
          <a:prstGeom prst="line">
            <a:avLst/>
          </a:prstGeom>
          <a:ln w="6350">
            <a:solidFill>
              <a:srgbClr val="E7E9F2"/>
            </a:solidFill>
          </a:ln>
        </p:spPr>
      </p:cxnSp>
      <p:sp>
        <p:nvSpPr>
          <p:cNvPr id="70" name="Oval 69"/>
          <p:cNvSpPr/>
          <p:nvPr/>
        </p:nvSpPr>
        <p:spPr>
          <a:xfrm>
            <a:off x="6387084" y="6022740"/>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71" name="TextBox 70"/>
          <p:cNvSpPr txBox="1"/>
          <p:nvPr/>
        </p:nvSpPr>
        <p:spPr>
          <a:xfrm>
            <a:off x="6569964" y="5958732"/>
            <a:ext cx="4869180" cy="274320"/>
          </a:xfrm>
          <a:prstGeom prst="rect">
            <a:avLst/>
          </a:prstGeom>
          <a:noFill/>
        </p:spPr>
        <p:txBody>
          <a:bodyPr wrap="square" lIns="0" tIns="0" rIns="0" bIns="0">
            <a:spAutoFit/>
          </a:bodyPr>
          <a:lstStyle/>
          <a:p>
            <a:pPr>
              <a:lnSpc>
                <a:spcPct val="105000"/>
              </a:lnSpc>
            </a:pPr>
            <a:r>
              <a:rPr sz="890" b="1" dirty="0">
                <a:solidFill>
                  <a:srgbClr val="0F1129"/>
                </a:solidFill>
                <a:latin typeface="Montserrat"/>
              </a:rPr>
              <a:t>“All bodies speak”</a:t>
            </a:r>
            <a:r>
              <a:rPr sz="850" dirty="0">
                <a:solidFill>
                  <a:srgbClr val="2A2C45"/>
                </a:solidFill>
                <a:latin typeface="Montserrat"/>
              </a:rPr>
              <a:t> </a:t>
            </a:r>
            <a:r>
              <a:rPr lang="en-US" sz="850" dirty="0">
                <a:solidFill>
                  <a:srgbClr val="2A2C45"/>
                </a:solidFill>
                <a:latin typeface="Montserrat"/>
              </a:rPr>
              <a:t>d</a:t>
            </a:r>
            <a:r>
              <a:rPr sz="850" dirty="0">
                <a:solidFill>
                  <a:srgbClr val="2A2C45"/>
                </a:solidFill>
                <a:latin typeface="Montserrat"/>
              </a:rPr>
              <a:t>ance</a:t>
            </a:r>
            <a:r>
              <a:rPr lang="en-US" sz="850" dirty="0">
                <a:solidFill>
                  <a:srgbClr val="2A2C45"/>
                </a:solidFill>
                <a:latin typeface="Montserrat"/>
              </a:rPr>
              <a:t>a</a:t>
            </a:r>
            <a:r>
              <a:rPr sz="850" dirty="0">
                <a:solidFill>
                  <a:srgbClr val="2A2C45"/>
                </a:solidFill>
                <a:latin typeface="Montserrat"/>
              </a:rPr>
              <a:t>bility </a:t>
            </a:r>
            <a:r>
              <a:rPr sz="850" dirty="0" err="1">
                <a:solidFill>
                  <a:srgbClr val="2A2C45"/>
                </a:solidFill>
                <a:latin typeface="Montserrat"/>
              </a:rPr>
              <a:t>programme</a:t>
            </a:r>
            <a:r>
              <a:rPr lang="en-US" sz="850" dirty="0">
                <a:solidFill>
                  <a:srgbClr val="2A2C45"/>
                </a:solidFill>
                <a:latin typeface="Montserrat"/>
              </a:rPr>
              <a:t> - covered</a:t>
            </a:r>
            <a:r>
              <a:rPr sz="850" dirty="0">
                <a:solidFill>
                  <a:srgbClr val="2A2C45"/>
                </a:solidFill>
                <a:latin typeface="Montserrat"/>
              </a:rPr>
              <a:t> 396 persons with disabilities and 191 without</a:t>
            </a:r>
            <a:r>
              <a:rPr sz="790" b="1" dirty="0">
                <a:solidFill>
                  <a:srgbClr val="E4202E"/>
                </a:solidFill>
                <a:latin typeface="Montserrat"/>
              </a:rPr>
              <a:t>   HR link: Issue 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a:t>
            </a:r>
            <a:r>
              <a:rPr lang="en-US"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6</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BHR journey self-assessment insights (3/4)</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1975104"/>
            <a:ext cx="6720840" cy="4315968"/>
          </a:xfrm>
          <a:prstGeom prst="roundRect">
            <a:avLst>
              <a:gd name="adj" fmla="val 2118"/>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2" name="Rounded Rectangle 11"/>
          <p:cNvSpPr/>
          <p:nvPr/>
        </p:nvSpPr>
        <p:spPr>
          <a:xfrm>
            <a:off x="749808" y="2157984"/>
            <a:ext cx="384048" cy="384048"/>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13" name="Picture 12" descr="LuHandHeart.png"/>
          <p:cNvPicPr>
            <a:picLocks noChangeAspect="1"/>
          </p:cNvPicPr>
          <p:nvPr/>
        </p:nvPicPr>
        <p:blipFill>
          <a:blip r:embed="rId3"/>
          <a:stretch>
            <a:fillRect/>
          </a:stretch>
        </p:blipFill>
        <p:spPr>
          <a:xfrm>
            <a:off x="834298" y="2242474"/>
            <a:ext cx="215066" cy="215066"/>
          </a:xfrm>
          <a:prstGeom prst="rect">
            <a:avLst/>
          </a:prstGeom>
        </p:spPr>
      </p:pic>
      <p:sp>
        <p:nvSpPr>
          <p:cNvPr id="14" name="TextBox 13"/>
          <p:cNvSpPr txBox="1"/>
          <p:nvPr/>
        </p:nvSpPr>
        <p:spPr>
          <a:xfrm>
            <a:off x="1243584" y="2139696"/>
            <a:ext cx="5303520" cy="420624"/>
          </a:xfrm>
          <a:prstGeom prst="rect">
            <a:avLst/>
          </a:prstGeom>
          <a:noFill/>
        </p:spPr>
        <p:txBody>
          <a:bodyPr wrap="square" lIns="0" tIns="0" rIns="0" bIns="0" anchor="ctr">
            <a:spAutoFit/>
          </a:bodyPr>
          <a:lstStyle/>
          <a:p>
            <a:pPr>
              <a:lnSpc>
                <a:spcPct val="100000"/>
              </a:lnSpc>
              <a:spcAft>
                <a:spcPts val="300"/>
              </a:spcAft>
            </a:pPr>
            <a:r>
              <a:rPr sz="1100" b="1" i="0">
                <a:solidFill>
                  <a:srgbClr val="0F1129"/>
                </a:solidFill>
                <a:latin typeface="Montserrat"/>
              </a:rPr>
              <a:t>4. Community wellbeing &amp; social solidarity</a:t>
            </a:r>
          </a:p>
        </p:txBody>
      </p:sp>
      <p:sp>
        <p:nvSpPr>
          <p:cNvPr id="15" name="Rounded Rectangle 14"/>
          <p:cNvSpPr/>
          <p:nvPr/>
        </p:nvSpPr>
        <p:spPr>
          <a:xfrm>
            <a:off x="6583679" y="2231136"/>
            <a:ext cx="502920" cy="237744"/>
          </a:xfrm>
          <a:prstGeom prst="roundRect">
            <a:avLst>
              <a:gd name="adj" fmla="val 50000"/>
            </a:avLst>
          </a:prstGeom>
          <a:solidFill>
            <a:srgbClr val="FFF1E7"/>
          </a:solidFill>
          <a:ln>
            <a:noFill/>
          </a:ln>
          <a:effectLst/>
        </p:spPr>
        <p:txBody>
          <a:bodyPr rtlCol="0" anchor="ctr"/>
          <a:lstStyle/>
          <a:p>
            <a:pPr algn="ctr"/>
            <a:endParaRPr/>
          </a:p>
        </p:txBody>
      </p:sp>
      <p:sp>
        <p:nvSpPr>
          <p:cNvPr id="16" name="TextBox 15"/>
          <p:cNvSpPr txBox="1"/>
          <p:nvPr/>
        </p:nvSpPr>
        <p:spPr>
          <a:xfrm>
            <a:off x="6583679" y="2231136"/>
            <a:ext cx="502920" cy="237744"/>
          </a:xfrm>
          <a:prstGeom prst="rect">
            <a:avLst/>
          </a:prstGeom>
          <a:noFill/>
        </p:spPr>
        <p:txBody>
          <a:bodyPr wrap="square" lIns="0" tIns="0" rIns="0" bIns="0" anchor="ctr">
            <a:spAutoFit/>
          </a:bodyPr>
          <a:lstStyle/>
          <a:p>
            <a:pPr algn="ctr">
              <a:lnSpc>
                <a:spcPct val="108000"/>
              </a:lnSpc>
              <a:spcAft>
                <a:spcPts val="300"/>
              </a:spcAft>
            </a:pPr>
            <a:r>
              <a:rPr sz="850" b="1" i="0">
                <a:solidFill>
                  <a:srgbClr val="E8590C"/>
                </a:solidFill>
                <a:latin typeface="Montserrat"/>
              </a:rPr>
              <a:t>S</a:t>
            </a:r>
          </a:p>
        </p:txBody>
      </p:sp>
      <p:sp>
        <p:nvSpPr>
          <p:cNvPr id="17" name="Oval 16"/>
          <p:cNvSpPr/>
          <p:nvPr/>
        </p:nvSpPr>
        <p:spPr>
          <a:xfrm>
            <a:off x="749808" y="2715768"/>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18" name="TextBox 17"/>
          <p:cNvSpPr txBox="1"/>
          <p:nvPr/>
        </p:nvSpPr>
        <p:spPr>
          <a:xfrm>
            <a:off x="932688" y="2651760"/>
            <a:ext cx="2884932" cy="274320"/>
          </a:xfrm>
          <a:prstGeom prst="rect">
            <a:avLst/>
          </a:prstGeom>
          <a:noFill/>
        </p:spPr>
        <p:txBody>
          <a:bodyPr wrap="square" lIns="0" tIns="0" rIns="0" bIns="0">
            <a:spAutoFit/>
          </a:bodyPr>
          <a:lstStyle/>
          <a:p>
            <a:pPr>
              <a:lnSpc>
                <a:spcPct val="105000"/>
              </a:lnSpc>
            </a:pPr>
            <a:r>
              <a:rPr sz="940" b="1">
                <a:solidFill>
                  <a:srgbClr val="0F1129"/>
                </a:solidFill>
                <a:latin typeface="Montserrat"/>
              </a:rPr>
              <a:t>YAŞA centres</a:t>
            </a:r>
            <a:r>
              <a:rPr sz="900">
                <a:solidFill>
                  <a:srgbClr val="2A2C45"/>
                </a:solidFill>
                <a:latin typeface="Montserrat"/>
              </a:rPr>
              <a:t> – 45,000+ pensioners since 2017; 434 sessions in 2025–26, 53 on digital &amp; financial literacy; mentoring on finance, law and information security</a:t>
            </a:r>
            <a:r>
              <a:rPr sz="840" b="1">
                <a:solidFill>
                  <a:srgbClr val="E4202E"/>
                </a:solidFill>
                <a:latin typeface="Montserrat"/>
              </a:rPr>
              <a:t>   HR link: Issues 1–2</a:t>
            </a:r>
          </a:p>
        </p:txBody>
      </p:sp>
      <p:cxnSp>
        <p:nvCxnSpPr>
          <p:cNvPr id="19" name="Connector 18"/>
          <p:cNvCxnSpPr/>
          <p:nvPr/>
        </p:nvCxnSpPr>
        <p:spPr>
          <a:xfrm>
            <a:off x="749808" y="3522823"/>
            <a:ext cx="3067812" cy="0"/>
          </a:xfrm>
          <a:prstGeom prst="line">
            <a:avLst/>
          </a:prstGeom>
          <a:ln w="6350">
            <a:solidFill>
              <a:srgbClr val="E7E9F2"/>
            </a:solidFill>
          </a:ln>
        </p:spPr>
      </p:cxnSp>
      <p:sp>
        <p:nvSpPr>
          <p:cNvPr id="20" name="Oval 19"/>
          <p:cNvSpPr/>
          <p:nvPr/>
        </p:nvSpPr>
        <p:spPr>
          <a:xfrm>
            <a:off x="749808" y="3650839"/>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21" name="TextBox 20"/>
          <p:cNvSpPr txBox="1"/>
          <p:nvPr/>
        </p:nvSpPr>
        <p:spPr>
          <a:xfrm>
            <a:off x="932688" y="3586831"/>
            <a:ext cx="2884932" cy="274320"/>
          </a:xfrm>
          <a:prstGeom prst="rect">
            <a:avLst/>
          </a:prstGeom>
          <a:noFill/>
        </p:spPr>
        <p:txBody>
          <a:bodyPr wrap="square" lIns="0" tIns="0" rIns="0" bIns="0">
            <a:spAutoFit/>
          </a:bodyPr>
          <a:lstStyle/>
          <a:p>
            <a:pPr>
              <a:lnSpc>
                <a:spcPct val="105000"/>
              </a:lnSpc>
            </a:pPr>
            <a:r>
              <a:rPr sz="940" b="1" dirty="0">
                <a:solidFill>
                  <a:srgbClr val="0F1129"/>
                </a:solidFill>
                <a:latin typeface="Montserrat"/>
              </a:rPr>
              <a:t>“</a:t>
            </a:r>
            <a:r>
              <a:rPr sz="940" b="1" dirty="0" err="1">
                <a:solidFill>
                  <a:srgbClr val="0F1129"/>
                </a:solidFill>
                <a:latin typeface="Montserrat"/>
              </a:rPr>
              <a:t>Yaşa</a:t>
            </a:r>
            <a:r>
              <a:rPr sz="940" b="1" dirty="0">
                <a:solidFill>
                  <a:srgbClr val="0F1129"/>
                </a:solidFill>
                <a:latin typeface="Montserrat"/>
              </a:rPr>
              <a:t> </a:t>
            </a:r>
            <a:r>
              <a:rPr sz="940" b="1" dirty="0" err="1">
                <a:solidFill>
                  <a:srgbClr val="0F1129"/>
                </a:solidFill>
                <a:latin typeface="Montserrat"/>
              </a:rPr>
              <a:t>dolduqca</a:t>
            </a:r>
            <a:r>
              <a:rPr sz="940" b="1" dirty="0">
                <a:solidFill>
                  <a:srgbClr val="0F1129"/>
                </a:solidFill>
                <a:latin typeface="Montserrat"/>
              </a:rPr>
              <a:t>, </a:t>
            </a:r>
            <a:r>
              <a:rPr sz="940" b="1" dirty="0" err="1">
                <a:solidFill>
                  <a:srgbClr val="0F1129"/>
                </a:solidFill>
                <a:latin typeface="Montserrat"/>
              </a:rPr>
              <a:t>yaşa</a:t>
            </a:r>
            <a:r>
              <a:rPr sz="940" b="1" dirty="0">
                <a:solidFill>
                  <a:srgbClr val="0F1129"/>
                </a:solidFill>
                <a:latin typeface="Montserrat"/>
              </a:rPr>
              <a:t>!”</a:t>
            </a:r>
            <a:r>
              <a:rPr sz="900" dirty="0">
                <a:solidFill>
                  <a:srgbClr val="2A2C45"/>
                </a:solidFill>
                <a:latin typeface="Montserrat"/>
              </a:rPr>
              <a:t> – with TƏBİB and DSMF: free checks for 500+ elderly residents by 16 doctors in Quba, </a:t>
            </a:r>
            <a:r>
              <a:rPr sz="900" dirty="0" err="1">
                <a:solidFill>
                  <a:srgbClr val="2A2C45"/>
                </a:solidFill>
                <a:latin typeface="Montserrat"/>
              </a:rPr>
              <a:t>Qusar</a:t>
            </a:r>
            <a:r>
              <a:rPr sz="900" dirty="0">
                <a:solidFill>
                  <a:srgbClr val="2A2C45"/>
                </a:solidFill>
                <a:latin typeface="Montserrat"/>
              </a:rPr>
              <a:t>, </a:t>
            </a:r>
            <a:r>
              <a:rPr sz="900" dirty="0" err="1">
                <a:solidFill>
                  <a:srgbClr val="2A2C45"/>
                </a:solidFill>
                <a:latin typeface="Montserrat"/>
              </a:rPr>
              <a:t>Khachmaz</a:t>
            </a:r>
            <a:endParaRPr sz="900" dirty="0">
              <a:solidFill>
                <a:srgbClr val="2A2C45"/>
              </a:solidFill>
              <a:latin typeface="Montserrat"/>
            </a:endParaRPr>
          </a:p>
        </p:txBody>
      </p:sp>
      <p:cxnSp>
        <p:nvCxnSpPr>
          <p:cNvPr id="22" name="Connector 21"/>
          <p:cNvCxnSpPr/>
          <p:nvPr/>
        </p:nvCxnSpPr>
        <p:spPr>
          <a:xfrm>
            <a:off x="749808" y="4313025"/>
            <a:ext cx="3067812" cy="0"/>
          </a:xfrm>
          <a:prstGeom prst="line">
            <a:avLst/>
          </a:prstGeom>
          <a:ln w="6350">
            <a:solidFill>
              <a:srgbClr val="E7E9F2"/>
            </a:solidFill>
          </a:ln>
        </p:spPr>
      </p:cxnSp>
      <p:sp>
        <p:nvSpPr>
          <p:cNvPr id="23" name="Oval 22"/>
          <p:cNvSpPr/>
          <p:nvPr/>
        </p:nvSpPr>
        <p:spPr>
          <a:xfrm>
            <a:off x="749808" y="4441041"/>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24" name="TextBox 23"/>
          <p:cNvSpPr txBox="1"/>
          <p:nvPr/>
        </p:nvSpPr>
        <p:spPr>
          <a:xfrm>
            <a:off x="932688" y="4377033"/>
            <a:ext cx="2884932" cy="274320"/>
          </a:xfrm>
          <a:prstGeom prst="rect">
            <a:avLst/>
          </a:prstGeom>
          <a:noFill/>
        </p:spPr>
        <p:txBody>
          <a:bodyPr wrap="square" lIns="0" tIns="0" rIns="0" bIns="0">
            <a:spAutoFit/>
          </a:bodyPr>
          <a:lstStyle/>
          <a:p>
            <a:pPr>
              <a:lnSpc>
                <a:spcPct val="105000"/>
              </a:lnSpc>
            </a:pPr>
            <a:r>
              <a:rPr sz="940" b="1" dirty="0">
                <a:solidFill>
                  <a:srgbClr val="0F1129"/>
                </a:solidFill>
                <a:latin typeface="Montserrat"/>
              </a:rPr>
              <a:t>Water wells</a:t>
            </a:r>
            <a:r>
              <a:rPr sz="900" dirty="0">
                <a:solidFill>
                  <a:srgbClr val="2A2C45"/>
                </a:solidFill>
                <a:latin typeface="Montserrat"/>
              </a:rPr>
              <a:t> – clean water for 2,874 people in 3 villages</a:t>
            </a:r>
          </a:p>
        </p:txBody>
      </p:sp>
      <p:cxnSp>
        <p:nvCxnSpPr>
          <p:cNvPr id="25" name="Connector 24"/>
          <p:cNvCxnSpPr/>
          <p:nvPr/>
        </p:nvCxnSpPr>
        <p:spPr>
          <a:xfrm>
            <a:off x="749808" y="4882629"/>
            <a:ext cx="3067812" cy="0"/>
          </a:xfrm>
          <a:prstGeom prst="line">
            <a:avLst/>
          </a:prstGeom>
          <a:ln w="6350">
            <a:solidFill>
              <a:srgbClr val="E7E9F2"/>
            </a:solidFill>
          </a:ln>
        </p:spPr>
      </p:cxnSp>
      <p:sp>
        <p:nvSpPr>
          <p:cNvPr id="26" name="Oval 25"/>
          <p:cNvSpPr/>
          <p:nvPr/>
        </p:nvSpPr>
        <p:spPr>
          <a:xfrm>
            <a:off x="749808" y="5010645"/>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27" name="TextBox 26"/>
          <p:cNvSpPr txBox="1"/>
          <p:nvPr/>
        </p:nvSpPr>
        <p:spPr>
          <a:xfrm>
            <a:off x="932688" y="4946637"/>
            <a:ext cx="2884932" cy="274320"/>
          </a:xfrm>
          <a:prstGeom prst="rect">
            <a:avLst/>
          </a:prstGeom>
          <a:noFill/>
        </p:spPr>
        <p:txBody>
          <a:bodyPr wrap="square" lIns="0" tIns="0" rIns="0" bIns="0">
            <a:spAutoFit/>
          </a:bodyPr>
          <a:lstStyle/>
          <a:p>
            <a:pPr>
              <a:lnSpc>
                <a:spcPct val="105000"/>
              </a:lnSpc>
            </a:pPr>
            <a:r>
              <a:rPr sz="940" b="1" dirty="0">
                <a:solidFill>
                  <a:srgbClr val="0F1129"/>
                </a:solidFill>
                <a:latin typeface="Montserrat"/>
              </a:rPr>
              <a:t>Food aid</a:t>
            </a:r>
            <a:r>
              <a:rPr sz="900" dirty="0">
                <a:solidFill>
                  <a:srgbClr val="2A2C45"/>
                </a:solidFill>
                <a:latin typeface="Montserrat"/>
              </a:rPr>
              <a:t> – 6 campaigns, 1,237 families; 25 families in permanent care</a:t>
            </a:r>
          </a:p>
        </p:txBody>
      </p:sp>
      <p:cxnSp>
        <p:nvCxnSpPr>
          <p:cNvPr id="28" name="Connector 27"/>
          <p:cNvCxnSpPr/>
          <p:nvPr/>
        </p:nvCxnSpPr>
        <p:spPr>
          <a:xfrm>
            <a:off x="749808" y="5495035"/>
            <a:ext cx="3067812" cy="0"/>
          </a:xfrm>
          <a:prstGeom prst="line">
            <a:avLst/>
          </a:prstGeom>
          <a:ln w="6350">
            <a:solidFill>
              <a:srgbClr val="E7E9F2"/>
            </a:solidFill>
          </a:ln>
        </p:spPr>
      </p:cxnSp>
      <p:sp>
        <p:nvSpPr>
          <p:cNvPr id="29" name="Oval 28"/>
          <p:cNvSpPr/>
          <p:nvPr/>
        </p:nvSpPr>
        <p:spPr>
          <a:xfrm>
            <a:off x="749808" y="5623051"/>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0" name="TextBox 29"/>
          <p:cNvSpPr txBox="1"/>
          <p:nvPr/>
        </p:nvSpPr>
        <p:spPr>
          <a:xfrm>
            <a:off x="932688" y="5559043"/>
            <a:ext cx="2884932" cy="274320"/>
          </a:xfrm>
          <a:prstGeom prst="rect">
            <a:avLst/>
          </a:prstGeom>
          <a:noFill/>
        </p:spPr>
        <p:txBody>
          <a:bodyPr wrap="square" lIns="0" tIns="0" rIns="0" bIns="0">
            <a:spAutoFit/>
          </a:bodyPr>
          <a:lstStyle/>
          <a:p>
            <a:pPr>
              <a:lnSpc>
                <a:spcPct val="105000"/>
              </a:lnSpc>
            </a:pPr>
            <a:r>
              <a:rPr sz="940" b="1" dirty="0">
                <a:solidFill>
                  <a:srgbClr val="0F1129"/>
                </a:solidFill>
                <a:latin typeface="Montserrat"/>
              </a:rPr>
              <a:t>“They are entrusted to us”</a:t>
            </a:r>
            <a:r>
              <a:rPr sz="900" dirty="0">
                <a:solidFill>
                  <a:srgbClr val="2A2C45"/>
                </a:solidFill>
                <a:latin typeface="Montserrat"/>
              </a:rPr>
              <a:t> – New-year gifts to 1,800 martyrs’ children in 78 cities and districts</a:t>
            </a:r>
          </a:p>
        </p:txBody>
      </p:sp>
      <p:sp>
        <p:nvSpPr>
          <p:cNvPr id="31" name="Oval 30"/>
          <p:cNvSpPr/>
          <p:nvPr/>
        </p:nvSpPr>
        <p:spPr>
          <a:xfrm>
            <a:off x="4000500" y="2715768"/>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2" name="TextBox 31"/>
          <p:cNvSpPr txBox="1"/>
          <p:nvPr/>
        </p:nvSpPr>
        <p:spPr>
          <a:xfrm>
            <a:off x="4183380" y="2651760"/>
            <a:ext cx="2884932" cy="274320"/>
          </a:xfrm>
          <a:prstGeom prst="rect">
            <a:avLst/>
          </a:prstGeom>
          <a:noFill/>
        </p:spPr>
        <p:txBody>
          <a:bodyPr wrap="square" lIns="0" tIns="0" rIns="0" bIns="0">
            <a:spAutoFit/>
          </a:bodyPr>
          <a:lstStyle/>
          <a:p>
            <a:pPr>
              <a:lnSpc>
                <a:spcPct val="105000"/>
              </a:lnSpc>
            </a:pPr>
            <a:r>
              <a:rPr sz="940" b="1">
                <a:solidFill>
                  <a:srgbClr val="0F1129"/>
                </a:solidFill>
                <a:latin typeface="Montserrat"/>
              </a:rPr>
              <a:t>“Heroes who write history”</a:t>
            </a:r>
            <a:r>
              <a:rPr sz="900">
                <a:solidFill>
                  <a:srgbClr val="2A2C45"/>
                </a:solidFill>
                <a:latin typeface="Montserrat"/>
              </a:rPr>
              <a:t> – homes for 2 martyrs’ families; 3 veterans’ homes repaired</a:t>
            </a:r>
          </a:p>
        </p:txBody>
      </p:sp>
      <p:cxnSp>
        <p:nvCxnSpPr>
          <p:cNvPr id="33" name="Connector 32"/>
          <p:cNvCxnSpPr/>
          <p:nvPr/>
        </p:nvCxnSpPr>
        <p:spPr>
          <a:xfrm>
            <a:off x="4000500" y="3479736"/>
            <a:ext cx="3067812" cy="0"/>
          </a:xfrm>
          <a:prstGeom prst="line">
            <a:avLst/>
          </a:prstGeom>
          <a:ln w="6350">
            <a:solidFill>
              <a:srgbClr val="E7E9F2"/>
            </a:solidFill>
          </a:ln>
        </p:spPr>
      </p:cxnSp>
      <p:sp>
        <p:nvSpPr>
          <p:cNvPr id="34" name="Oval 33"/>
          <p:cNvSpPr/>
          <p:nvPr/>
        </p:nvSpPr>
        <p:spPr>
          <a:xfrm>
            <a:off x="4000500" y="3607752"/>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5" name="TextBox 34"/>
          <p:cNvSpPr txBox="1"/>
          <p:nvPr/>
        </p:nvSpPr>
        <p:spPr>
          <a:xfrm>
            <a:off x="4183380" y="3543744"/>
            <a:ext cx="2884932" cy="274320"/>
          </a:xfrm>
          <a:prstGeom prst="rect">
            <a:avLst/>
          </a:prstGeom>
          <a:noFill/>
        </p:spPr>
        <p:txBody>
          <a:bodyPr wrap="square" lIns="0" tIns="0" rIns="0" bIns="0">
            <a:spAutoFit/>
          </a:bodyPr>
          <a:lstStyle/>
          <a:p>
            <a:pPr>
              <a:lnSpc>
                <a:spcPct val="105000"/>
              </a:lnSpc>
            </a:pPr>
            <a:r>
              <a:rPr sz="940" b="1">
                <a:solidFill>
                  <a:srgbClr val="0F1129"/>
                </a:solidFill>
                <a:latin typeface="Montserrat"/>
              </a:rPr>
              <a:t>“Everything is possible”</a:t>
            </a:r>
            <a:r>
              <a:rPr sz="900">
                <a:solidFill>
                  <a:srgbClr val="2A2C45"/>
                </a:solidFill>
                <a:latin typeface="Montserrat"/>
              </a:rPr>
              <a:t> – dance session for 19 children with Down syndrome and 25 parents</a:t>
            </a:r>
          </a:p>
        </p:txBody>
      </p:sp>
      <p:cxnSp>
        <p:nvCxnSpPr>
          <p:cNvPr id="36" name="Connector 35"/>
          <p:cNvCxnSpPr/>
          <p:nvPr/>
        </p:nvCxnSpPr>
        <p:spPr>
          <a:xfrm>
            <a:off x="4000500" y="4389297"/>
            <a:ext cx="3067812" cy="0"/>
          </a:xfrm>
          <a:prstGeom prst="line">
            <a:avLst/>
          </a:prstGeom>
          <a:ln w="6350">
            <a:solidFill>
              <a:srgbClr val="E7E9F2"/>
            </a:solidFill>
          </a:ln>
        </p:spPr>
      </p:cxnSp>
      <p:sp>
        <p:nvSpPr>
          <p:cNvPr id="37" name="Oval 36"/>
          <p:cNvSpPr/>
          <p:nvPr/>
        </p:nvSpPr>
        <p:spPr>
          <a:xfrm>
            <a:off x="4000500" y="4517313"/>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8" name="TextBox 37"/>
          <p:cNvSpPr txBox="1"/>
          <p:nvPr/>
        </p:nvSpPr>
        <p:spPr>
          <a:xfrm>
            <a:off x="4183380" y="4453305"/>
            <a:ext cx="2884932" cy="274320"/>
          </a:xfrm>
          <a:prstGeom prst="rect">
            <a:avLst/>
          </a:prstGeom>
          <a:noFill/>
        </p:spPr>
        <p:txBody>
          <a:bodyPr wrap="square" lIns="0" tIns="0" rIns="0" bIns="0">
            <a:spAutoFit/>
          </a:bodyPr>
          <a:lstStyle/>
          <a:p>
            <a:pPr>
              <a:lnSpc>
                <a:spcPct val="105000"/>
              </a:lnSpc>
            </a:pPr>
            <a:r>
              <a:rPr sz="940" b="1">
                <a:solidFill>
                  <a:srgbClr val="0F1129"/>
                </a:solidFill>
                <a:latin typeface="Montserrat"/>
              </a:rPr>
              <a:t>Children &amp; families</a:t>
            </a:r>
            <a:r>
              <a:rPr sz="900">
                <a:solidFill>
                  <a:srgbClr val="2A2C45"/>
                </a:solidFill>
                <a:latin typeface="Montserrat"/>
              </a:rPr>
              <a:t> – Azerbaijan Children Union programme; support to martyrs’ families with ABA</a:t>
            </a:r>
          </a:p>
        </p:txBody>
      </p:sp>
      <p:cxnSp>
        <p:nvCxnSpPr>
          <p:cNvPr id="39" name="Connector 38"/>
          <p:cNvCxnSpPr/>
          <p:nvPr/>
        </p:nvCxnSpPr>
        <p:spPr>
          <a:xfrm>
            <a:off x="4000500" y="5325223"/>
            <a:ext cx="3067812" cy="0"/>
          </a:xfrm>
          <a:prstGeom prst="line">
            <a:avLst/>
          </a:prstGeom>
          <a:ln w="6350">
            <a:solidFill>
              <a:srgbClr val="E7E9F2"/>
            </a:solidFill>
          </a:ln>
        </p:spPr>
      </p:cxnSp>
      <p:sp>
        <p:nvSpPr>
          <p:cNvPr id="40" name="Oval 39"/>
          <p:cNvSpPr/>
          <p:nvPr/>
        </p:nvSpPr>
        <p:spPr>
          <a:xfrm>
            <a:off x="4000500" y="5453239"/>
            <a:ext cx="82296" cy="82296"/>
          </a:xfrm>
          <a:prstGeom prst="ellipse">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41" name="TextBox 40"/>
          <p:cNvSpPr txBox="1"/>
          <p:nvPr/>
        </p:nvSpPr>
        <p:spPr>
          <a:xfrm>
            <a:off x="4183380" y="5389231"/>
            <a:ext cx="2884932" cy="274320"/>
          </a:xfrm>
          <a:prstGeom prst="rect">
            <a:avLst/>
          </a:prstGeom>
          <a:noFill/>
        </p:spPr>
        <p:txBody>
          <a:bodyPr wrap="square" lIns="0" tIns="0" rIns="0" bIns="0">
            <a:spAutoFit/>
          </a:bodyPr>
          <a:lstStyle/>
          <a:p>
            <a:pPr>
              <a:lnSpc>
                <a:spcPct val="105000"/>
              </a:lnSpc>
            </a:pPr>
            <a:r>
              <a:rPr sz="940" b="1" dirty="0">
                <a:solidFill>
                  <a:srgbClr val="0F1129"/>
                </a:solidFill>
                <a:latin typeface="Montserrat"/>
              </a:rPr>
              <a:t>Sport &amp; awareness</a:t>
            </a:r>
            <a:r>
              <a:rPr sz="900" dirty="0">
                <a:solidFill>
                  <a:srgbClr val="2A2C45"/>
                </a:solidFill>
                <a:latin typeface="Montserrat"/>
              </a:rPr>
              <a:t> – </a:t>
            </a:r>
            <a:r>
              <a:rPr sz="900" dirty="0" err="1">
                <a:solidFill>
                  <a:srgbClr val="2A2C45"/>
                </a:solidFill>
                <a:latin typeface="Montserrat"/>
              </a:rPr>
              <a:t>Dirçəliş</a:t>
            </a:r>
            <a:r>
              <a:rPr sz="900" dirty="0">
                <a:solidFill>
                  <a:srgbClr val="2A2C45"/>
                </a:solidFill>
                <a:latin typeface="Montserrat"/>
              </a:rPr>
              <a:t> Cup, interbank mini-football, CSR awareness campaigns</a:t>
            </a:r>
          </a:p>
        </p:txBody>
      </p:sp>
      <p:cxnSp>
        <p:nvCxnSpPr>
          <p:cNvPr id="42" name="Connector 41"/>
          <p:cNvCxnSpPr/>
          <p:nvPr/>
        </p:nvCxnSpPr>
        <p:spPr>
          <a:xfrm>
            <a:off x="3909060" y="2697480"/>
            <a:ext cx="0" cy="3474720"/>
          </a:xfrm>
          <a:prstGeom prst="line">
            <a:avLst/>
          </a:prstGeom>
          <a:ln w="6350">
            <a:solidFill>
              <a:srgbClr val="E7E9F2"/>
            </a:solidFill>
          </a:ln>
        </p:spPr>
      </p:cxnSp>
      <p:sp>
        <p:nvSpPr>
          <p:cNvPr id="43" name="Rounded Rectangle 42"/>
          <p:cNvSpPr/>
          <p:nvPr/>
        </p:nvSpPr>
        <p:spPr>
          <a:xfrm>
            <a:off x="7452359" y="2011680"/>
            <a:ext cx="4187952" cy="2011680"/>
          </a:xfrm>
          <a:prstGeom prst="roundRect">
            <a:avLst>
              <a:gd name="adj" fmla="val 4545"/>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44" name="Rounded Rectangle 43"/>
          <p:cNvSpPr/>
          <p:nvPr/>
        </p:nvSpPr>
        <p:spPr>
          <a:xfrm>
            <a:off x="7653527" y="2157984"/>
            <a:ext cx="384048" cy="384048"/>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45" name="Picture 44" descr="LuLeaf.png"/>
          <p:cNvPicPr>
            <a:picLocks noChangeAspect="1"/>
          </p:cNvPicPr>
          <p:nvPr/>
        </p:nvPicPr>
        <p:blipFill>
          <a:blip r:embed="rId4"/>
          <a:stretch>
            <a:fillRect/>
          </a:stretch>
        </p:blipFill>
        <p:spPr>
          <a:xfrm>
            <a:off x="7738018" y="2242474"/>
            <a:ext cx="215066" cy="215066"/>
          </a:xfrm>
          <a:prstGeom prst="rect">
            <a:avLst/>
          </a:prstGeom>
        </p:spPr>
      </p:pic>
      <p:sp>
        <p:nvSpPr>
          <p:cNvPr id="46" name="TextBox 45"/>
          <p:cNvSpPr txBox="1"/>
          <p:nvPr/>
        </p:nvSpPr>
        <p:spPr>
          <a:xfrm>
            <a:off x="8147303" y="2139696"/>
            <a:ext cx="2770632" cy="420624"/>
          </a:xfrm>
          <a:prstGeom prst="rect">
            <a:avLst/>
          </a:prstGeom>
          <a:noFill/>
        </p:spPr>
        <p:txBody>
          <a:bodyPr wrap="square" lIns="0" tIns="0" rIns="0" bIns="0" anchor="ctr">
            <a:spAutoFit/>
          </a:bodyPr>
          <a:lstStyle/>
          <a:p>
            <a:pPr>
              <a:lnSpc>
                <a:spcPct val="100000"/>
              </a:lnSpc>
              <a:spcAft>
                <a:spcPts val="300"/>
              </a:spcAft>
            </a:pPr>
            <a:r>
              <a:rPr sz="1100" b="1" i="0" dirty="0">
                <a:solidFill>
                  <a:srgbClr val="0F1129"/>
                </a:solidFill>
                <a:latin typeface="Montserrat"/>
              </a:rPr>
              <a:t>5. Sustainable lifestyle &amp; responsible consumption</a:t>
            </a:r>
          </a:p>
        </p:txBody>
      </p:sp>
      <p:sp>
        <p:nvSpPr>
          <p:cNvPr id="47" name="Rounded Rectangle 46"/>
          <p:cNvSpPr/>
          <p:nvPr/>
        </p:nvSpPr>
        <p:spPr>
          <a:xfrm>
            <a:off x="10954512" y="2231136"/>
            <a:ext cx="502920" cy="237744"/>
          </a:xfrm>
          <a:prstGeom prst="roundRect">
            <a:avLst>
              <a:gd name="adj" fmla="val 50000"/>
            </a:avLst>
          </a:prstGeom>
          <a:solidFill>
            <a:srgbClr val="E3F5EA"/>
          </a:solidFill>
          <a:ln>
            <a:noFill/>
          </a:ln>
          <a:effectLst/>
        </p:spPr>
        <p:txBody>
          <a:bodyPr rtlCol="0" anchor="ctr"/>
          <a:lstStyle/>
          <a:p>
            <a:pPr algn="ctr"/>
            <a:endParaRPr/>
          </a:p>
        </p:txBody>
      </p:sp>
      <p:sp>
        <p:nvSpPr>
          <p:cNvPr id="48" name="TextBox 47"/>
          <p:cNvSpPr txBox="1"/>
          <p:nvPr/>
        </p:nvSpPr>
        <p:spPr>
          <a:xfrm>
            <a:off x="10954512" y="2231136"/>
            <a:ext cx="502920" cy="237744"/>
          </a:xfrm>
          <a:prstGeom prst="rect">
            <a:avLst/>
          </a:prstGeom>
          <a:noFill/>
        </p:spPr>
        <p:txBody>
          <a:bodyPr wrap="square" lIns="0" tIns="0" rIns="0" bIns="0" anchor="ctr">
            <a:spAutoFit/>
          </a:bodyPr>
          <a:lstStyle/>
          <a:p>
            <a:pPr algn="ctr">
              <a:lnSpc>
                <a:spcPct val="108000"/>
              </a:lnSpc>
              <a:spcAft>
                <a:spcPts val="300"/>
              </a:spcAft>
            </a:pPr>
            <a:r>
              <a:rPr sz="850" b="1" i="0">
                <a:solidFill>
                  <a:srgbClr val="15803D"/>
                </a:solidFill>
                <a:latin typeface="Montserrat"/>
              </a:rPr>
              <a:t>E</a:t>
            </a:r>
          </a:p>
        </p:txBody>
      </p:sp>
      <p:sp>
        <p:nvSpPr>
          <p:cNvPr id="49" name="Rounded Rectangle 48"/>
          <p:cNvSpPr/>
          <p:nvPr/>
        </p:nvSpPr>
        <p:spPr>
          <a:xfrm>
            <a:off x="7653527" y="2606040"/>
            <a:ext cx="1200912" cy="1298448"/>
          </a:xfrm>
          <a:prstGeom prst="roundRect">
            <a:avLst>
              <a:gd name="adj" fmla="val 10000"/>
            </a:avLst>
          </a:prstGeom>
          <a:solidFill>
            <a:srgbClr val="F2F3F8"/>
          </a:solidFill>
          <a:ln>
            <a:noFill/>
          </a:ln>
          <a:effectLst/>
        </p:spPr>
        <p:txBody>
          <a:bodyPr rtlCol="0" anchor="ctr"/>
          <a:lstStyle/>
          <a:p>
            <a:pPr algn="ctr"/>
            <a:endParaRPr/>
          </a:p>
        </p:txBody>
      </p:sp>
      <p:sp>
        <p:nvSpPr>
          <p:cNvPr id="50" name="TextBox 49"/>
          <p:cNvSpPr txBox="1"/>
          <p:nvPr/>
        </p:nvSpPr>
        <p:spPr>
          <a:xfrm>
            <a:off x="7744967" y="2670048"/>
            <a:ext cx="1018032" cy="310896"/>
          </a:xfrm>
          <a:prstGeom prst="rect">
            <a:avLst/>
          </a:prstGeom>
          <a:noFill/>
        </p:spPr>
        <p:txBody>
          <a:bodyPr wrap="square" lIns="0" tIns="0" rIns="0" bIns="0" anchor="t">
            <a:spAutoFit/>
          </a:bodyPr>
          <a:lstStyle/>
          <a:p>
            <a:pPr>
              <a:lnSpc>
                <a:spcPct val="108000"/>
              </a:lnSpc>
              <a:spcAft>
                <a:spcPts val="300"/>
              </a:spcAft>
            </a:pPr>
            <a:r>
              <a:rPr sz="1300" b="1" i="0">
                <a:solidFill>
                  <a:srgbClr val="E4202E"/>
                </a:solidFill>
                <a:latin typeface="Montserrat"/>
              </a:rPr>
              <a:t>2,365 kg</a:t>
            </a:r>
          </a:p>
        </p:txBody>
      </p:sp>
      <p:sp>
        <p:nvSpPr>
          <p:cNvPr id="51" name="TextBox 50"/>
          <p:cNvSpPr txBox="1"/>
          <p:nvPr/>
        </p:nvSpPr>
        <p:spPr>
          <a:xfrm>
            <a:off x="7744967" y="3017520"/>
            <a:ext cx="1018032" cy="868680"/>
          </a:xfrm>
          <a:prstGeom prst="rect">
            <a:avLst/>
          </a:prstGeom>
          <a:noFill/>
        </p:spPr>
        <p:txBody>
          <a:bodyPr wrap="square" lIns="0" tIns="0" rIns="0" bIns="0" anchor="t">
            <a:spAutoFit/>
          </a:bodyPr>
          <a:lstStyle/>
          <a:p>
            <a:pPr>
              <a:lnSpc>
                <a:spcPct val="103000"/>
              </a:lnSpc>
              <a:spcAft>
                <a:spcPts val="300"/>
              </a:spcAft>
            </a:pPr>
            <a:r>
              <a:rPr sz="760" b="0" i="0">
                <a:solidFill>
                  <a:srgbClr val="2A2C45"/>
                </a:solidFill>
                <a:latin typeface="Montserrat"/>
              </a:rPr>
              <a:t>“Zero Waste” marathon: hazardous waste from 20 cities and districts</a:t>
            </a:r>
          </a:p>
        </p:txBody>
      </p:sp>
      <p:sp>
        <p:nvSpPr>
          <p:cNvPr id="52" name="Rounded Rectangle 51"/>
          <p:cNvSpPr/>
          <p:nvPr/>
        </p:nvSpPr>
        <p:spPr>
          <a:xfrm>
            <a:off x="8945880" y="2606040"/>
            <a:ext cx="1200912" cy="1298448"/>
          </a:xfrm>
          <a:prstGeom prst="roundRect">
            <a:avLst>
              <a:gd name="adj" fmla="val 10000"/>
            </a:avLst>
          </a:prstGeom>
          <a:solidFill>
            <a:srgbClr val="F2F3F8"/>
          </a:solidFill>
          <a:ln>
            <a:noFill/>
          </a:ln>
          <a:effectLst/>
        </p:spPr>
        <p:txBody>
          <a:bodyPr rtlCol="0" anchor="ctr"/>
          <a:lstStyle/>
          <a:p>
            <a:pPr algn="ctr"/>
            <a:endParaRPr/>
          </a:p>
        </p:txBody>
      </p:sp>
      <p:sp>
        <p:nvSpPr>
          <p:cNvPr id="53" name="TextBox 52"/>
          <p:cNvSpPr txBox="1"/>
          <p:nvPr/>
        </p:nvSpPr>
        <p:spPr>
          <a:xfrm>
            <a:off x="9037320" y="2670048"/>
            <a:ext cx="1018032" cy="310896"/>
          </a:xfrm>
          <a:prstGeom prst="rect">
            <a:avLst/>
          </a:prstGeom>
          <a:noFill/>
        </p:spPr>
        <p:txBody>
          <a:bodyPr wrap="square" lIns="0" tIns="0" rIns="0" bIns="0" anchor="t">
            <a:spAutoFit/>
          </a:bodyPr>
          <a:lstStyle/>
          <a:p>
            <a:pPr>
              <a:lnSpc>
                <a:spcPct val="108000"/>
              </a:lnSpc>
              <a:spcAft>
                <a:spcPts val="300"/>
              </a:spcAft>
            </a:pPr>
            <a:r>
              <a:rPr sz="1300" b="1" i="0">
                <a:solidFill>
                  <a:srgbClr val="E4202E"/>
                </a:solidFill>
                <a:latin typeface="Montserrat"/>
              </a:rPr>
              <a:t>961 kg</a:t>
            </a:r>
          </a:p>
        </p:txBody>
      </p:sp>
      <p:sp>
        <p:nvSpPr>
          <p:cNvPr id="54" name="TextBox 53"/>
          <p:cNvSpPr txBox="1"/>
          <p:nvPr/>
        </p:nvSpPr>
        <p:spPr>
          <a:xfrm>
            <a:off x="9037320" y="3017520"/>
            <a:ext cx="1018032" cy="868680"/>
          </a:xfrm>
          <a:prstGeom prst="rect">
            <a:avLst/>
          </a:prstGeom>
          <a:noFill/>
        </p:spPr>
        <p:txBody>
          <a:bodyPr wrap="square" lIns="0" tIns="0" rIns="0" bIns="0" anchor="t">
            <a:spAutoFit/>
          </a:bodyPr>
          <a:lstStyle/>
          <a:p>
            <a:pPr>
              <a:lnSpc>
                <a:spcPct val="103000"/>
              </a:lnSpc>
              <a:spcAft>
                <a:spcPts val="300"/>
              </a:spcAft>
            </a:pPr>
            <a:r>
              <a:rPr sz="760" b="0" i="0">
                <a:solidFill>
                  <a:srgbClr val="2A2C45"/>
                </a:solidFill>
                <a:latin typeface="Montserrat"/>
              </a:rPr>
              <a:t>“Hand in batteries”: 226 containers at 138 points</a:t>
            </a:r>
          </a:p>
        </p:txBody>
      </p:sp>
      <p:sp>
        <p:nvSpPr>
          <p:cNvPr id="55" name="Rounded Rectangle 54"/>
          <p:cNvSpPr/>
          <p:nvPr/>
        </p:nvSpPr>
        <p:spPr>
          <a:xfrm>
            <a:off x="10238231" y="2606040"/>
            <a:ext cx="1200912" cy="1298448"/>
          </a:xfrm>
          <a:prstGeom prst="roundRect">
            <a:avLst>
              <a:gd name="adj" fmla="val 10000"/>
            </a:avLst>
          </a:prstGeom>
          <a:solidFill>
            <a:srgbClr val="F2F3F8"/>
          </a:solidFill>
          <a:ln>
            <a:noFill/>
          </a:ln>
          <a:effectLst/>
        </p:spPr>
        <p:txBody>
          <a:bodyPr rtlCol="0" anchor="ctr"/>
          <a:lstStyle/>
          <a:p>
            <a:pPr algn="ctr"/>
            <a:endParaRPr/>
          </a:p>
        </p:txBody>
      </p:sp>
      <p:sp>
        <p:nvSpPr>
          <p:cNvPr id="56" name="TextBox 55"/>
          <p:cNvSpPr txBox="1"/>
          <p:nvPr/>
        </p:nvSpPr>
        <p:spPr>
          <a:xfrm>
            <a:off x="10329671" y="2670048"/>
            <a:ext cx="1018032" cy="310896"/>
          </a:xfrm>
          <a:prstGeom prst="rect">
            <a:avLst/>
          </a:prstGeom>
          <a:noFill/>
        </p:spPr>
        <p:txBody>
          <a:bodyPr wrap="square" lIns="0" tIns="0" rIns="0" bIns="0" anchor="t">
            <a:spAutoFit/>
          </a:bodyPr>
          <a:lstStyle/>
          <a:p>
            <a:pPr>
              <a:lnSpc>
                <a:spcPct val="108000"/>
              </a:lnSpc>
              <a:spcAft>
                <a:spcPts val="300"/>
              </a:spcAft>
            </a:pPr>
            <a:r>
              <a:rPr sz="1300" b="1" i="0">
                <a:solidFill>
                  <a:srgbClr val="E4202E"/>
                </a:solidFill>
                <a:latin typeface="Montserrat"/>
              </a:rPr>
              <a:t>543</a:t>
            </a:r>
          </a:p>
        </p:txBody>
      </p:sp>
      <p:sp>
        <p:nvSpPr>
          <p:cNvPr id="57" name="TextBox 56"/>
          <p:cNvSpPr txBox="1"/>
          <p:nvPr/>
        </p:nvSpPr>
        <p:spPr>
          <a:xfrm>
            <a:off x="10329671" y="3017520"/>
            <a:ext cx="1018032" cy="868680"/>
          </a:xfrm>
          <a:prstGeom prst="rect">
            <a:avLst/>
          </a:prstGeom>
          <a:noFill/>
        </p:spPr>
        <p:txBody>
          <a:bodyPr wrap="square" lIns="0" tIns="0" rIns="0" bIns="0" anchor="t">
            <a:spAutoFit/>
          </a:bodyPr>
          <a:lstStyle/>
          <a:p>
            <a:pPr>
              <a:lnSpc>
                <a:spcPct val="103000"/>
              </a:lnSpc>
              <a:spcAft>
                <a:spcPts val="300"/>
              </a:spcAft>
            </a:pPr>
            <a:r>
              <a:rPr sz="760" b="0" i="0">
                <a:solidFill>
                  <a:srgbClr val="2A2C45"/>
                </a:solidFill>
                <a:latin typeface="Montserrat"/>
              </a:rPr>
              <a:t>“Heroes’ garden”: trees planted in Mingachevir and Shirvan</a:t>
            </a:r>
          </a:p>
        </p:txBody>
      </p:sp>
      <p:sp>
        <p:nvSpPr>
          <p:cNvPr id="58" name="Rounded Rectangle 57"/>
          <p:cNvSpPr/>
          <p:nvPr/>
        </p:nvSpPr>
        <p:spPr>
          <a:xfrm>
            <a:off x="7452359" y="4160520"/>
            <a:ext cx="4187952" cy="2167128"/>
          </a:xfrm>
          <a:prstGeom prst="roundRect">
            <a:avLst>
              <a:gd name="adj" fmla="val 4219"/>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59" name="TextBox 58"/>
          <p:cNvSpPr txBox="1"/>
          <p:nvPr/>
        </p:nvSpPr>
        <p:spPr>
          <a:xfrm>
            <a:off x="7653527" y="4251960"/>
            <a:ext cx="3822192" cy="256032"/>
          </a:xfrm>
          <a:prstGeom prst="rect">
            <a:avLst/>
          </a:prstGeom>
          <a:noFill/>
        </p:spPr>
        <p:txBody>
          <a:bodyPr wrap="square" lIns="0" tIns="0" rIns="0" bIns="0" anchor="t">
            <a:spAutoFit/>
          </a:bodyPr>
          <a:lstStyle/>
          <a:p>
            <a:pPr>
              <a:lnSpc>
                <a:spcPct val="108000"/>
              </a:lnSpc>
              <a:spcAft>
                <a:spcPts val="300"/>
              </a:spcAft>
            </a:pPr>
            <a:r>
              <a:rPr sz="1000" b="1" i="0">
                <a:solidFill>
                  <a:srgbClr val="0F1129"/>
                </a:solidFill>
                <a:latin typeface="Montserrat"/>
              </a:rPr>
              <a:t>Reach of selected programmes</a:t>
            </a:r>
          </a:p>
        </p:txBody>
      </p:sp>
      <p:graphicFrame>
        <p:nvGraphicFramePr>
          <p:cNvPr id="60" name="Chart 59"/>
          <p:cNvGraphicFramePr>
            <a:graphicFrameLocks noGrp="1"/>
          </p:cNvGraphicFramePr>
          <p:nvPr/>
        </p:nvGraphicFramePr>
        <p:xfrm>
          <a:off x="7498079" y="4480560"/>
          <a:ext cx="4096512" cy="1810512"/>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7</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BHR journey self-assessment insights (4/4)</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5408676" cy="4315968"/>
          </a:xfrm>
          <a:prstGeom prst="roundRect">
            <a:avLst>
              <a:gd name="adj" fmla="val 2118"/>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2" name="Rounded Rectangle 11"/>
          <p:cNvSpPr/>
          <p:nvPr/>
        </p:nvSpPr>
        <p:spPr>
          <a:xfrm>
            <a:off x="777240" y="2194560"/>
            <a:ext cx="384048" cy="384048"/>
          </a:xfrm>
          <a:prstGeom prst="roundRect">
            <a:avLst>
              <a:gd name="adj" fmla="val 25000"/>
            </a:avLst>
          </a:prstGeom>
          <a:solidFill>
            <a:srgbClr val="FDECEC"/>
          </a:solidFill>
          <a:ln>
            <a:noFill/>
          </a:ln>
          <a:effectLst/>
        </p:spPr>
        <p:txBody>
          <a:bodyPr rtlCol="0" anchor="ctr"/>
          <a:lstStyle/>
          <a:p>
            <a:pPr algn="ctr"/>
            <a:endParaRPr/>
          </a:p>
        </p:txBody>
      </p:sp>
      <p:sp>
        <p:nvSpPr>
          <p:cNvPr id="13" name="TextBox 12"/>
          <p:cNvSpPr txBox="1"/>
          <p:nvPr/>
        </p:nvSpPr>
        <p:spPr>
          <a:xfrm>
            <a:off x="777240" y="2194560"/>
            <a:ext cx="384048" cy="384048"/>
          </a:xfrm>
          <a:prstGeom prst="rect">
            <a:avLst/>
          </a:prstGeom>
          <a:noFill/>
        </p:spPr>
        <p:txBody>
          <a:bodyPr wrap="square" lIns="0" tIns="0" rIns="0" bIns="0" anchor="ctr">
            <a:spAutoFit/>
          </a:bodyPr>
          <a:lstStyle/>
          <a:p>
            <a:pPr algn="ctr">
              <a:lnSpc>
                <a:spcPct val="108000"/>
              </a:lnSpc>
              <a:spcAft>
                <a:spcPts val="300"/>
              </a:spcAft>
            </a:pPr>
            <a:r>
              <a:rPr sz="1200" b="1" i="0">
                <a:solidFill>
                  <a:srgbClr val="C8102E"/>
                </a:solidFill>
                <a:latin typeface="Montserrat"/>
              </a:rPr>
              <a:t>1</a:t>
            </a:r>
          </a:p>
        </p:txBody>
      </p:sp>
      <p:sp>
        <p:nvSpPr>
          <p:cNvPr id="14" name="TextBox 13"/>
          <p:cNvSpPr txBox="1"/>
          <p:nvPr/>
        </p:nvSpPr>
        <p:spPr>
          <a:xfrm>
            <a:off x="1280160" y="2194560"/>
            <a:ext cx="4494276" cy="384048"/>
          </a:xfrm>
          <a:prstGeom prst="rect">
            <a:avLst/>
          </a:prstGeom>
          <a:noFill/>
        </p:spPr>
        <p:txBody>
          <a:bodyPr wrap="square" lIns="0" tIns="0" rIns="0" bIns="0" anchor="ctr">
            <a:spAutoFit/>
          </a:bodyPr>
          <a:lstStyle/>
          <a:p>
            <a:pPr>
              <a:lnSpc>
                <a:spcPct val="108000"/>
              </a:lnSpc>
              <a:spcAft>
                <a:spcPts val="300"/>
              </a:spcAft>
            </a:pPr>
            <a:r>
              <a:rPr sz="1300" b="1" i="0" dirty="0">
                <a:solidFill>
                  <a:srgbClr val="0F1129"/>
                </a:solidFill>
                <a:latin typeface="Montserrat"/>
              </a:rPr>
              <a:t>Customer grievance mechanism</a:t>
            </a:r>
          </a:p>
        </p:txBody>
      </p:sp>
      <p:sp>
        <p:nvSpPr>
          <p:cNvPr id="15" name="TextBox 14"/>
          <p:cNvSpPr txBox="1"/>
          <p:nvPr/>
        </p:nvSpPr>
        <p:spPr>
          <a:xfrm>
            <a:off x="777240" y="2697480"/>
            <a:ext cx="4951476" cy="411480"/>
          </a:xfrm>
          <a:prstGeom prst="rect">
            <a:avLst/>
          </a:prstGeom>
          <a:noFill/>
        </p:spPr>
        <p:txBody>
          <a:bodyPr wrap="square" lIns="0" tIns="0" rIns="0" bIns="0" anchor="t">
            <a:spAutoFit/>
          </a:bodyPr>
          <a:lstStyle/>
          <a:p>
            <a:pPr>
              <a:lnSpc>
                <a:spcPct val="103000"/>
              </a:lnSpc>
              <a:spcAft>
                <a:spcPts val="300"/>
              </a:spcAft>
            </a:pPr>
            <a:r>
              <a:rPr sz="880" b="0" i="1">
                <a:solidFill>
                  <a:srgbClr val="6B6F8A"/>
                </a:solidFill>
                <a:latin typeface="Montserrat"/>
              </a:rPr>
              <a:t>A structured, board-approved complaints procedure exists. To meet UNGP Principle 31 it needs a human rights lens.</a:t>
            </a:r>
          </a:p>
        </p:txBody>
      </p:sp>
      <p:sp>
        <p:nvSpPr>
          <p:cNvPr id="16" name="TextBox 15"/>
          <p:cNvSpPr txBox="1"/>
          <p:nvPr/>
        </p:nvSpPr>
        <p:spPr>
          <a:xfrm>
            <a:off x="777240" y="3154680"/>
            <a:ext cx="4951476" cy="2331720"/>
          </a:xfrm>
          <a:prstGeom prst="rect">
            <a:avLst/>
          </a:prstGeom>
          <a:noFill/>
        </p:spPr>
        <p:txBody>
          <a:bodyPr wrap="square" lIns="0" tIns="0" rIns="0" bIns="0" anchor="t">
            <a:spAutoFit/>
          </a:bodyPr>
          <a:lstStyle/>
          <a:p>
            <a:pPr marL="182880" indent="-146304">
              <a:lnSpc>
                <a:spcPct val="102000"/>
              </a:lnSpc>
              <a:spcAft>
                <a:spcPts val="400"/>
              </a:spcAft>
              <a:buClr>
                <a:srgbClr val="E4202E"/>
              </a:buClr>
              <a:buFont typeface="Arial"/>
              <a:buChar char="•"/>
            </a:pPr>
            <a:r>
              <a:rPr sz="890" b="1" i="0" dirty="0">
                <a:solidFill>
                  <a:srgbClr val="2A2C45"/>
                </a:solidFill>
                <a:latin typeface="Montserrat"/>
              </a:rPr>
              <a:t>No human rights category:</a:t>
            </a:r>
            <a:r>
              <a:rPr sz="890" b="0" i="0" dirty="0">
                <a:solidFill>
                  <a:srgbClr val="2A2C45"/>
                </a:solidFill>
                <a:latin typeface="Montserrat"/>
              </a:rPr>
              <a:t> complaints are classed as application, dissatisfaction, complaint, suggestion or thanks, and causes as technical problem or employee error. Aggressive collection, mis-selling or discrimination are not visible as such.</a:t>
            </a:r>
          </a:p>
          <a:p>
            <a:pPr marL="182880" indent="-146304">
              <a:lnSpc>
                <a:spcPct val="102000"/>
              </a:lnSpc>
              <a:spcAft>
                <a:spcPts val="400"/>
              </a:spcAft>
              <a:buClr>
                <a:srgbClr val="E4202E"/>
              </a:buClr>
              <a:buFont typeface="Arial"/>
              <a:buChar char="•"/>
            </a:pPr>
            <a:r>
              <a:rPr sz="890" b="1" i="0" dirty="0">
                <a:solidFill>
                  <a:srgbClr val="2A2C45"/>
                </a:solidFill>
                <a:latin typeface="Montserrat"/>
              </a:rPr>
              <a:t>Anonymous complaints are not reviewed</a:t>
            </a:r>
            <a:r>
              <a:rPr sz="890" b="0" i="0" dirty="0">
                <a:solidFill>
                  <a:srgbClr val="2A2C45"/>
                </a:solidFill>
                <a:latin typeface="Montserrat"/>
              </a:rPr>
              <a:t> (except reputational cases). This deters people who fear retaliation, e.g. borrowers under collection pressure.</a:t>
            </a:r>
          </a:p>
          <a:p>
            <a:pPr marL="182880" indent="-146304">
              <a:lnSpc>
                <a:spcPct val="102000"/>
              </a:lnSpc>
              <a:spcAft>
                <a:spcPts val="400"/>
              </a:spcAft>
              <a:buClr>
                <a:srgbClr val="E4202E"/>
              </a:buClr>
              <a:buFont typeface="Arial"/>
              <a:buChar char="•"/>
            </a:pPr>
            <a:r>
              <a:rPr sz="890" b="1" i="0" dirty="0">
                <a:solidFill>
                  <a:srgbClr val="2A2C45"/>
                </a:solidFill>
                <a:latin typeface="Montserrat"/>
              </a:rPr>
              <a:t>Accessibility conflict:</a:t>
            </a:r>
            <a:r>
              <a:rPr sz="890" b="0" i="0" dirty="0">
                <a:solidFill>
                  <a:srgbClr val="2A2C45"/>
                </a:solidFill>
                <a:latin typeface="Montserrat"/>
              </a:rPr>
              <a:t> the business-hotline instruction lets operators end calls with customers who have a speech impairment – at odds with the bank’s own sign-language service.</a:t>
            </a:r>
          </a:p>
          <a:p>
            <a:pPr marL="182880" indent="-146304">
              <a:lnSpc>
                <a:spcPct val="102000"/>
              </a:lnSpc>
              <a:spcAft>
                <a:spcPts val="400"/>
              </a:spcAft>
              <a:buClr>
                <a:srgbClr val="E4202E"/>
              </a:buClr>
              <a:buFont typeface="Arial"/>
              <a:buChar char="•"/>
            </a:pPr>
            <a:r>
              <a:rPr sz="890" b="1" i="0" dirty="0">
                <a:solidFill>
                  <a:srgbClr val="2A2C45"/>
                </a:solidFill>
                <a:latin typeface="Montserrat"/>
              </a:rPr>
              <a:t>Remedy is money-focused:</a:t>
            </a:r>
            <a:r>
              <a:rPr sz="890" b="0" i="0" dirty="0">
                <a:solidFill>
                  <a:srgbClr val="2A2C45"/>
                </a:solidFill>
                <a:latin typeface="Montserrat"/>
              </a:rPr>
              <a:t> compensation rules cover financial losses and technical errors; there is no route for non-financial harms such as harassment or distress.</a:t>
            </a:r>
          </a:p>
          <a:p>
            <a:pPr marL="182880" indent="-146304">
              <a:lnSpc>
                <a:spcPct val="102000"/>
              </a:lnSpc>
              <a:spcAft>
                <a:spcPts val="400"/>
              </a:spcAft>
              <a:buClr>
                <a:srgbClr val="E4202E"/>
              </a:buClr>
              <a:buFont typeface="Arial"/>
              <a:buChar char="•"/>
            </a:pPr>
            <a:r>
              <a:rPr sz="890" b="1" i="0" dirty="0">
                <a:solidFill>
                  <a:srgbClr val="2A2C45"/>
                </a:solidFill>
                <a:latin typeface="Montserrat"/>
              </a:rPr>
              <a:t>Internal only:</a:t>
            </a:r>
            <a:r>
              <a:rPr sz="890" b="0" i="0" dirty="0">
                <a:solidFill>
                  <a:srgbClr val="2A2C45"/>
                </a:solidFill>
                <a:latin typeface="Montserrat"/>
              </a:rPr>
              <a:t> monthly reports go to the Management Board, but the process and results are not published, and contractors’ workers are out of scope.</a:t>
            </a:r>
          </a:p>
        </p:txBody>
      </p:sp>
      <p:sp>
        <p:nvSpPr>
          <p:cNvPr id="17" name="Rounded Rectangle 16"/>
          <p:cNvSpPr/>
          <p:nvPr/>
        </p:nvSpPr>
        <p:spPr>
          <a:xfrm>
            <a:off x="731520" y="5504688"/>
            <a:ext cx="5042916" cy="731520"/>
          </a:xfrm>
          <a:prstGeom prst="roundRect">
            <a:avLst>
              <a:gd name="adj" fmla="val 12000"/>
            </a:avLst>
          </a:prstGeom>
          <a:solidFill>
            <a:srgbClr val="FDECEC"/>
          </a:solidFill>
          <a:ln>
            <a:noFill/>
          </a:ln>
          <a:effectLst/>
        </p:spPr>
        <p:txBody>
          <a:bodyPr rtlCol="0" anchor="ctr"/>
          <a:lstStyle/>
          <a:p>
            <a:pPr algn="ctr"/>
            <a:endParaRPr/>
          </a:p>
        </p:txBody>
      </p:sp>
      <p:sp>
        <p:nvSpPr>
          <p:cNvPr id="18" name="TextBox 17"/>
          <p:cNvSpPr txBox="1"/>
          <p:nvPr/>
        </p:nvSpPr>
        <p:spPr>
          <a:xfrm>
            <a:off x="868680" y="5541264"/>
            <a:ext cx="4768596" cy="676656"/>
          </a:xfrm>
          <a:prstGeom prst="rect">
            <a:avLst/>
          </a:prstGeom>
          <a:noFill/>
        </p:spPr>
        <p:txBody>
          <a:bodyPr wrap="square" lIns="0" tIns="0" rIns="0" bIns="0" anchor="ctr">
            <a:spAutoFit/>
          </a:bodyPr>
          <a:lstStyle/>
          <a:p>
            <a:pPr>
              <a:lnSpc>
                <a:spcPct val="108000"/>
              </a:lnSpc>
              <a:spcAft>
                <a:spcPts val="100"/>
              </a:spcAft>
            </a:pPr>
            <a:r>
              <a:rPr sz="850" b="1" i="0">
                <a:solidFill>
                  <a:srgbClr val="E4202E"/>
                </a:solidFill>
                <a:latin typeface="Montserrat"/>
              </a:rPr>
              <a:t>Why it matters</a:t>
            </a:r>
          </a:p>
          <a:p>
            <a:pPr>
              <a:lnSpc>
                <a:spcPct val="102000"/>
              </a:lnSpc>
              <a:spcAft>
                <a:spcPts val="300"/>
              </a:spcAft>
            </a:pPr>
            <a:r>
              <a:rPr sz="830" b="0" i="0">
                <a:solidFill>
                  <a:srgbClr val="2A2C45"/>
                </a:solidFill>
                <a:latin typeface="Montserrat"/>
              </a:rPr>
              <a:t>Remedy for salient issue 1 depends on this channel: borrowers harmed by lending or collection practices must be able to raise concerns safely and get a fair outcome (UNGPs 29–31).</a:t>
            </a:r>
          </a:p>
        </p:txBody>
      </p:sp>
      <p:sp>
        <p:nvSpPr>
          <p:cNvPr id="19" name="Rounded Rectangle 18"/>
          <p:cNvSpPr/>
          <p:nvPr/>
        </p:nvSpPr>
        <p:spPr>
          <a:xfrm>
            <a:off x="6231636" y="2011680"/>
            <a:ext cx="5408676" cy="4315968"/>
          </a:xfrm>
          <a:prstGeom prst="roundRect">
            <a:avLst>
              <a:gd name="adj" fmla="val 2118"/>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a:p>
        </p:txBody>
      </p:sp>
      <p:sp>
        <p:nvSpPr>
          <p:cNvPr id="20" name="Rounded Rectangle 19"/>
          <p:cNvSpPr/>
          <p:nvPr/>
        </p:nvSpPr>
        <p:spPr>
          <a:xfrm>
            <a:off x="6460236" y="2194560"/>
            <a:ext cx="384048" cy="384048"/>
          </a:xfrm>
          <a:prstGeom prst="roundRect">
            <a:avLst>
              <a:gd name="adj" fmla="val 25000"/>
            </a:avLst>
          </a:prstGeom>
          <a:solidFill>
            <a:srgbClr val="FDECEC"/>
          </a:solidFill>
          <a:ln>
            <a:noFill/>
          </a:ln>
          <a:effectLst/>
        </p:spPr>
        <p:txBody>
          <a:bodyPr rtlCol="0" anchor="ctr"/>
          <a:lstStyle/>
          <a:p>
            <a:pPr algn="ctr"/>
            <a:endParaRPr/>
          </a:p>
        </p:txBody>
      </p:sp>
      <p:sp>
        <p:nvSpPr>
          <p:cNvPr id="21" name="TextBox 20"/>
          <p:cNvSpPr txBox="1"/>
          <p:nvPr/>
        </p:nvSpPr>
        <p:spPr>
          <a:xfrm>
            <a:off x="6460236" y="2194560"/>
            <a:ext cx="384048" cy="384048"/>
          </a:xfrm>
          <a:prstGeom prst="rect">
            <a:avLst/>
          </a:prstGeom>
          <a:noFill/>
        </p:spPr>
        <p:txBody>
          <a:bodyPr wrap="square" lIns="0" tIns="0" rIns="0" bIns="0" anchor="ctr">
            <a:spAutoFit/>
          </a:bodyPr>
          <a:lstStyle/>
          <a:p>
            <a:pPr algn="ctr">
              <a:lnSpc>
                <a:spcPct val="108000"/>
              </a:lnSpc>
              <a:spcAft>
                <a:spcPts val="300"/>
              </a:spcAft>
            </a:pPr>
            <a:r>
              <a:rPr sz="1200" b="1" i="0">
                <a:solidFill>
                  <a:srgbClr val="C8102E"/>
                </a:solidFill>
                <a:latin typeface="Montserrat"/>
              </a:rPr>
              <a:t>2</a:t>
            </a:r>
          </a:p>
        </p:txBody>
      </p:sp>
      <p:sp>
        <p:nvSpPr>
          <p:cNvPr id="22" name="TextBox 21"/>
          <p:cNvSpPr txBox="1"/>
          <p:nvPr/>
        </p:nvSpPr>
        <p:spPr>
          <a:xfrm>
            <a:off x="6963155" y="2194560"/>
            <a:ext cx="4494276" cy="384048"/>
          </a:xfrm>
          <a:prstGeom prst="rect">
            <a:avLst/>
          </a:prstGeom>
          <a:noFill/>
        </p:spPr>
        <p:txBody>
          <a:bodyPr wrap="square" lIns="0" tIns="0" rIns="0" bIns="0" anchor="ctr">
            <a:spAutoFit/>
          </a:bodyPr>
          <a:lstStyle/>
          <a:p>
            <a:pPr>
              <a:lnSpc>
                <a:spcPct val="108000"/>
              </a:lnSpc>
              <a:spcAft>
                <a:spcPts val="300"/>
              </a:spcAft>
            </a:pPr>
            <a:r>
              <a:rPr sz="1300" b="1" i="0" dirty="0">
                <a:solidFill>
                  <a:srgbClr val="0F1129"/>
                </a:solidFill>
                <a:latin typeface="Montserrat"/>
              </a:rPr>
              <a:t>Human rights reporting</a:t>
            </a:r>
          </a:p>
        </p:txBody>
      </p:sp>
      <p:sp>
        <p:nvSpPr>
          <p:cNvPr id="23" name="TextBox 22"/>
          <p:cNvSpPr txBox="1"/>
          <p:nvPr/>
        </p:nvSpPr>
        <p:spPr>
          <a:xfrm>
            <a:off x="6460236" y="2697480"/>
            <a:ext cx="4951476" cy="411480"/>
          </a:xfrm>
          <a:prstGeom prst="rect">
            <a:avLst/>
          </a:prstGeom>
          <a:noFill/>
        </p:spPr>
        <p:txBody>
          <a:bodyPr wrap="square" lIns="0" tIns="0" rIns="0" bIns="0" anchor="t">
            <a:spAutoFit/>
          </a:bodyPr>
          <a:lstStyle/>
          <a:p>
            <a:pPr>
              <a:lnSpc>
                <a:spcPct val="103000"/>
              </a:lnSpc>
              <a:spcAft>
                <a:spcPts val="300"/>
              </a:spcAft>
            </a:pPr>
            <a:r>
              <a:rPr sz="880" b="0" i="1" dirty="0">
                <a:solidFill>
                  <a:srgbClr val="6B6F8A"/>
                </a:solidFill>
                <a:latin typeface="Montserrat"/>
              </a:rPr>
              <a:t>Kapital Bank reports on sustainability and CSR, but not yet on how it manages its risks to people.</a:t>
            </a:r>
          </a:p>
        </p:txBody>
      </p:sp>
      <p:sp>
        <p:nvSpPr>
          <p:cNvPr id="24" name="TextBox 23"/>
          <p:cNvSpPr txBox="1"/>
          <p:nvPr/>
        </p:nvSpPr>
        <p:spPr>
          <a:xfrm>
            <a:off x="6460236" y="3154680"/>
            <a:ext cx="4951476" cy="934230"/>
          </a:xfrm>
          <a:prstGeom prst="rect">
            <a:avLst/>
          </a:prstGeom>
          <a:noFill/>
        </p:spPr>
        <p:txBody>
          <a:bodyPr wrap="square" lIns="0" tIns="0" rIns="0" bIns="0" anchor="t">
            <a:spAutoFit/>
          </a:bodyPr>
          <a:lstStyle/>
          <a:p>
            <a:pPr marL="182880" indent="-146304">
              <a:lnSpc>
                <a:spcPct val="102000"/>
              </a:lnSpc>
              <a:spcAft>
                <a:spcPts val="400"/>
              </a:spcAft>
              <a:buClr>
                <a:srgbClr val="E4202E"/>
              </a:buClr>
              <a:buFont typeface="Arial"/>
              <a:buChar char="•"/>
            </a:pPr>
            <a:r>
              <a:rPr sz="890" b="1" i="0" dirty="0">
                <a:solidFill>
                  <a:srgbClr val="2A2C45"/>
                </a:solidFill>
                <a:latin typeface="Montserrat"/>
              </a:rPr>
              <a:t>Material topic without content:</a:t>
            </a:r>
            <a:r>
              <a:rPr sz="890" b="0" i="0" dirty="0">
                <a:solidFill>
                  <a:srgbClr val="2A2C45"/>
                </a:solidFill>
                <a:latin typeface="Montserrat"/>
              </a:rPr>
              <a:t> the 2023 Sustainability Report lists human rights as material, but gives no policy, salient issues, due diligence process or KPIs.</a:t>
            </a:r>
          </a:p>
          <a:p>
            <a:pPr marL="182880" indent="-146304">
              <a:lnSpc>
                <a:spcPct val="102000"/>
              </a:lnSpc>
              <a:spcAft>
                <a:spcPts val="400"/>
              </a:spcAft>
              <a:buClr>
                <a:srgbClr val="E4202E"/>
              </a:buClr>
              <a:buFont typeface="Arial"/>
              <a:buChar char="•"/>
            </a:pPr>
            <a:r>
              <a:rPr sz="890" b="1" i="0" dirty="0">
                <a:solidFill>
                  <a:srgbClr val="2A2C45"/>
                </a:solidFill>
                <a:latin typeface="Montserrat"/>
              </a:rPr>
              <a:t>Strengths not visible:</a:t>
            </a:r>
            <a:r>
              <a:rPr sz="890" b="0" i="0" dirty="0">
                <a:solidFill>
                  <a:srgbClr val="2A2C45"/>
                </a:solidFill>
                <a:latin typeface="Montserrat"/>
              </a:rPr>
              <a:t> the disability quota, women in leadership and anti-harassment practice are not disclosed with data.</a:t>
            </a:r>
          </a:p>
          <a:p>
            <a:pPr marL="182880" indent="-146304">
              <a:lnSpc>
                <a:spcPct val="102000"/>
              </a:lnSpc>
              <a:spcAft>
                <a:spcPts val="400"/>
              </a:spcAft>
              <a:buClr>
                <a:srgbClr val="E4202E"/>
              </a:buClr>
              <a:buFont typeface="Arial"/>
              <a:buChar char="•"/>
            </a:pPr>
            <a:r>
              <a:rPr sz="890" b="1" i="0" dirty="0">
                <a:solidFill>
                  <a:srgbClr val="2A2C45"/>
                </a:solidFill>
                <a:latin typeface="Montserrat"/>
              </a:rPr>
              <a:t>No human rights KPIs:</a:t>
            </a:r>
            <a:r>
              <a:rPr sz="890" b="0" i="0" dirty="0">
                <a:solidFill>
                  <a:srgbClr val="2A2C45"/>
                </a:solidFill>
                <a:latin typeface="Montserrat"/>
              </a:rPr>
              <a:t> complaint data exist internally but are not reported by type of harm; there are no indicators for remedy or responsible lending.</a:t>
            </a:r>
          </a:p>
        </p:txBody>
      </p:sp>
      <p:sp>
        <p:nvSpPr>
          <p:cNvPr id="25" name="Rounded Rectangle 24"/>
          <p:cNvSpPr/>
          <p:nvPr/>
        </p:nvSpPr>
        <p:spPr>
          <a:xfrm>
            <a:off x="6414516" y="5504688"/>
            <a:ext cx="5042916" cy="731520"/>
          </a:xfrm>
          <a:prstGeom prst="roundRect">
            <a:avLst>
              <a:gd name="adj" fmla="val 12000"/>
            </a:avLst>
          </a:prstGeom>
          <a:solidFill>
            <a:srgbClr val="FDECEC"/>
          </a:solidFill>
          <a:ln>
            <a:noFill/>
          </a:ln>
          <a:effectLst/>
        </p:spPr>
        <p:txBody>
          <a:bodyPr rtlCol="0" anchor="ctr"/>
          <a:lstStyle/>
          <a:p>
            <a:pPr algn="ctr"/>
            <a:endParaRPr/>
          </a:p>
        </p:txBody>
      </p:sp>
      <p:sp>
        <p:nvSpPr>
          <p:cNvPr id="26" name="TextBox 25"/>
          <p:cNvSpPr txBox="1"/>
          <p:nvPr/>
        </p:nvSpPr>
        <p:spPr>
          <a:xfrm>
            <a:off x="6551675" y="5541264"/>
            <a:ext cx="4768596" cy="676656"/>
          </a:xfrm>
          <a:prstGeom prst="rect">
            <a:avLst/>
          </a:prstGeom>
          <a:noFill/>
        </p:spPr>
        <p:txBody>
          <a:bodyPr wrap="square" lIns="0" tIns="0" rIns="0" bIns="0" anchor="ctr">
            <a:spAutoFit/>
          </a:bodyPr>
          <a:lstStyle/>
          <a:p>
            <a:pPr>
              <a:lnSpc>
                <a:spcPct val="108000"/>
              </a:lnSpc>
              <a:spcAft>
                <a:spcPts val="100"/>
              </a:spcAft>
            </a:pPr>
            <a:r>
              <a:rPr sz="850" b="1" i="0">
                <a:solidFill>
                  <a:srgbClr val="E4202E"/>
                </a:solidFill>
                <a:latin typeface="Montserrat"/>
              </a:rPr>
              <a:t>Why it matters</a:t>
            </a:r>
          </a:p>
          <a:p>
            <a:pPr>
              <a:lnSpc>
                <a:spcPct val="102000"/>
              </a:lnSpc>
              <a:spcAft>
                <a:spcPts val="300"/>
              </a:spcAft>
            </a:pPr>
            <a:r>
              <a:rPr sz="830" b="0" i="0">
                <a:solidFill>
                  <a:srgbClr val="2A2C45"/>
                </a:solidFill>
                <a:latin typeface="Montserrat"/>
              </a:rPr>
              <a:t>Investors, correspondent banks, rating agencies and evolving due diligence laws expect evidence, not only commitments.</a:t>
            </a:r>
          </a:p>
        </p:txBody>
      </p:sp>
    </p:spTree>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8</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Human Rights Journey Gap Assessment – future focus (1/2)</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5408676" cy="2514600"/>
          </a:xfrm>
          <a:prstGeom prst="roundRect">
            <a:avLst>
              <a:gd name="adj" fmla="val 3636"/>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2" name="Rounded Rectangle 11"/>
          <p:cNvSpPr/>
          <p:nvPr/>
        </p:nvSpPr>
        <p:spPr>
          <a:xfrm>
            <a:off x="777240" y="2212848"/>
            <a:ext cx="420624" cy="42062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13" name="TextBox 12"/>
          <p:cNvSpPr txBox="1"/>
          <p:nvPr/>
        </p:nvSpPr>
        <p:spPr>
          <a:xfrm>
            <a:off x="777240" y="2212848"/>
            <a:ext cx="420624" cy="420624"/>
          </a:xfrm>
          <a:prstGeom prst="rect">
            <a:avLst/>
          </a:prstGeom>
          <a:noFill/>
        </p:spPr>
        <p:txBody>
          <a:bodyPr wrap="square" lIns="0" tIns="0" rIns="0" bIns="0" anchor="ctr">
            <a:spAutoFit/>
          </a:bodyPr>
          <a:lstStyle/>
          <a:p>
            <a:pPr algn="ctr">
              <a:lnSpc>
                <a:spcPct val="108000"/>
              </a:lnSpc>
              <a:spcAft>
                <a:spcPts val="300"/>
              </a:spcAft>
            </a:pPr>
            <a:r>
              <a:rPr sz="1300" b="1" i="0">
                <a:solidFill>
                  <a:srgbClr val="FFFFFF"/>
                </a:solidFill>
                <a:latin typeface="Montserrat"/>
              </a:rPr>
              <a:t>A</a:t>
            </a:r>
          </a:p>
        </p:txBody>
      </p:sp>
      <p:sp>
        <p:nvSpPr>
          <p:cNvPr id="14" name="TextBox 13"/>
          <p:cNvSpPr txBox="1"/>
          <p:nvPr/>
        </p:nvSpPr>
        <p:spPr>
          <a:xfrm>
            <a:off x="1325880" y="2212848"/>
            <a:ext cx="4402836" cy="420624"/>
          </a:xfrm>
          <a:prstGeom prst="rect">
            <a:avLst/>
          </a:prstGeom>
          <a:noFill/>
        </p:spPr>
        <p:txBody>
          <a:bodyPr wrap="square" lIns="0" tIns="0" rIns="0" bIns="0" anchor="ctr">
            <a:spAutoFit/>
          </a:bodyPr>
          <a:lstStyle/>
          <a:p>
            <a:pPr>
              <a:lnSpc>
                <a:spcPct val="108000"/>
              </a:lnSpc>
              <a:spcAft>
                <a:spcPts val="300"/>
              </a:spcAft>
            </a:pPr>
            <a:r>
              <a:rPr sz="1500" b="1" i="0" dirty="0">
                <a:solidFill>
                  <a:srgbClr val="0F1129"/>
                </a:solidFill>
                <a:latin typeface="Montserrat"/>
              </a:rPr>
              <a:t>Grievance &amp; remedy</a:t>
            </a:r>
          </a:p>
        </p:txBody>
      </p:sp>
      <p:sp>
        <p:nvSpPr>
          <p:cNvPr id="15" name="TextBox 14"/>
          <p:cNvSpPr txBox="1"/>
          <p:nvPr/>
        </p:nvSpPr>
        <p:spPr>
          <a:xfrm>
            <a:off x="777240" y="2788920"/>
            <a:ext cx="4951476" cy="822960"/>
          </a:xfrm>
          <a:prstGeom prst="rect">
            <a:avLst/>
          </a:prstGeom>
          <a:noFill/>
        </p:spPr>
        <p:txBody>
          <a:bodyPr wrap="square" lIns="0" tIns="0" rIns="0" bIns="0" anchor="t">
            <a:spAutoFit/>
          </a:bodyPr>
          <a:lstStyle/>
          <a:p>
            <a:pPr>
              <a:lnSpc>
                <a:spcPct val="108000"/>
              </a:lnSpc>
              <a:spcAft>
                <a:spcPts val="300"/>
              </a:spcAft>
            </a:pPr>
            <a:r>
              <a:rPr sz="1150" b="0" i="0" dirty="0">
                <a:solidFill>
                  <a:srgbClr val="2A2C45"/>
                </a:solidFill>
                <a:latin typeface="Montserrat"/>
              </a:rPr>
              <a:t>Customers and workers have a trusted, rights-compatible channel, and harms are remedied fairly and on time.</a:t>
            </a:r>
          </a:p>
        </p:txBody>
      </p:sp>
      <p:sp>
        <p:nvSpPr>
          <p:cNvPr id="16" name="Rounded Rectangle 15"/>
          <p:cNvSpPr/>
          <p:nvPr/>
        </p:nvSpPr>
        <p:spPr>
          <a:xfrm>
            <a:off x="777240" y="3657600"/>
            <a:ext cx="4951476" cy="292608"/>
          </a:xfrm>
          <a:prstGeom prst="roundRect">
            <a:avLst>
              <a:gd name="adj" fmla="val 50000"/>
            </a:avLst>
          </a:prstGeom>
          <a:solidFill>
            <a:srgbClr val="E3F5EA"/>
          </a:solidFill>
          <a:ln>
            <a:noFill/>
          </a:ln>
          <a:effectLst/>
        </p:spPr>
        <p:txBody>
          <a:bodyPr rtlCol="0" anchor="ctr"/>
          <a:lstStyle/>
          <a:p>
            <a:pPr algn="ctr"/>
            <a:endParaRPr/>
          </a:p>
        </p:txBody>
      </p:sp>
      <p:sp>
        <p:nvSpPr>
          <p:cNvPr id="17" name="TextBox 16"/>
          <p:cNvSpPr txBox="1"/>
          <p:nvPr/>
        </p:nvSpPr>
        <p:spPr>
          <a:xfrm>
            <a:off x="777240" y="3657600"/>
            <a:ext cx="4951476" cy="292608"/>
          </a:xfrm>
          <a:prstGeom prst="rect">
            <a:avLst/>
          </a:prstGeom>
          <a:noFill/>
        </p:spPr>
        <p:txBody>
          <a:bodyPr wrap="square" lIns="0" tIns="0" rIns="0" bIns="0" anchor="ctr">
            <a:spAutoFit/>
          </a:bodyPr>
          <a:lstStyle/>
          <a:p>
            <a:pPr algn="ctr">
              <a:lnSpc>
                <a:spcPct val="108000"/>
              </a:lnSpc>
              <a:spcAft>
                <a:spcPts val="300"/>
              </a:spcAft>
            </a:pPr>
            <a:r>
              <a:rPr sz="900" b="1" i="0">
                <a:solidFill>
                  <a:srgbClr val="15803D"/>
                </a:solidFill>
                <a:latin typeface="Montserrat"/>
              </a:rPr>
              <a:t>Target: upgraded mechanism live by Q1 2028</a:t>
            </a:r>
          </a:p>
        </p:txBody>
      </p:sp>
      <p:sp>
        <p:nvSpPr>
          <p:cNvPr id="18" name="TextBox 17"/>
          <p:cNvSpPr txBox="1"/>
          <p:nvPr/>
        </p:nvSpPr>
        <p:spPr>
          <a:xfrm>
            <a:off x="777240" y="4069080"/>
            <a:ext cx="4951476" cy="274320"/>
          </a:xfrm>
          <a:prstGeom prst="rect">
            <a:avLst/>
          </a:prstGeom>
          <a:noFill/>
        </p:spPr>
        <p:txBody>
          <a:bodyPr wrap="square" lIns="0" tIns="0" rIns="0" bIns="0" anchor="t">
            <a:spAutoFit/>
          </a:bodyPr>
          <a:lstStyle/>
          <a:p>
            <a:pPr>
              <a:lnSpc>
                <a:spcPct val="108000"/>
              </a:lnSpc>
              <a:spcAft>
                <a:spcPts val="300"/>
              </a:spcAft>
            </a:pPr>
            <a:r>
              <a:rPr sz="850" b="0" i="1">
                <a:solidFill>
                  <a:srgbClr val="6B6F8A"/>
                </a:solidFill>
                <a:latin typeface="Montserrat"/>
              </a:rPr>
              <a:t>Detailed in: Preparing for Remedy · Grievance Mechanisms</a:t>
            </a:r>
          </a:p>
        </p:txBody>
      </p:sp>
      <p:sp>
        <p:nvSpPr>
          <p:cNvPr id="19" name="Rounded Rectangle 18"/>
          <p:cNvSpPr/>
          <p:nvPr/>
        </p:nvSpPr>
        <p:spPr>
          <a:xfrm>
            <a:off x="6231636" y="2011680"/>
            <a:ext cx="5408676" cy="2514600"/>
          </a:xfrm>
          <a:prstGeom prst="roundRect">
            <a:avLst>
              <a:gd name="adj" fmla="val 3636"/>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0" name="Rounded Rectangle 19"/>
          <p:cNvSpPr/>
          <p:nvPr/>
        </p:nvSpPr>
        <p:spPr>
          <a:xfrm>
            <a:off x="6460236" y="2212848"/>
            <a:ext cx="420624" cy="420624"/>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21" name="TextBox 20"/>
          <p:cNvSpPr txBox="1"/>
          <p:nvPr/>
        </p:nvSpPr>
        <p:spPr>
          <a:xfrm>
            <a:off x="6460236" y="2212848"/>
            <a:ext cx="420624" cy="420624"/>
          </a:xfrm>
          <a:prstGeom prst="rect">
            <a:avLst/>
          </a:prstGeom>
          <a:noFill/>
        </p:spPr>
        <p:txBody>
          <a:bodyPr wrap="square" lIns="0" tIns="0" rIns="0" bIns="0" anchor="ctr">
            <a:spAutoFit/>
          </a:bodyPr>
          <a:lstStyle/>
          <a:p>
            <a:pPr algn="ctr">
              <a:lnSpc>
                <a:spcPct val="108000"/>
              </a:lnSpc>
              <a:spcAft>
                <a:spcPts val="300"/>
              </a:spcAft>
            </a:pPr>
            <a:r>
              <a:rPr sz="1300" b="1" i="0">
                <a:solidFill>
                  <a:srgbClr val="FFFFFF"/>
                </a:solidFill>
                <a:latin typeface="Montserrat"/>
              </a:rPr>
              <a:t>B</a:t>
            </a:r>
          </a:p>
        </p:txBody>
      </p:sp>
      <p:sp>
        <p:nvSpPr>
          <p:cNvPr id="22" name="TextBox 21"/>
          <p:cNvSpPr txBox="1"/>
          <p:nvPr/>
        </p:nvSpPr>
        <p:spPr>
          <a:xfrm>
            <a:off x="7008875" y="2212848"/>
            <a:ext cx="4402836" cy="420624"/>
          </a:xfrm>
          <a:prstGeom prst="rect">
            <a:avLst/>
          </a:prstGeom>
          <a:noFill/>
        </p:spPr>
        <p:txBody>
          <a:bodyPr wrap="square" lIns="0" tIns="0" rIns="0" bIns="0" anchor="ctr">
            <a:spAutoFit/>
          </a:bodyPr>
          <a:lstStyle/>
          <a:p>
            <a:pPr>
              <a:lnSpc>
                <a:spcPct val="108000"/>
              </a:lnSpc>
              <a:spcAft>
                <a:spcPts val="300"/>
              </a:spcAft>
            </a:pPr>
            <a:r>
              <a:rPr sz="1500" b="1" i="0">
                <a:solidFill>
                  <a:srgbClr val="0F1129"/>
                </a:solidFill>
                <a:latin typeface="Montserrat"/>
              </a:rPr>
              <a:t>Human rights disclosure</a:t>
            </a:r>
          </a:p>
        </p:txBody>
      </p:sp>
      <p:sp>
        <p:nvSpPr>
          <p:cNvPr id="23" name="TextBox 22"/>
          <p:cNvSpPr txBox="1"/>
          <p:nvPr/>
        </p:nvSpPr>
        <p:spPr>
          <a:xfrm>
            <a:off x="6460236" y="2788920"/>
            <a:ext cx="4951476" cy="822960"/>
          </a:xfrm>
          <a:prstGeom prst="rect">
            <a:avLst/>
          </a:prstGeom>
          <a:noFill/>
        </p:spPr>
        <p:txBody>
          <a:bodyPr wrap="square" lIns="0" tIns="0" rIns="0" bIns="0" anchor="t">
            <a:spAutoFit/>
          </a:bodyPr>
          <a:lstStyle/>
          <a:p>
            <a:pPr>
              <a:lnSpc>
                <a:spcPct val="108000"/>
              </a:lnSpc>
              <a:spcAft>
                <a:spcPts val="300"/>
              </a:spcAft>
            </a:pPr>
            <a:r>
              <a:rPr sz="1150" b="0" i="0">
                <a:solidFill>
                  <a:srgbClr val="2A2C45"/>
                </a:solidFill>
                <a:latin typeface="Montserrat"/>
              </a:rPr>
              <a:t>Kapital Bank reports every year on its salient issues, actions, KPIs and remedy outcomes.</a:t>
            </a:r>
          </a:p>
        </p:txBody>
      </p:sp>
      <p:sp>
        <p:nvSpPr>
          <p:cNvPr id="24" name="Rounded Rectangle 23"/>
          <p:cNvSpPr/>
          <p:nvPr/>
        </p:nvSpPr>
        <p:spPr>
          <a:xfrm>
            <a:off x="6460236" y="3657600"/>
            <a:ext cx="4951476" cy="292608"/>
          </a:xfrm>
          <a:prstGeom prst="roundRect">
            <a:avLst>
              <a:gd name="adj" fmla="val 50000"/>
            </a:avLst>
          </a:prstGeom>
          <a:solidFill>
            <a:srgbClr val="E3F5EA"/>
          </a:solidFill>
          <a:ln>
            <a:noFill/>
          </a:ln>
          <a:effectLst/>
        </p:spPr>
        <p:txBody>
          <a:bodyPr rtlCol="0" anchor="ctr"/>
          <a:lstStyle/>
          <a:p>
            <a:pPr algn="ctr"/>
            <a:endParaRPr/>
          </a:p>
        </p:txBody>
      </p:sp>
      <p:sp>
        <p:nvSpPr>
          <p:cNvPr id="25" name="TextBox 24"/>
          <p:cNvSpPr txBox="1"/>
          <p:nvPr/>
        </p:nvSpPr>
        <p:spPr>
          <a:xfrm>
            <a:off x="6460236" y="3657600"/>
            <a:ext cx="4951476" cy="292608"/>
          </a:xfrm>
          <a:prstGeom prst="rect">
            <a:avLst/>
          </a:prstGeom>
          <a:noFill/>
        </p:spPr>
        <p:txBody>
          <a:bodyPr wrap="square" lIns="0" tIns="0" rIns="0" bIns="0" anchor="ctr">
            <a:spAutoFit/>
          </a:bodyPr>
          <a:lstStyle/>
          <a:p>
            <a:pPr algn="ctr">
              <a:lnSpc>
                <a:spcPct val="108000"/>
              </a:lnSpc>
              <a:spcAft>
                <a:spcPts val="300"/>
              </a:spcAft>
            </a:pPr>
            <a:r>
              <a:rPr sz="900" b="1" i="0">
                <a:solidFill>
                  <a:srgbClr val="15803D"/>
                </a:solidFill>
                <a:latin typeface="Montserrat"/>
              </a:rPr>
              <a:t>Target: first disclosure in the UNGC CoP, 31 July 2027</a:t>
            </a:r>
          </a:p>
        </p:txBody>
      </p:sp>
      <p:sp>
        <p:nvSpPr>
          <p:cNvPr id="26" name="TextBox 25"/>
          <p:cNvSpPr txBox="1"/>
          <p:nvPr/>
        </p:nvSpPr>
        <p:spPr>
          <a:xfrm>
            <a:off x="6460236" y="4069080"/>
            <a:ext cx="4951476" cy="274320"/>
          </a:xfrm>
          <a:prstGeom prst="rect">
            <a:avLst/>
          </a:prstGeom>
          <a:noFill/>
        </p:spPr>
        <p:txBody>
          <a:bodyPr wrap="square" lIns="0" tIns="0" rIns="0" bIns="0" anchor="t">
            <a:spAutoFit/>
          </a:bodyPr>
          <a:lstStyle/>
          <a:p>
            <a:pPr>
              <a:lnSpc>
                <a:spcPct val="108000"/>
              </a:lnSpc>
              <a:spcAft>
                <a:spcPts val="300"/>
              </a:spcAft>
            </a:pPr>
            <a:r>
              <a:rPr sz="850" b="0" i="1">
                <a:solidFill>
                  <a:srgbClr val="6B6F8A"/>
                </a:solidFill>
                <a:latin typeface="Montserrat"/>
              </a:rPr>
              <a:t>Detailed in: HRDD Step 3 Tracking · Step 4 Communicating</a:t>
            </a:r>
          </a:p>
        </p:txBody>
      </p:sp>
      <p:sp>
        <p:nvSpPr>
          <p:cNvPr id="27" name="TextBox 26"/>
          <p:cNvSpPr txBox="1"/>
          <p:nvPr/>
        </p:nvSpPr>
        <p:spPr>
          <a:xfrm>
            <a:off x="548640" y="4681728"/>
            <a:ext cx="11091672" cy="274320"/>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Enablers for both focus areas</a:t>
            </a:r>
          </a:p>
        </p:txBody>
      </p:sp>
      <p:sp>
        <p:nvSpPr>
          <p:cNvPr id="28" name="Rounded Rectangle 27"/>
          <p:cNvSpPr/>
          <p:nvPr/>
        </p:nvSpPr>
        <p:spPr>
          <a:xfrm>
            <a:off x="548640" y="5010912"/>
            <a:ext cx="3575304" cy="1298448"/>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9" name="TextBox 28"/>
          <p:cNvSpPr txBox="1"/>
          <p:nvPr/>
        </p:nvSpPr>
        <p:spPr>
          <a:xfrm>
            <a:off x="749808" y="5138928"/>
            <a:ext cx="3209544" cy="274320"/>
          </a:xfrm>
          <a:prstGeom prst="rect">
            <a:avLst/>
          </a:prstGeom>
          <a:noFill/>
        </p:spPr>
        <p:txBody>
          <a:bodyPr wrap="square" lIns="0" tIns="0" rIns="0" bIns="0" anchor="t">
            <a:spAutoFit/>
          </a:bodyPr>
          <a:lstStyle/>
          <a:p>
            <a:pPr>
              <a:lnSpc>
                <a:spcPct val="108000"/>
              </a:lnSpc>
              <a:spcAft>
                <a:spcPts val="300"/>
              </a:spcAft>
            </a:pPr>
            <a:r>
              <a:rPr sz="1050" b="1" i="0">
                <a:solidFill>
                  <a:srgbClr val="E4202E"/>
                </a:solidFill>
                <a:latin typeface="Montserrat"/>
              </a:rPr>
              <a:t>Human Rights Policy</a:t>
            </a:r>
          </a:p>
        </p:txBody>
      </p:sp>
      <p:sp>
        <p:nvSpPr>
          <p:cNvPr id="30" name="TextBox 29"/>
          <p:cNvSpPr txBox="1"/>
          <p:nvPr/>
        </p:nvSpPr>
        <p:spPr>
          <a:xfrm>
            <a:off x="749808" y="5468112"/>
            <a:ext cx="3209544" cy="777240"/>
          </a:xfrm>
          <a:prstGeom prst="rect">
            <a:avLst/>
          </a:prstGeom>
          <a:noFill/>
        </p:spPr>
        <p:txBody>
          <a:bodyPr wrap="square" lIns="0" tIns="0" rIns="0" bIns="0" anchor="t">
            <a:spAutoFit/>
          </a:bodyPr>
          <a:lstStyle/>
          <a:p>
            <a:pPr>
              <a:lnSpc>
                <a:spcPct val="105000"/>
              </a:lnSpc>
              <a:spcAft>
                <a:spcPts val="300"/>
              </a:spcAft>
            </a:pPr>
            <a:r>
              <a:rPr sz="900" b="0" i="0">
                <a:solidFill>
                  <a:srgbClr val="2A2C45"/>
                </a:solidFill>
                <a:latin typeface="Montserrat"/>
              </a:rPr>
              <a:t>board-approved; covers customers, workers, suppliers and financed clients</a:t>
            </a:r>
          </a:p>
        </p:txBody>
      </p:sp>
      <p:sp>
        <p:nvSpPr>
          <p:cNvPr id="31" name="Rounded Rectangle 30"/>
          <p:cNvSpPr/>
          <p:nvPr/>
        </p:nvSpPr>
        <p:spPr>
          <a:xfrm>
            <a:off x="4306824" y="5010912"/>
            <a:ext cx="3575304" cy="1298448"/>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32" name="TextBox 31"/>
          <p:cNvSpPr txBox="1"/>
          <p:nvPr/>
        </p:nvSpPr>
        <p:spPr>
          <a:xfrm>
            <a:off x="4507992" y="5138928"/>
            <a:ext cx="3209544" cy="274320"/>
          </a:xfrm>
          <a:prstGeom prst="rect">
            <a:avLst/>
          </a:prstGeom>
          <a:noFill/>
        </p:spPr>
        <p:txBody>
          <a:bodyPr wrap="square" lIns="0" tIns="0" rIns="0" bIns="0" anchor="t">
            <a:spAutoFit/>
          </a:bodyPr>
          <a:lstStyle/>
          <a:p>
            <a:pPr>
              <a:lnSpc>
                <a:spcPct val="108000"/>
              </a:lnSpc>
              <a:spcAft>
                <a:spcPts val="300"/>
              </a:spcAft>
            </a:pPr>
            <a:r>
              <a:rPr sz="1050" b="1" i="0">
                <a:solidFill>
                  <a:srgbClr val="E4202E"/>
                </a:solidFill>
                <a:latin typeface="Montserrat"/>
              </a:rPr>
              <a:t>HRDD in core processes</a:t>
            </a:r>
          </a:p>
        </p:txBody>
      </p:sp>
      <p:sp>
        <p:nvSpPr>
          <p:cNvPr id="33" name="TextBox 32"/>
          <p:cNvSpPr txBox="1"/>
          <p:nvPr/>
        </p:nvSpPr>
        <p:spPr>
          <a:xfrm>
            <a:off x="4507992" y="5468112"/>
            <a:ext cx="3209544" cy="777240"/>
          </a:xfrm>
          <a:prstGeom prst="rect">
            <a:avLst/>
          </a:prstGeom>
          <a:noFill/>
        </p:spPr>
        <p:txBody>
          <a:bodyPr wrap="square" lIns="0" tIns="0" rIns="0" bIns="0" anchor="t">
            <a:spAutoFit/>
          </a:bodyPr>
          <a:lstStyle/>
          <a:p>
            <a:pPr>
              <a:lnSpc>
                <a:spcPct val="105000"/>
              </a:lnSpc>
              <a:spcAft>
                <a:spcPts val="300"/>
              </a:spcAft>
            </a:pPr>
            <a:r>
              <a:rPr sz="900" b="0" i="0">
                <a:solidFill>
                  <a:srgbClr val="2A2C45"/>
                </a:solidFill>
                <a:latin typeface="Montserrat"/>
              </a:rPr>
              <a:t>checks in credit policy, product approval, AI governance and procurement</a:t>
            </a:r>
          </a:p>
        </p:txBody>
      </p:sp>
      <p:sp>
        <p:nvSpPr>
          <p:cNvPr id="34" name="Rounded Rectangle 33"/>
          <p:cNvSpPr/>
          <p:nvPr/>
        </p:nvSpPr>
        <p:spPr>
          <a:xfrm>
            <a:off x="8065008" y="5010912"/>
            <a:ext cx="3575304" cy="1298448"/>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35" name="TextBox 34"/>
          <p:cNvSpPr txBox="1"/>
          <p:nvPr/>
        </p:nvSpPr>
        <p:spPr>
          <a:xfrm>
            <a:off x="8266176" y="5138928"/>
            <a:ext cx="3209544" cy="274320"/>
          </a:xfrm>
          <a:prstGeom prst="rect">
            <a:avLst/>
          </a:prstGeom>
          <a:noFill/>
        </p:spPr>
        <p:txBody>
          <a:bodyPr wrap="square" lIns="0" tIns="0" rIns="0" bIns="0" anchor="t">
            <a:spAutoFit/>
          </a:bodyPr>
          <a:lstStyle/>
          <a:p>
            <a:pPr>
              <a:lnSpc>
                <a:spcPct val="108000"/>
              </a:lnSpc>
              <a:spcAft>
                <a:spcPts val="300"/>
              </a:spcAft>
            </a:pPr>
            <a:r>
              <a:rPr sz="1050" b="1" i="0">
                <a:solidFill>
                  <a:srgbClr val="E4202E"/>
                </a:solidFill>
                <a:latin typeface="Montserrat"/>
              </a:rPr>
              <a:t>Behavioral Model</a:t>
            </a:r>
          </a:p>
        </p:txBody>
      </p:sp>
      <p:sp>
        <p:nvSpPr>
          <p:cNvPr id="36" name="TextBox 35"/>
          <p:cNvSpPr txBox="1"/>
          <p:nvPr/>
        </p:nvSpPr>
        <p:spPr>
          <a:xfrm>
            <a:off x="8266176" y="5468112"/>
            <a:ext cx="3209544" cy="777240"/>
          </a:xfrm>
          <a:prstGeom prst="rect">
            <a:avLst/>
          </a:prstGeom>
          <a:noFill/>
        </p:spPr>
        <p:txBody>
          <a:bodyPr wrap="square" lIns="0" tIns="0" rIns="0" bIns="0" anchor="t">
            <a:spAutoFit/>
          </a:bodyPr>
          <a:lstStyle/>
          <a:p>
            <a:pPr>
              <a:lnSpc>
                <a:spcPct val="105000"/>
              </a:lnSpc>
              <a:spcAft>
                <a:spcPts val="300"/>
              </a:spcAft>
            </a:pPr>
            <a:r>
              <a:rPr sz="900" b="0" i="0">
                <a:solidFill>
                  <a:srgbClr val="2A2C45"/>
                </a:solidFill>
                <a:latin typeface="Montserrat"/>
              </a:rPr>
              <a:t>human rights guiding question for each principle (next slide)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9</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Human Rights Journey Gap Assessment – future focus (2/2)</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11091672" cy="3886200"/>
          </a:xfrm>
          <a:prstGeom prst="roundRect">
            <a:avLst>
              <a:gd name="adj" fmla="val 2352"/>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graphicFrame>
        <p:nvGraphicFramePr>
          <p:cNvPr id="12" name="Table 11"/>
          <p:cNvGraphicFramePr>
            <a:graphicFrameLocks noGrp="1"/>
          </p:cNvGraphicFramePr>
          <p:nvPr/>
        </p:nvGraphicFramePr>
        <p:xfrm>
          <a:off x="685800" y="2103120"/>
          <a:ext cx="10817352" cy="3648449"/>
        </p:xfrm>
        <a:graphic>
          <a:graphicData uri="http://schemas.openxmlformats.org/drawingml/2006/table">
            <a:tbl>
              <a:tblPr>
                <a:tableStyleId>{2D5ABB26-0587-4C30-8999-92F81FD0307C}</a:tableStyleId>
              </a:tblPr>
              <a:tblGrid>
                <a:gridCol w="2148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816352">
                  <a:extLst>
                    <a:ext uri="{9D8B030D-6E8A-4147-A177-3AD203B41FA5}">
                      <a16:colId xmlns:a16="http://schemas.microsoft.com/office/drawing/2014/main" val="20003"/>
                    </a:ext>
                  </a:extLst>
                </a:gridCol>
              </a:tblGrid>
              <a:tr h="521207">
                <a:tc>
                  <a:txBody>
                    <a:bodyPr/>
                    <a:lstStyle/>
                    <a:p>
                      <a:pPr>
                        <a:lnSpc>
                          <a:spcPct val="102000"/>
                        </a:lnSpc>
                      </a:pPr>
                      <a:r>
                        <a:rPr sz="880" b="1" i="0">
                          <a:solidFill>
                            <a:srgbClr val="6B6F8A"/>
                          </a:solidFill>
                          <a:latin typeface="Montserrat"/>
                        </a:rPr>
                        <a:t>Principle</a:t>
                      </a:r>
                    </a:p>
                  </a:txBody>
                  <a:tcPr marL="64008" marR="64008" anchor="ctr">
                    <a:solidFill>
                      <a:srgbClr val="F2F3F8"/>
                    </a:solidFill>
                  </a:tcPr>
                </a:tc>
                <a:tc>
                  <a:txBody>
                    <a:bodyPr/>
                    <a:lstStyle/>
                    <a:p>
                      <a:pPr>
                        <a:lnSpc>
                          <a:spcPct val="102000"/>
                        </a:lnSpc>
                      </a:pPr>
                      <a:r>
                        <a:rPr sz="880" b="1" i="0">
                          <a:solidFill>
                            <a:srgbClr val="6B6F8A"/>
                          </a:solidFill>
                          <a:latin typeface="Montserrat"/>
                        </a:rPr>
                        <a:t>Supports human rights by…</a:t>
                      </a:r>
                    </a:p>
                  </a:txBody>
                  <a:tcPr marL="64008" marR="64008" anchor="ctr">
                    <a:solidFill>
                      <a:srgbClr val="F2F3F8"/>
                    </a:solidFill>
                  </a:tcPr>
                </a:tc>
                <a:tc>
                  <a:txBody>
                    <a:bodyPr/>
                    <a:lstStyle/>
                    <a:p>
                      <a:pPr>
                        <a:lnSpc>
                          <a:spcPct val="102000"/>
                        </a:lnSpc>
                      </a:pPr>
                      <a:r>
                        <a:rPr sz="880" b="1" i="0">
                          <a:solidFill>
                            <a:srgbClr val="6B6F8A"/>
                          </a:solidFill>
                          <a:latin typeface="Montserrat"/>
                        </a:rPr>
                        <a:t>Could create risk if…</a:t>
                      </a:r>
                    </a:p>
                  </a:txBody>
                  <a:tcPr marL="64008" marR="64008" anchor="ctr">
                    <a:solidFill>
                      <a:srgbClr val="F2F3F8"/>
                    </a:solidFill>
                  </a:tcPr>
                </a:tc>
                <a:tc>
                  <a:txBody>
                    <a:bodyPr/>
                    <a:lstStyle/>
                    <a:p>
                      <a:pPr>
                        <a:lnSpc>
                          <a:spcPct val="102000"/>
                        </a:lnSpc>
                      </a:pPr>
                      <a:r>
                        <a:rPr sz="880" b="1" i="0">
                          <a:solidFill>
                            <a:srgbClr val="6B6F8A"/>
                          </a:solidFill>
                          <a:latin typeface="Montserrat"/>
                        </a:rPr>
                        <a:t>Guiding question</a:t>
                      </a:r>
                    </a:p>
                  </a:txBody>
                  <a:tcPr marL="64008" marR="64008" anchor="ctr">
                    <a:solidFill>
                      <a:srgbClr val="F2F3F8"/>
                    </a:solidFill>
                  </a:tcPr>
                </a:tc>
                <a:extLst>
                  <a:ext uri="{0D108BD9-81ED-4DB2-BD59-A6C34878D82A}">
                    <a16:rowId xmlns:a16="http://schemas.microsoft.com/office/drawing/2014/main" val="10000"/>
                  </a:ext>
                </a:extLst>
              </a:tr>
              <a:tr h="521207">
                <a:tc>
                  <a:txBody>
                    <a:bodyPr/>
                    <a:lstStyle/>
                    <a:p>
                      <a:pPr>
                        <a:lnSpc>
                          <a:spcPct val="102000"/>
                        </a:lnSpc>
                      </a:pPr>
                      <a:r>
                        <a:rPr sz="930" b="1" i="0">
                          <a:solidFill>
                            <a:srgbClr val="0F1129"/>
                          </a:solidFill>
                          <a:latin typeface="Montserrat"/>
                        </a:rPr>
                        <a:t>Think big</a:t>
                      </a:r>
                    </a:p>
                  </a:txBody>
                  <a:tcPr marL="64008" marR="64008" anchor="ctr">
                    <a:solidFill>
                      <a:srgbClr val="FFFFFF"/>
                    </a:solidFill>
                  </a:tcPr>
                </a:tc>
                <a:tc>
                  <a:txBody>
                    <a:bodyPr/>
                    <a:lstStyle/>
                    <a:p>
                      <a:pPr>
                        <a:lnSpc>
                          <a:spcPct val="102000"/>
                        </a:lnSpc>
                      </a:pPr>
                      <a:r>
                        <a:rPr sz="930" b="0" i="0">
                          <a:solidFill>
                            <a:srgbClr val="2A2C45"/>
                          </a:solidFill>
                          <a:latin typeface="Montserrat"/>
                        </a:rPr>
                        <a:t>extending financial services to millions</a:t>
                      </a:r>
                    </a:p>
                  </a:txBody>
                  <a:tcPr marL="64008" marR="64008" anchor="ctr">
                    <a:solidFill>
                      <a:srgbClr val="FFFFFF"/>
                    </a:solidFill>
                  </a:tcPr>
                </a:tc>
                <a:tc>
                  <a:txBody>
                    <a:bodyPr/>
                    <a:lstStyle/>
                    <a:p>
                      <a:pPr>
                        <a:lnSpc>
                          <a:spcPct val="102000"/>
                        </a:lnSpc>
                      </a:pPr>
                      <a:r>
                        <a:rPr sz="930" b="0" i="0">
                          <a:solidFill>
                            <a:srgbClr val="2A2C45"/>
                          </a:solidFill>
                          <a:latin typeface="Montserrat"/>
                        </a:rPr>
                        <a:t>one design error hits thousands at once</a:t>
                      </a:r>
                    </a:p>
                  </a:txBody>
                  <a:tcPr marL="64008" marR="64008" anchor="ctr">
                    <a:solidFill>
                      <a:srgbClr val="FFFFFF"/>
                    </a:solidFill>
                  </a:tcPr>
                </a:tc>
                <a:tc>
                  <a:txBody>
                    <a:bodyPr/>
                    <a:lstStyle/>
                    <a:p>
                      <a:pPr>
                        <a:lnSpc>
                          <a:spcPct val="102000"/>
                        </a:lnSpc>
                      </a:pPr>
                      <a:r>
                        <a:rPr sz="930" b="0" i="0">
                          <a:solidFill>
                            <a:srgbClr val="2A2C45"/>
                          </a:solidFill>
                          <a:latin typeface="Montserrat"/>
                        </a:rPr>
                        <a:t>If this fails, who is harmed and how many?</a:t>
                      </a:r>
                    </a:p>
                  </a:txBody>
                  <a:tcPr marL="64008" marR="64008" anchor="ctr">
                    <a:solidFill>
                      <a:srgbClr val="FFFFFF"/>
                    </a:solidFill>
                  </a:tcPr>
                </a:tc>
                <a:extLst>
                  <a:ext uri="{0D108BD9-81ED-4DB2-BD59-A6C34878D82A}">
                    <a16:rowId xmlns:a16="http://schemas.microsoft.com/office/drawing/2014/main" val="10001"/>
                  </a:ext>
                </a:extLst>
              </a:tr>
              <a:tr h="521207">
                <a:tc>
                  <a:txBody>
                    <a:bodyPr/>
                    <a:lstStyle/>
                    <a:p>
                      <a:pPr>
                        <a:lnSpc>
                          <a:spcPct val="102000"/>
                        </a:lnSpc>
                      </a:pPr>
                      <a:r>
                        <a:rPr sz="930" b="1" i="0">
                          <a:solidFill>
                            <a:srgbClr val="0F1129"/>
                          </a:solidFill>
                          <a:latin typeface="Montserrat"/>
                        </a:rPr>
                        <a:t>Kapital Bank first</a:t>
                      </a:r>
                    </a:p>
                  </a:txBody>
                  <a:tcPr marL="64008" marR="64008" anchor="ctr">
                    <a:solidFill>
                      <a:srgbClr val="FFFFFF"/>
                    </a:solidFill>
                  </a:tcPr>
                </a:tc>
                <a:tc>
                  <a:txBody>
                    <a:bodyPr/>
                    <a:lstStyle/>
                    <a:p>
                      <a:pPr>
                        <a:lnSpc>
                          <a:spcPct val="102000"/>
                        </a:lnSpc>
                      </a:pPr>
                      <a:r>
                        <a:rPr sz="930" b="0" i="0">
                          <a:solidFill>
                            <a:srgbClr val="2A2C45"/>
                          </a:solidFill>
                          <a:latin typeface="Montserrat"/>
                        </a:rPr>
                        <a:t>shared infrastructure; support for women and regional entrepreneurs</a:t>
                      </a:r>
                    </a:p>
                  </a:txBody>
                  <a:tcPr marL="64008" marR="64008" anchor="ctr">
                    <a:solidFill>
                      <a:srgbClr val="FFFFFF"/>
                    </a:solidFill>
                  </a:tcPr>
                </a:tc>
                <a:tc>
                  <a:txBody>
                    <a:bodyPr/>
                    <a:lstStyle/>
                    <a:p>
                      <a:pPr>
                        <a:lnSpc>
                          <a:spcPct val="102000"/>
                        </a:lnSpc>
                      </a:pPr>
                      <a:r>
                        <a:rPr sz="930" b="0" i="0">
                          <a:solidFill>
                            <a:srgbClr val="2A2C45"/>
                          </a:solidFill>
                          <a:latin typeface="Montserrat"/>
                        </a:rPr>
                        <a:t>business goals override customer interests</a:t>
                      </a:r>
                    </a:p>
                  </a:txBody>
                  <a:tcPr marL="64008" marR="64008" anchor="ctr">
                    <a:solidFill>
                      <a:srgbClr val="FFFFFF"/>
                    </a:solidFill>
                  </a:tcPr>
                </a:tc>
                <a:tc>
                  <a:txBody>
                    <a:bodyPr/>
                    <a:lstStyle/>
                    <a:p>
                      <a:pPr>
                        <a:lnSpc>
                          <a:spcPct val="102000"/>
                        </a:lnSpc>
                      </a:pPr>
                      <a:r>
                        <a:rPr sz="930" b="0" i="0">
                          <a:solidFill>
                            <a:srgbClr val="2A2C45"/>
                          </a:solidFill>
                          <a:latin typeface="Montserrat"/>
                        </a:rPr>
                        <a:t>Does this help the bank at a customer’s expense?</a:t>
                      </a:r>
                    </a:p>
                  </a:txBody>
                  <a:tcPr marL="64008" marR="64008" anchor="ctr">
                    <a:solidFill>
                      <a:srgbClr val="FFFFFF"/>
                    </a:solidFill>
                  </a:tcPr>
                </a:tc>
                <a:extLst>
                  <a:ext uri="{0D108BD9-81ED-4DB2-BD59-A6C34878D82A}">
                    <a16:rowId xmlns:a16="http://schemas.microsoft.com/office/drawing/2014/main" val="10002"/>
                  </a:ext>
                </a:extLst>
              </a:tr>
              <a:tr h="521207">
                <a:tc>
                  <a:txBody>
                    <a:bodyPr/>
                    <a:lstStyle/>
                    <a:p>
                      <a:pPr>
                        <a:lnSpc>
                          <a:spcPct val="102000"/>
                        </a:lnSpc>
                      </a:pPr>
                      <a:r>
                        <a:rPr sz="930" b="1" i="0">
                          <a:solidFill>
                            <a:srgbClr val="0F1129"/>
                          </a:solidFill>
                          <a:latin typeface="Montserrat"/>
                        </a:rPr>
                        <a:t>Seamless experience</a:t>
                      </a:r>
                    </a:p>
                  </a:txBody>
                  <a:tcPr marL="64008" marR="64008" anchor="ctr">
                    <a:solidFill>
                      <a:srgbClr val="FFFFFF"/>
                    </a:solidFill>
                  </a:tcPr>
                </a:tc>
                <a:tc>
                  <a:txBody>
                    <a:bodyPr/>
                    <a:lstStyle/>
                    <a:p>
                      <a:pPr>
                        <a:lnSpc>
                          <a:spcPct val="102000"/>
                        </a:lnSpc>
                      </a:pPr>
                      <a:r>
                        <a:rPr sz="930" b="0" i="0">
                          <a:solidFill>
                            <a:srgbClr val="2A2C45"/>
                          </a:solidFill>
                          <a:latin typeface="Montserrat"/>
                        </a:rPr>
                        <a:t>simple, accessible services</a:t>
                      </a:r>
                    </a:p>
                  </a:txBody>
                  <a:tcPr marL="64008" marR="64008" anchor="ctr">
                    <a:solidFill>
                      <a:srgbClr val="FFFFFF"/>
                    </a:solidFill>
                  </a:tcPr>
                </a:tc>
                <a:tc>
                  <a:txBody>
                    <a:bodyPr/>
                    <a:lstStyle/>
                    <a:p>
                      <a:pPr>
                        <a:lnSpc>
                          <a:spcPct val="102000"/>
                        </a:lnSpc>
                      </a:pPr>
                      <a:r>
                        <a:rPr sz="930" b="0" i="0">
                          <a:solidFill>
                            <a:srgbClr val="2A2C45"/>
                          </a:solidFill>
                          <a:latin typeface="Montserrat"/>
                        </a:rPr>
                        <a:t>credit becomes too easy; less digital users are left out</a:t>
                      </a:r>
                    </a:p>
                  </a:txBody>
                  <a:tcPr marL="64008" marR="64008" anchor="ctr">
                    <a:solidFill>
                      <a:srgbClr val="FFFFFF"/>
                    </a:solidFill>
                  </a:tcPr>
                </a:tc>
                <a:tc>
                  <a:txBody>
                    <a:bodyPr/>
                    <a:lstStyle/>
                    <a:p>
                      <a:pPr>
                        <a:lnSpc>
                          <a:spcPct val="102000"/>
                        </a:lnSpc>
                      </a:pPr>
                      <a:r>
                        <a:rPr sz="930" b="0" i="0">
                          <a:solidFill>
                            <a:srgbClr val="2A2C45"/>
                          </a:solidFill>
                          <a:latin typeface="Montserrat"/>
                        </a:rPr>
                        <a:t>Is it easy to stop, think and say no?</a:t>
                      </a:r>
                    </a:p>
                  </a:txBody>
                  <a:tcPr marL="64008" marR="64008" anchor="ctr">
                    <a:solidFill>
                      <a:srgbClr val="FFFFFF"/>
                    </a:solidFill>
                  </a:tcPr>
                </a:tc>
                <a:extLst>
                  <a:ext uri="{0D108BD9-81ED-4DB2-BD59-A6C34878D82A}">
                    <a16:rowId xmlns:a16="http://schemas.microsoft.com/office/drawing/2014/main" val="10003"/>
                  </a:ext>
                </a:extLst>
              </a:tr>
              <a:tr h="521207">
                <a:tc>
                  <a:txBody>
                    <a:bodyPr/>
                    <a:lstStyle/>
                    <a:p>
                      <a:pPr>
                        <a:lnSpc>
                          <a:spcPct val="102000"/>
                        </a:lnSpc>
                      </a:pPr>
                      <a:r>
                        <a:rPr sz="930" b="1" i="0">
                          <a:solidFill>
                            <a:srgbClr val="0F1129"/>
                          </a:solidFill>
                          <a:latin typeface="Montserrat"/>
                        </a:rPr>
                        <a:t>Speed &amp; quality</a:t>
                      </a:r>
                    </a:p>
                  </a:txBody>
                  <a:tcPr marL="64008" marR="64008" anchor="ctr">
                    <a:solidFill>
                      <a:srgbClr val="FFFFFF"/>
                    </a:solidFill>
                  </a:tcPr>
                </a:tc>
                <a:tc>
                  <a:txBody>
                    <a:bodyPr/>
                    <a:lstStyle/>
                    <a:p>
                      <a:pPr>
                        <a:lnSpc>
                          <a:spcPct val="102000"/>
                        </a:lnSpc>
                      </a:pPr>
                      <a:r>
                        <a:rPr sz="930" b="0" i="0">
                          <a:solidFill>
                            <a:srgbClr val="2A2C45"/>
                          </a:solidFill>
                          <a:latin typeface="Montserrat"/>
                        </a:rPr>
                        <a:t>fast problem resolution</a:t>
                      </a:r>
                    </a:p>
                  </a:txBody>
                  <a:tcPr marL="64008" marR="64008" anchor="ctr">
                    <a:solidFill>
                      <a:srgbClr val="FFFFFF"/>
                    </a:solidFill>
                  </a:tcPr>
                </a:tc>
                <a:tc>
                  <a:txBody>
                    <a:bodyPr/>
                    <a:lstStyle/>
                    <a:p>
                      <a:pPr>
                        <a:lnSpc>
                          <a:spcPct val="102000"/>
                        </a:lnSpc>
                      </a:pPr>
                      <a:r>
                        <a:rPr sz="930" b="0" i="0">
                          <a:solidFill>
                            <a:srgbClr val="2A2C45"/>
                          </a:solidFill>
                          <a:latin typeface="Montserrat"/>
                        </a:rPr>
                        <a:t>staff face workload and sales pressure</a:t>
                      </a:r>
                    </a:p>
                  </a:txBody>
                  <a:tcPr marL="64008" marR="64008" anchor="ctr">
                    <a:solidFill>
                      <a:srgbClr val="FFFFFF"/>
                    </a:solidFill>
                  </a:tcPr>
                </a:tc>
                <a:tc>
                  <a:txBody>
                    <a:bodyPr/>
                    <a:lstStyle/>
                    <a:p>
                      <a:pPr>
                        <a:lnSpc>
                          <a:spcPct val="102000"/>
                        </a:lnSpc>
                      </a:pPr>
                      <a:r>
                        <a:rPr sz="930" b="0" i="0">
                          <a:solidFill>
                            <a:srgbClr val="2A2C45"/>
                          </a:solidFill>
                          <a:latin typeface="Montserrat"/>
                        </a:rPr>
                        <a:t>Who pays the price for this speed?</a:t>
                      </a:r>
                    </a:p>
                  </a:txBody>
                  <a:tcPr marL="64008" marR="64008" anchor="ctr">
                    <a:solidFill>
                      <a:srgbClr val="FFFFFF"/>
                    </a:solidFill>
                  </a:tcPr>
                </a:tc>
                <a:extLst>
                  <a:ext uri="{0D108BD9-81ED-4DB2-BD59-A6C34878D82A}">
                    <a16:rowId xmlns:a16="http://schemas.microsoft.com/office/drawing/2014/main" val="10004"/>
                  </a:ext>
                </a:extLst>
              </a:tr>
              <a:tr h="521207">
                <a:tc>
                  <a:txBody>
                    <a:bodyPr/>
                    <a:lstStyle/>
                    <a:p>
                      <a:pPr>
                        <a:lnSpc>
                          <a:spcPct val="102000"/>
                        </a:lnSpc>
                      </a:pPr>
                      <a:r>
                        <a:rPr sz="930" b="1" i="0">
                          <a:solidFill>
                            <a:srgbClr val="0F1129"/>
                          </a:solidFill>
                          <a:latin typeface="Montserrat"/>
                        </a:rPr>
                        <a:t>Efficiency through technology</a:t>
                      </a:r>
                    </a:p>
                  </a:txBody>
                  <a:tcPr marL="64008" marR="64008" anchor="ctr">
                    <a:solidFill>
                      <a:srgbClr val="FFFFFF"/>
                    </a:solidFill>
                  </a:tcPr>
                </a:tc>
                <a:tc>
                  <a:txBody>
                    <a:bodyPr/>
                    <a:lstStyle/>
                    <a:p>
                      <a:pPr>
                        <a:lnSpc>
                          <a:spcPct val="102000"/>
                        </a:lnSpc>
                      </a:pPr>
                      <a:r>
                        <a:rPr sz="930" b="0" i="0">
                          <a:solidFill>
                            <a:srgbClr val="2A2C45"/>
                          </a:solidFill>
                          <a:latin typeface="Montserrat"/>
                        </a:rPr>
                        <a:t>AI-based fraud prevention</a:t>
                      </a:r>
                    </a:p>
                  </a:txBody>
                  <a:tcPr marL="64008" marR="64008" anchor="ctr">
                    <a:solidFill>
                      <a:srgbClr val="FFFFFF"/>
                    </a:solidFill>
                  </a:tcPr>
                </a:tc>
                <a:tc>
                  <a:txBody>
                    <a:bodyPr/>
                    <a:lstStyle/>
                    <a:p>
                      <a:pPr>
                        <a:lnSpc>
                          <a:spcPct val="102000"/>
                        </a:lnSpc>
                      </a:pPr>
                      <a:r>
                        <a:rPr sz="930" b="0" i="0">
                          <a:solidFill>
                            <a:srgbClr val="2A2C45"/>
                          </a:solidFill>
                          <a:latin typeface="Montserrat"/>
                        </a:rPr>
                        <a:t>AI models discriminate or decide without human review</a:t>
                      </a:r>
                    </a:p>
                  </a:txBody>
                  <a:tcPr marL="64008" marR="64008" anchor="ctr">
                    <a:solidFill>
                      <a:srgbClr val="FFFFFF"/>
                    </a:solidFill>
                  </a:tcPr>
                </a:tc>
                <a:tc>
                  <a:txBody>
                    <a:bodyPr/>
                    <a:lstStyle/>
                    <a:p>
                      <a:pPr>
                        <a:lnSpc>
                          <a:spcPct val="102000"/>
                        </a:lnSpc>
                      </a:pPr>
                      <a:r>
                        <a:rPr sz="930" b="0" i="0">
                          <a:solidFill>
                            <a:srgbClr val="2A2C45"/>
                          </a:solidFill>
                          <a:latin typeface="Montserrat"/>
                        </a:rPr>
                        <a:t>Has the model been tested for bias, with a human in the loop?</a:t>
                      </a:r>
                    </a:p>
                  </a:txBody>
                  <a:tcPr marL="64008" marR="64008" anchor="ctr">
                    <a:solidFill>
                      <a:srgbClr val="FFFFFF"/>
                    </a:solidFill>
                  </a:tcPr>
                </a:tc>
                <a:extLst>
                  <a:ext uri="{0D108BD9-81ED-4DB2-BD59-A6C34878D82A}">
                    <a16:rowId xmlns:a16="http://schemas.microsoft.com/office/drawing/2014/main" val="10005"/>
                  </a:ext>
                </a:extLst>
              </a:tr>
              <a:tr h="521207">
                <a:tc>
                  <a:txBody>
                    <a:bodyPr/>
                    <a:lstStyle/>
                    <a:p>
                      <a:pPr>
                        <a:lnSpc>
                          <a:spcPct val="102000"/>
                        </a:lnSpc>
                      </a:pPr>
                      <a:r>
                        <a:rPr sz="930" b="1" i="0">
                          <a:solidFill>
                            <a:srgbClr val="0F1129"/>
                          </a:solidFill>
                          <a:latin typeface="Montserrat"/>
                        </a:rPr>
                        <a:t>Positive thinking</a:t>
                      </a:r>
                    </a:p>
                  </a:txBody>
                  <a:tcPr marL="64008" marR="64008" anchor="ctr">
                    <a:solidFill>
                      <a:srgbClr val="FFFFFF"/>
                    </a:solidFill>
                  </a:tcPr>
                </a:tc>
                <a:tc>
                  <a:txBody>
                    <a:bodyPr/>
                    <a:lstStyle/>
                    <a:p>
                      <a:pPr>
                        <a:lnSpc>
                          <a:spcPct val="102000"/>
                        </a:lnSpc>
                      </a:pPr>
                      <a:r>
                        <a:rPr sz="930" b="0" i="0">
                          <a:solidFill>
                            <a:srgbClr val="2A2C45"/>
                          </a:solidFill>
                          <a:latin typeface="Montserrat"/>
                        </a:rPr>
                        <a:t>a solution-focused culture</a:t>
                      </a:r>
                    </a:p>
                  </a:txBody>
                  <a:tcPr marL="64008" marR="64008" anchor="ctr">
                    <a:solidFill>
                      <a:srgbClr val="FFFFFF"/>
                    </a:solidFill>
                  </a:tcPr>
                </a:tc>
                <a:tc>
                  <a:txBody>
                    <a:bodyPr/>
                    <a:lstStyle/>
                    <a:p>
                      <a:pPr>
                        <a:lnSpc>
                          <a:spcPct val="102000"/>
                        </a:lnSpc>
                      </a:pPr>
                      <a:r>
                        <a:rPr sz="930" b="0" i="0">
                          <a:solidFill>
                            <a:srgbClr val="2A2C45"/>
                          </a:solidFill>
                          <a:latin typeface="Montserrat"/>
                        </a:rPr>
                        <a:t>bad news and complaints are not escalated</a:t>
                      </a:r>
                    </a:p>
                  </a:txBody>
                  <a:tcPr marL="64008" marR="64008" anchor="ctr">
                    <a:solidFill>
                      <a:srgbClr val="FFFFFF"/>
                    </a:solidFill>
                  </a:tcPr>
                </a:tc>
                <a:tc>
                  <a:txBody>
                    <a:bodyPr/>
                    <a:lstStyle/>
                    <a:p>
                      <a:pPr>
                        <a:lnSpc>
                          <a:spcPct val="102000"/>
                        </a:lnSpc>
                      </a:pPr>
                      <a:r>
                        <a:rPr sz="930" b="0" i="0">
                          <a:solidFill>
                            <a:srgbClr val="2A2C45"/>
                          </a:solidFill>
                          <a:latin typeface="Montserrat"/>
                        </a:rPr>
                        <a:t>Is raising a problem early treated as positive?</a:t>
                      </a:r>
                    </a:p>
                  </a:txBody>
                  <a:tcPr marL="64008" marR="64008" anchor="c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10</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dirty="0">
                <a:solidFill>
                  <a:srgbClr val="0F1129"/>
                </a:solidFill>
                <a:latin typeface="Montserrat"/>
              </a:rPr>
              <a:t>HRDD Step 1: Salient human rights issues</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11091672" cy="4343400"/>
          </a:xfrm>
          <a:prstGeom prst="roundRect">
            <a:avLst>
              <a:gd name="adj" fmla="val 2105"/>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a:p>
        </p:txBody>
      </p:sp>
      <p:graphicFrame>
        <p:nvGraphicFramePr>
          <p:cNvPr id="12" name="Table 11"/>
          <p:cNvGraphicFramePr>
            <a:graphicFrameLocks noGrp="1"/>
          </p:cNvGraphicFramePr>
          <p:nvPr/>
        </p:nvGraphicFramePr>
        <p:xfrm>
          <a:off x="685800" y="2084831"/>
          <a:ext cx="10817352" cy="4096512"/>
        </p:xfrm>
        <a:graphic>
          <a:graphicData uri="http://schemas.openxmlformats.org/drawingml/2006/table">
            <a:tbl>
              <a:tblPr>
                <a:tableStyleId>{2D5ABB26-0587-4C30-8999-92F81FD0307C}</a:tableStyleId>
              </a:tblPr>
              <a:tblGrid>
                <a:gridCol w="32004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gridCol w="2130552">
                  <a:extLst>
                    <a:ext uri="{9D8B030D-6E8A-4147-A177-3AD203B41FA5}">
                      <a16:colId xmlns:a16="http://schemas.microsoft.com/office/drawing/2014/main" val="20004"/>
                    </a:ext>
                  </a:extLst>
                </a:gridCol>
              </a:tblGrid>
              <a:tr h="585216">
                <a:tc>
                  <a:txBody>
                    <a:bodyPr/>
                    <a:lstStyle/>
                    <a:p>
                      <a:pPr>
                        <a:lnSpc>
                          <a:spcPct val="102000"/>
                        </a:lnSpc>
                      </a:pPr>
                      <a:r>
                        <a:rPr sz="830" b="1" i="0">
                          <a:solidFill>
                            <a:srgbClr val="6B6F8A"/>
                          </a:solidFill>
                          <a:latin typeface="Montserrat"/>
                        </a:rPr>
                        <a:t>#</a:t>
                      </a:r>
                    </a:p>
                  </a:txBody>
                  <a:tcPr marL="64008" marR="64008" anchor="ctr">
                    <a:solidFill>
                      <a:srgbClr val="F2F3F8"/>
                    </a:solidFill>
                  </a:tcPr>
                </a:tc>
                <a:tc>
                  <a:txBody>
                    <a:bodyPr/>
                    <a:lstStyle/>
                    <a:p>
                      <a:pPr>
                        <a:lnSpc>
                          <a:spcPct val="102000"/>
                        </a:lnSpc>
                      </a:pPr>
                      <a:r>
                        <a:rPr sz="830" b="1" i="0">
                          <a:solidFill>
                            <a:srgbClr val="6B6F8A"/>
                          </a:solidFill>
                          <a:latin typeface="Montserrat"/>
                        </a:rPr>
                        <a:t>Potential impact on people</a:t>
                      </a:r>
                    </a:p>
                  </a:txBody>
                  <a:tcPr marL="64008" marR="64008" anchor="ctr">
                    <a:solidFill>
                      <a:srgbClr val="F2F3F8"/>
                    </a:solidFill>
                  </a:tcPr>
                </a:tc>
                <a:tc>
                  <a:txBody>
                    <a:bodyPr/>
                    <a:lstStyle/>
                    <a:p>
                      <a:pPr>
                        <a:lnSpc>
                          <a:spcPct val="102000"/>
                        </a:lnSpc>
                      </a:pPr>
                      <a:r>
                        <a:rPr sz="830" b="1" i="0">
                          <a:solidFill>
                            <a:srgbClr val="6B6F8A"/>
                          </a:solidFill>
                          <a:latin typeface="Montserrat"/>
                        </a:rPr>
                        <a:t>Especially vulnerable groups</a:t>
                      </a:r>
                    </a:p>
                  </a:txBody>
                  <a:tcPr marL="64008" marR="64008" anchor="ctr">
                    <a:solidFill>
                      <a:srgbClr val="F2F3F8"/>
                    </a:solidFill>
                  </a:tcPr>
                </a:tc>
                <a:tc>
                  <a:txBody>
                    <a:bodyPr/>
                    <a:lstStyle/>
                    <a:p>
                      <a:pPr>
                        <a:lnSpc>
                          <a:spcPct val="102000"/>
                        </a:lnSpc>
                      </a:pPr>
                      <a:r>
                        <a:rPr sz="830" b="1" i="0">
                          <a:solidFill>
                            <a:srgbClr val="6B6F8A"/>
                          </a:solidFill>
                          <a:latin typeface="Montserrat"/>
                        </a:rPr>
                        <a:t>Kapital Bank’s connection</a:t>
                      </a:r>
                    </a:p>
                  </a:txBody>
                  <a:tcPr marL="64008" marR="64008" anchor="ctr">
                    <a:solidFill>
                      <a:srgbClr val="F2F3F8"/>
                    </a:solidFill>
                  </a:tcPr>
                </a:tc>
                <a:tc>
                  <a:txBody>
                    <a:bodyPr/>
                    <a:lstStyle/>
                    <a:p>
                      <a:pPr>
                        <a:lnSpc>
                          <a:spcPct val="102000"/>
                        </a:lnSpc>
                      </a:pPr>
                      <a:r>
                        <a:rPr sz="830" b="1" i="0">
                          <a:solidFill>
                            <a:srgbClr val="6B6F8A"/>
                          </a:solidFill>
                          <a:latin typeface="Montserrat"/>
                        </a:rPr>
                        <a:t>Rights that could be affected</a:t>
                      </a:r>
                    </a:p>
                  </a:txBody>
                  <a:tcPr marL="64008" marR="64008" anchor="ctr">
                    <a:solidFill>
                      <a:srgbClr val="F2F3F8"/>
                    </a:solidFill>
                  </a:tcPr>
                </a:tc>
                <a:extLst>
                  <a:ext uri="{0D108BD9-81ED-4DB2-BD59-A6C34878D82A}">
                    <a16:rowId xmlns:a16="http://schemas.microsoft.com/office/drawing/2014/main" val="10000"/>
                  </a:ext>
                </a:extLst>
              </a:tr>
              <a:tr h="585216">
                <a:tc>
                  <a:txBody>
                    <a:bodyPr/>
                    <a:lstStyle/>
                    <a:p>
                      <a:pPr>
                        <a:lnSpc>
                          <a:spcPct val="102000"/>
                        </a:lnSpc>
                      </a:pPr>
                      <a:r>
                        <a:rPr sz="880" b="1" i="0">
                          <a:solidFill>
                            <a:srgbClr val="0F1129"/>
                          </a:solidFill>
                          <a:latin typeface="Montserrat"/>
                        </a:rPr>
                        <a:t>1</a:t>
                      </a:r>
                    </a:p>
                  </a:txBody>
                  <a:tcPr marL="64008" marR="64008" anchor="ctr">
                    <a:solidFill>
                      <a:srgbClr val="FFFFFF"/>
                    </a:solidFill>
                  </a:tcPr>
                </a:tc>
                <a:tc>
                  <a:txBody>
                    <a:bodyPr/>
                    <a:lstStyle/>
                    <a:p>
                      <a:pPr>
                        <a:lnSpc>
                          <a:spcPct val="102000"/>
                        </a:lnSpc>
                      </a:pPr>
                      <a:r>
                        <a:rPr sz="880" b="0" i="0">
                          <a:solidFill>
                            <a:srgbClr val="2A2C45"/>
                          </a:solidFill>
                          <a:latin typeface="Montserrat"/>
                        </a:rPr>
                        <a:t>Over-indebtedness from easy digital credit (instant loans, cards, instalment products) and unfair or aggressive debt collection</a:t>
                      </a:r>
                    </a:p>
                  </a:txBody>
                  <a:tcPr marL="64008" marR="64008" anchor="ctr">
                    <a:solidFill>
                      <a:srgbClr val="FFFFFF"/>
                    </a:solidFill>
                  </a:tcPr>
                </a:tc>
                <a:tc>
                  <a:txBody>
                    <a:bodyPr/>
                    <a:lstStyle/>
                    <a:p>
                      <a:pPr>
                        <a:lnSpc>
                          <a:spcPct val="102000"/>
                        </a:lnSpc>
                      </a:pPr>
                      <a:r>
                        <a:rPr sz="880" b="0" i="0">
                          <a:solidFill>
                            <a:srgbClr val="2A2C45"/>
                          </a:solidFill>
                          <a:latin typeface="Montserrat"/>
                        </a:rPr>
                        <a:t>Low-income households, pensioners, benefit recipients, young first-time borrowers</a:t>
                      </a:r>
                    </a:p>
                  </a:txBody>
                  <a:tcPr marL="64008" marR="64008" anchor="ctr">
                    <a:solidFill>
                      <a:srgbClr val="FFFFFF"/>
                    </a:solidFill>
                  </a:tcPr>
                </a:tc>
                <a:tc>
                  <a:txBody>
                    <a:bodyPr/>
                    <a:lstStyle/>
                    <a:p>
                      <a:pPr>
                        <a:lnSpc>
                          <a:spcPct val="102000"/>
                        </a:lnSpc>
                      </a:pPr>
                      <a:r>
                        <a:rPr sz="880" b="0" i="0">
                          <a:solidFill>
                            <a:srgbClr val="2A2C45"/>
                          </a:solidFill>
                          <a:latin typeface="Montserrat"/>
                        </a:rPr>
                        <a:t>Cause (own lending, offers, collection); directly linked (external collection agencies)</a:t>
                      </a:r>
                    </a:p>
                  </a:txBody>
                  <a:tcPr marL="64008" marR="64008" anchor="ctr">
                    <a:solidFill>
                      <a:srgbClr val="FFFFFF"/>
                    </a:solidFill>
                  </a:tcPr>
                </a:tc>
                <a:tc>
                  <a:txBody>
                    <a:bodyPr/>
                    <a:lstStyle/>
                    <a:p>
                      <a:pPr>
                        <a:lnSpc>
                          <a:spcPct val="102000"/>
                        </a:lnSpc>
                      </a:pPr>
                      <a:r>
                        <a:rPr sz="880" b="0" i="0">
                          <a:solidFill>
                            <a:srgbClr val="2A2C45"/>
                          </a:solidFill>
                          <a:latin typeface="Montserrat"/>
                        </a:rPr>
                        <a:t>Adequate standard of living; privacy &amp; dignity; health</a:t>
                      </a:r>
                    </a:p>
                  </a:txBody>
                  <a:tcPr marL="64008" marR="64008" anchor="ctr">
                    <a:solidFill>
                      <a:srgbClr val="FFFFFF"/>
                    </a:solidFill>
                  </a:tcPr>
                </a:tc>
                <a:extLst>
                  <a:ext uri="{0D108BD9-81ED-4DB2-BD59-A6C34878D82A}">
                    <a16:rowId xmlns:a16="http://schemas.microsoft.com/office/drawing/2014/main" val="10001"/>
                  </a:ext>
                </a:extLst>
              </a:tr>
              <a:tr h="585216">
                <a:tc>
                  <a:txBody>
                    <a:bodyPr/>
                    <a:lstStyle/>
                    <a:p>
                      <a:pPr>
                        <a:lnSpc>
                          <a:spcPct val="102000"/>
                        </a:lnSpc>
                      </a:pPr>
                      <a:r>
                        <a:rPr sz="880" b="1" i="0">
                          <a:solidFill>
                            <a:srgbClr val="0F1129"/>
                          </a:solidFill>
                          <a:latin typeface="Montserrat"/>
                        </a:rPr>
                        <a:t>2</a:t>
                      </a:r>
                    </a:p>
                  </a:txBody>
                  <a:tcPr marL="64008" marR="64008" anchor="ctr">
                    <a:solidFill>
                      <a:srgbClr val="FFFFFF"/>
                    </a:solidFill>
                  </a:tcPr>
                </a:tc>
                <a:tc>
                  <a:txBody>
                    <a:bodyPr/>
                    <a:lstStyle/>
                    <a:p>
                      <a:pPr>
                        <a:lnSpc>
                          <a:spcPct val="102000"/>
                        </a:lnSpc>
                      </a:pPr>
                      <a:r>
                        <a:rPr sz="880" b="0" i="0" dirty="0">
                          <a:solidFill>
                            <a:srgbClr val="2A2C45"/>
                          </a:solidFill>
                          <a:latin typeface="Montserrat"/>
                        </a:rPr>
                        <a:t>Misuse or leakage of personal and financial data; customer losses from cyber-fraud and scams</a:t>
                      </a:r>
                    </a:p>
                  </a:txBody>
                  <a:tcPr marL="64008" marR="64008" anchor="ctr">
                    <a:solidFill>
                      <a:srgbClr val="FFFFFF"/>
                    </a:solidFill>
                  </a:tcPr>
                </a:tc>
                <a:tc>
                  <a:txBody>
                    <a:bodyPr/>
                    <a:lstStyle/>
                    <a:p>
                      <a:pPr>
                        <a:lnSpc>
                          <a:spcPct val="102000"/>
                        </a:lnSpc>
                      </a:pPr>
                      <a:r>
                        <a:rPr sz="880" b="0" i="0">
                          <a:solidFill>
                            <a:srgbClr val="2A2C45"/>
                          </a:solidFill>
                          <a:latin typeface="Montserrat"/>
                        </a:rPr>
                        <a:t>Elderly and less digitally literate customers</a:t>
                      </a:r>
                    </a:p>
                  </a:txBody>
                  <a:tcPr marL="64008" marR="64008" anchor="ctr">
                    <a:solidFill>
                      <a:srgbClr val="FFFFFF"/>
                    </a:solidFill>
                  </a:tcPr>
                </a:tc>
                <a:tc>
                  <a:txBody>
                    <a:bodyPr/>
                    <a:lstStyle/>
                    <a:p>
                      <a:pPr>
                        <a:lnSpc>
                          <a:spcPct val="102000"/>
                        </a:lnSpc>
                      </a:pPr>
                      <a:r>
                        <a:rPr sz="880" b="0" i="0">
                          <a:solidFill>
                            <a:srgbClr val="2A2C45"/>
                          </a:solidFill>
                          <a:latin typeface="Montserrat"/>
                        </a:rPr>
                        <a:t>Cause (own systems, data use); directly linked (IT vendors)</a:t>
                      </a:r>
                    </a:p>
                  </a:txBody>
                  <a:tcPr marL="64008" marR="64008" anchor="ctr">
                    <a:solidFill>
                      <a:srgbClr val="FFFFFF"/>
                    </a:solidFill>
                  </a:tcPr>
                </a:tc>
                <a:tc>
                  <a:txBody>
                    <a:bodyPr/>
                    <a:lstStyle/>
                    <a:p>
                      <a:pPr>
                        <a:lnSpc>
                          <a:spcPct val="102000"/>
                        </a:lnSpc>
                      </a:pPr>
                      <a:r>
                        <a:rPr sz="880" b="0" i="0">
                          <a:solidFill>
                            <a:srgbClr val="2A2C45"/>
                          </a:solidFill>
                          <a:latin typeface="Montserrat"/>
                        </a:rPr>
                        <a:t>Privacy; property; access to remedy</a:t>
                      </a:r>
                    </a:p>
                  </a:txBody>
                  <a:tcPr marL="64008" marR="64008" anchor="ctr">
                    <a:solidFill>
                      <a:srgbClr val="FFFFFF"/>
                    </a:solidFill>
                  </a:tcPr>
                </a:tc>
                <a:extLst>
                  <a:ext uri="{0D108BD9-81ED-4DB2-BD59-A6C34878D82A}">
                    <a16:rowId xmlns:a16="http://schemas.microsoft.com/office/drawing/2014/main" val="10002"/>
                  </a:ext>
                </a:extLst>
              </a:tr>
              <a:tr h="585216">
                <a:tc>
                  <a:txBody>
                    <a:bodyPr/>
                    <a:lstStyle/>
                    <a:p>
                      <a:pPr>
                        <a:lnSpc>
                          <a:spcPct val="102000"/>
                        </a:lnSpc>
                      </a:pPr>
                      <a:r>
                        <a:rPr sz="880" b="1" i="0">
                          <a:solidFill>
                            <a:srgbClr val="0F1129"/>
                          </a:solidFill>
                          <a:latin typeface="Montserrat"/>
                        </a:rPr>
                        <a:t>3</a:t>
                      </a:r>
                    </a:p>
                  </a:txBody>
                  <a:tcPr marL="64008" marR="64008" anchor="ctr">
                    <a:solidFill>
                      <a:srgbClr val="FFFFFF"/>
                    </a:solidFill>
                  </a:tcPr>
                </a:tc>
                <a:tc>
                  <a:txBody>
                    <a:bodyPr/>
                    <a:lstStyle/>
                    <a:p>
                      <a:pPr>
                        <a:lnSpc>
                          <a:spcPct val="102000"/>
                        </a:lnSpc>
                      </a:pPr>
                      <a:r>
                        <a:rPr sz="880" b="0" i="0" dirty="0">
                          <a:solidFill>
                            <a:srgbClr val="2A2C45"/>
                          </a:solidFill>
                          <a:latin typeface="Montserrat"/>
                        </a:rPr>
                        <a:t>Discrimination and exclusion through AI credit scoring, digital-first design and branch changes</a:t>
                      </a:r>
                    </a:p>
                  </a:txBody>
                  <a:tcPr marL="64008" marR="64008" anchor="ctr">
                    <a:solidFill>
                      <a:srgbClr val="FFFFFF"/>
                    </a:solidFill>
                  </a:tcPr>
                </a:tc>
                <a:tc>
                  <a:txBody>
                    <a:bodyPr/>
                    <a:lstStyle/>
                    <a:p>
                      <a:pPr>
                        <a:lnSpc>
                          <a:spcPct val="102000"/>
                        </a:lnSpc>
                      </a:pPr>
                      <a:r>
                        <a:rPr sz="880" b="0" i="0">
                          <a:solidFill>
                            <a:srgbClr val="2A2C45"/>
                          </a:solidFill>
                          <a:latin typeface="Montserrat"/>
                        </a:rPr>
                        <a:t>Persons with disabilities, elderly, rural customers, women entrepreneurs</a:t>
                      </a:r>
                    </a:p>
                  </a:txBody>
                  <a:tcPr marL="64008" marR="64008" anchor="ctr">
                    <a:solidFill>
                      <a:srgbClr val="FFFFFF"/>
                    </a:solidFill>
                  </a:tcPr>
                </a:tc>
                <a:tc>
                  <a:txBody>
                    <a:bodyPr/>
                    <a:lstStyle/>
                    <a:p>
                      <a:pPr>
                        <a:lnSpc>
                          <a:spcPct val="102000"/>
                        </a:lnSpc>
                      </a:pPr>
                      <a:r>
                        <a:rPr sz="880" b="0" i="0">
                          <a:solidFill>
                            <a:srgbClr val="2A2C45"/>
                          </a:solidFill>
                          <a:latin typeface="Montserrat"/>
                        </a:rPr>
                        <a:t>Cause (product design, models)</a:t>
                      </a:r>
                    </a:p>
                  </a:txBody>
                  <a:tcPr marL="64008" marR="64008" anchor="ctr">
                    <a:solidFill>
                      <a:srgbClr val="FFFFFF"/>
                    </a:solidFill>
                  </a:tcPr>
                </a:tc>
                <a:tc>
                  <a:txBody>
                    <a:bodyPr/>
                    <a:lstStyle/>
                    <a:p>
                      <a:pPr>
                        <a:lnSpc>
                          <a:spcPct val="102000"/>
                        </a:lnSpc>
                      </a:pPr>
                      <a:r>
                        <a:rPr sz="880" b="0" i="0">
                          <a:solidFill>
                            <a:srgbClr val="2A2C45"/>
                          </a:solidFill>
                          <a:latin typeface="Montserrat"/>
                        </a:rPr>
                        <a:t>Non-discrimination; equal access to services</a:t>
                      </a:r>
                    </a:p>
                  </a:txBody>
                  <a:tcPr marL="64008" marR="64008" anchor="ctr">
                    <a:solidFill>
                      <a:srgbClr val="FFFFFF"/>
                    </a:solidFill>
                  </a:tcPr>
                </a:tc>
                <a:extLst>
                  <a:ext uri="{0D108BD9-81ED-4DB2-BD59-A6C34878D82A}">
                    <a16:rowId xmlns:a16="http://schemas.microsoft.com/office/drawing/2014/main" val="10003"/>
                  </a:ext>
                </a:extLst>
              </a:tr>
              <a:tr h="585216">
                <a:tc>
                  <a:txBody>
                    <a:bodyPr/>
                    <a:lstStyle/>
                    <a:p>
                      <a:pPr>
                        <a:lnSpc>
                          <a:spcPct val="102000"/>
                        </a:lnSpc>
                      </a:pPr>
                      <a:r>
                        <a:rPr sz="880" b="1" i="0">
                          <a:solidFill>
                            <a:srgbClr val="0F1129"/>
                          </a:solidFill>
                          <a:latin typeface="Montserrat"/>
                        </a:rPr>
                        <a:t>4</a:t>
                      </a:r>
                    </a:p>
                  </a:txBody>
                  <a:tcPr marL="64008" marR="64008" anchor="ctr">
                    <a:solidFill>
                      <a:srgbClr val="FFFFFF"/>
                    </a:solidFill>
                  </a:tcPr>
                </a:tc>
                <a:tc>
                  <a:txBody>
                    <a:bodyPr/>
                    <a:lstStyle/>
                    <a:p>
                      <a:pPr>
                        <a:lnSpc>
                          <a:spcPct val="102000"/>
                        </a:lnSpc>
                      </a:pPr>
                      <a:r>
                        <a:rPr sz="880" b="0" i="0" dirty="0">
                          <a:solidFill>
                            <a:srgbClr val="2A2C45"/>
                          </a:solidFill>
                          <a:latin typeface="Montserrat"/>
                        </a:rPr>
                        <a:t>Harms by corporate/SME clients the bank finances (unsafe work, child </a:t>
                      </a:r>
                      <a:r>
                        <a:rPr sz="880" b="0" i="0" dirty="0" err="1">
                          <a:solidFill>
                            <a:srgbClr val="2A2C45"/>
                          </a:solidFill>
                          <a:latin typeface="Montserrat"/>
                        </a:rPr>
                        <a:t>labour</a:t>
                      </a:r>
                      <a:r>
                        <a:rPr sz="880" b="0" i="0" dirty="0">
                          <a:solidFill>
                            <a:srgbClr val="2A2C45"/>
                          </a:solidFill>
                          <a:latin typeface="Montserrat"/>
                        </a:rPr>
                        <a:t> in agriculture, land issues)</a:t>
                      </a:r>
                    </a:p>
                  </a:txBody>
                  <a:tcPr marL="64008" marR="64008" anchor="ctr">
                    <a:solidFill>
                      <a:srgbClr val="FFFFFF"/>
                    </a:solidFill>
                  </a:tcPr>
                </a:tc>
                <a:tc>
                  <a:txBody>
                    <a:bodyPr/>
                    <a:lstStyle/>
                    <a:p>
                      <a:pPr>
                        <a:lnSpc>
                          <a:spcPct val="102000"/>
                        </a:lnSpc>
                      </a:pPr>
                      <a:r>
                        <a:rPr sz="880" b="0" i="0">
                          <a:solidFill>
                            <a:srgbClr val="2A2C45"/>
                          </a:solidFill>
                          <a:latin typeface="Montserrat"/>
                        </a:rPr>
                        <a:t>Clients’ workers, seasonal workers, children, nearby communities</a:t>
                      </a:r>
                    </a:p>
                  </a:txBody>
                  <a:tcPr marL="64008" marR="64008" anchor="ctr">
                    <a:solidFill>
                      <a:srgbClr val="FFFFFF"/>
                    </a:solidFill>
                  </a:tcPr>
                </a:tc>
                <a:tc>
                  <a:txBody>
                    <a:bodyPr/>
                    <a:lstStyle/>
                    <a:p>
                      <a:pPr>
                        <a:lnSpc>
                          <a:spcPct val="102000"/>
                        </a:lnSpc>
                      </a:pPr>
                      <a:r>
                        <a:rPr sz="880" b="0" i="0">
                          <a:solidFill>
                            <a:srgbClr val="2A2C45"/>
                          </a:solidFill>
                          <a:latin typeface="Montserrat"/>
                        </a:rPr>
                        <a:t>Directly linked (financing); contribute if red flags are ignored</a:t>
                      </a:r>
                    </a:p>
                  </a:txBody>
                  <a:tcPr marL="64008" marR="64008" anchor="ctr">
                    <a:solidFill>
                      <a:srgbClr val="FFFFFF"/>
                    </a:solidFill>
                  </a:tcPr>
                </a:tc>
                <a:tc>
                  <a:txBody>
                    <a:bodyPr/>
                    <a:lstStyle/>
                    <a:p>
                      <a:pPr>
                        <a:lnSpc>
                          <a:spcPct val="102000"/>
                        </a:lnSpc>
                      </a:pPr>
                      <a:r>
                        <a:rPr sz="880" b="0" i="0">
                          <a:solidFill>
                            <a:srgbClr val="2A2C45"/>
                          </a:solidFill>
                          <a:latin typeface="Montserrat"/>
                        </a:rPr>
                        <a:t>Safe work; freedom from child labour; housing</a:t>
                      </a:r>
                    </a:p>
                  </a:txBody>
                  <a:tcPr marL="64008" marR="64008" anchor="ctr">
                    <a:solidFill>
                      <a:srgbClr val="FFFFFF"/>
                    </a:solidFill>
                  </a:tcPr>
                </a:tc>
                <a:extLst>
                  <a:ext uri="{0D108BD9-81ED-4DB2-BD59-A6C34878D82A}">
                    <a16:rowId xmlns:a16="http://schemas.microsoft.com/office/drawing/2014/main" val="10004"/>
                  </a:ext>
                </a:extLst>
              </a:tr>
              <a:tr h="585216">
                <a:tc>
                  <a:txBody>
                    <a:bodyPr/>
                    <a:lstStyle/>
                    <a:p>
                      <a:pPr>
                        <a:lnSpc>
                          <a:spcPct val="102000"/>
                        </a:lnSpc>
                      </a:pPr>
                      <a:r>
                        <a:rPr sz="880" b="1" i="0">
                          <a:solidFill>
                            <a:srgbClr val="0F1129"/>
                          </a:solidFill>
                          <a:latin typeface="Montserrat"/>
                        </a:rPr>
                        <a:t>5</a:t>
                      </a:r>
                    </a:p>
                  </a:txBody>
                  <a:tcPr marL="64008" marR="64008" anchor="ctr">
                    <a:solidFill>
                      <a:srgbClr val="FFFFFF"/>
                    </a:solidFill>
                  </a:tcPr>
                </a:tc>
                <a:tc>
                  <a:txBody>
                    <a:bodyPr/>
                    <a:lstStyle/>
                    <a:p>
                      <a:pPr>
                        <a:lnSpc>
                          <a:spcPct val="102000"/>
                        </a:lnSpc>
                      </a:pPr>
                      <a:r>
                        <a:rPr sz="880" b="0" i="0" dirty="0">
                          <a:solidFill>
                            <a:srgbClr val="2A2C45"/>
                          </a:solidFill>
                          <a:latin typeface="Montserrat"/>
                        </a:rPr>
                        <a:t>Poor working conditions of outsourced workers (security, cash-in-transit, cleaning, card couriers)</a:t>
                      </a:r>
                    </a:p>
                  </a:txBody>
                  <a:tcPr marL="64008" marR="64008" anchor="ctr">
                    <a:solidFill>
                      <a:srgbClr val="FFFFFF"/>
                    </a:solidFill>
                  </a:tcPr>
                </a:tc>
                <a:tc>
                  <a:txBody>
                    <a:bodyPr/>
                    <a:lstStyle/>
                    <a:p>
                      <a:pPr>
                        <a:lnSpc>
                          <a:spcPct val="102000"/>
                        </a:lnSpc>
                      </a:pPr>
                      <a:r>
                        <a:rPr sz="880" b="0" i="0">
                          <a:solidFill>
                            <a:srgbClr val="2A2C45"/>
                          </a:solidFill>
                          <a:latin typeface="Montserrat"/>
                        </a:rPr>
                        <a:t>Contract and low-wage workers</a:t>
                      </a:r>
                    </a:p>
                  </a:txBody>
                  <a:tcPr marL="64008" marR="64008" anchor="ctr">
                    <a:solidFill>
                      <a:srgbClr val="FFFFFF"/>
                    </a:solidFill>
                  </a:tcPr>
                </a:tc>
                <a:tc>
                  <a:txBody>
                    <a:bodyPr/>
                    <a:lstStyle/>
                    <a:p>
                      <a:pPr>
                        <a:lnSpc>
                          <a:spcPct val="102000"/>
                        </a:lnSpc>
                      </a:pPr>
                      <a:r>
                        <a:rPr sz="880" b="0" i="0">
                          <a:solidFill>
                            <a:srgbClr val="2A2C45"/>
                          </a:solidFill>
                          <a:latin typeface="Montserrat"/>
                        </a:rPr>
                        <a:t>Contribute (pricing, deadlines); directly linked (suppliers)</a:t>
                      </a:r>
                    </a:p>
                  </a:txBody>
                  <a:tcPr marL="64008" marR="64008" anchor="ctr">
                    <a:solidFill>
                      <a:srgbClr val="FFFFFF"/>
                    </a:solidFill>
                  </a:tcPr>
                </a:tc>
                <a:tc>
                  <a:txBody>
                    <a:bodyPr/>
                    <a:lstStyle/>
                    <a:p>
                      <a:pPr>
                        <a:lnSpc>
                          <a:spcPct val="102000"/>
                        </a:lnSpc>
                      </a:pPr>
                      <a:r>
                        <a:rPr sz="880" b="0" i="0">
                          <a:solidFill>
                            <a:srgbClr val="2A2C45"/>
                          </a:solidFill>
                          <a:latin typeface="Montserrat"/>
                        </a:rPr>
                        <a:t>Just &amp; favourable conditions; social security</a:t>
                      </a:r>
                    </a:p>
                  </a:txBody>
                  <a:tcPr marL="64008" marR="64008" anchor="ctr">
                    <a:solidFill>
                      <a:srgbClr val="FFFFFF"/>
                    </a:solidFill>
                  </a:tcPr>
                </a:tc>
                <a:extLst>
                  <a:ext uri="{0D108BD9-81ED-4DB2-BD59-A6C34878D82A}">
                    <a16:rowId xmlns:a16="http://schemas.microsoft.com/office/drawing/2014/main" val="10005"/>
                  </a:ext>
                </a:extLst>
              </a:tr>
              <a:tr h="585216">
                <a:tc>
                  <a:txBody>
                    <a:bodyPr/>
                    <a:lstStyle/>
                    <a:p>
                      <a:pPr>
                        <a:lnSpc>
                          <a:spcPct val="102000"/>
                        </a:lnSpc>
                      </a:pPr>
                      <a:r>
                        <a:rPr sz="880" b="1" i="0">
                          <a:solidFill>
                            <a:srgbClr val="0F1129"/>
                          </a:solidFill>
                          <a:latin typeface="Montserrat"/>
                        </a:rPr>
                        <a:t>6</a:t>
                      </a:r>
                    </a:p>
                  </a:txBody>
                  <a:tcPr marL="64008" marR="64008" anchor="ctr">
                    <a:solidFill>
                      <a:srgbClr val="FFFFFF"/>
                    </a:solidFill>
                  </a:tcPr>
                </a:tc>
                <a:tc>
                  <a:txBody>
                    <a:bodyPr/>
                    <a:lstStyle/>
                    <a:p>
                      <a:pPr>
                        <a:lnSpc>
                          <a:spcPct val="102000"/>
                        </a:lnSpc>
                      </a:pPr>
                      <a:r>
                        <a:rPr sz="880" b="0" i="0" dirty="0">
                          <a:solidFill>
                            <a:srgbClr val="2A2C45"/>
                          </a:solidFill>
                          <a:latin typeface="Montserrat"/>
                        </a:rPr>
                        <a:t>Excessive workload and sales-target pressure on frontline staff, which can also drive mis-selling</a:t>
                      </a:r>
                    </a:p>
                  </a:txBody>
                  <a:tcPr marL="64008" marR="64008" anchor="ctr">
                    <a:solidFill>
                      <a:srgbClr val="FFFFFF"/>
                    </a:solidFill>
                  </a:tcPr>
                </a:tc>
                <a:tc>
                  <a:txBody>
                    <a:bodyPr/>
                    <a:lstStyle/>
                    <a:p>
                      <a:pPr>
                        <a:lnSpc>
                          <a:spcPct val="102000"/>
                        </a:lnSpc>
                      </a:pPr>
                      <a:r>
                        <a:rPr sz="880" b="0" i="0">
                          <a:solidFill>
                            <a:srgbClr val="2A2C45"/>
                          </a:solidFill>
                          <a:latin typeface="Montserrat"/>
                        </a:rPr>
                        <a:t>Call-centre, branch and collections staff</a:t>
                      </a:r>
                    </a:p>
                  </a:txBody>
                  <a:tcPr marL="64008" marR="64008" anchor="ctr">
                    <a:solidFill>
                      <a:srgbClr val="FFFFFF"/>
                    </a:solidFill>
                  </a:tcPr>
                </a:tc>
                <a:tc>
                  <a:txBody>
                    <a:bodyPr/>
                    <a:lstStyle/>
                    <a:p>
                      <a:pPr>
                        <a:lnSpc>
                          <a:spcPct val="102000"/>
                        </a:lnSpc>
                      </a:pPr>
                      <a:r>
                        <a:rPr sz="880" b="0" i="0" dirty="0">
                          <a:solidFill>
                            <a:srgbClr val="2A2C45"/>
                          </a:solidFill>
                          <a:latin typeface="Montserrat"/>
                        </a:rPr>
                        <a:t>Cause (own workforce)</a:t>
                      </a:r>
                    </a:p>
                  </a:txBody>
                  <a:tcPr marL="64008" marR="64008" anchor="ctr">
                    <a:solidFill>
                      <a:srgbClr val="FFFFFF"/>
                    </a:solidFill>
                  </a:tcPr>
                </a:tc>
                <a:tc>
                  <a:txBody>
                    <a:bodyPr/>
                    <a:lstStyle/>
                    <a:p>
                      <a:pPr>
                        <a:lnSpc>
                          <a:spcPct val="102000"/>
                        </a:lnSpc>
                      </a:pPr>
                      <a:r>
                        <a:rPr sz="880" b="0" i="0" dirty="0">
                          <a:solidFill>
                            <a:srgbClr val="2A2C45"/>
                          </a:solidFill>
                          <a:latin typeface="Montserrat"/>
                        </a:rPr>
                        <a:t>Just &amp; </a:t>
                      </a:r>
                      <a:r>
                        <a:rPr sz="880" b="0" i="0" dirty="0" err="1">
                          <a:solidFill>
                            <a:srgbClr val="2A2C45"/>
                          </a:solidFill>
                          <a:latin typeface="Montserrat"/>
                        </a:rPr>
                        <a:t>favourable</a:t>
                      </a:r>
                      <a:r>
                        <a:rPr sz="880" b="0" i="0" dirty="0">
                          <a:solidFill>
                            <a:srgbClr val="2A2C45"/>
                          </a:solidFill>
                          <a:latin typeface="Montserrat"/>
                        </a:rPr>
                        <a:t> conditions; health</a:t>
                      </a:r>
                    </a:p>
                  </a:txBody>
                  <a:tcPr marL="64008" marR="64008" anchor="c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11</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HRDD Step 1: Salient human rights issues prioritization</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4663440" cy="4343400"/>
          </a:xfrm>
          <a:prstGeom prst="roundRect">
            <a:avLst>
              <a:gd name="adj" fmla="val 2105"/>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2" name="Rounded Rectangle 11"/>
          <p:cNvSpPr/>
          <p:nvPr/>
        </p:nvSpPr>
        <p:spPr>
          <a:xfrm>
            <a:off x="1490472" y="2267712"/>
            <a:ext cx="621792" cy="621792"/>
          </a:xfrm>
          <a:prstGeom prst="roundRect">
            <a:avLst>
              <a:gd name="adj" fmla="val 12000"/>
            </a:avLst>
          </a:prstGeom>
          <a:solidFill>
            <a:srgbClr val="FCD34D"/>
          </a:solidFill>
          <a:ln>
            <a:noFill/>
          </a:ln>
          <a:effectLst/>
        </p:spPr>
        <p:txBody>
          <a:bodyPr rtlCol="0" anchor="ctr"/>
          <a:lstStyle/>
          <a:p>
            <a:pPr algn="ctr"/>
            <a:endParaRPr/>
          </a:p>
        </p:txBody>
      </p:sp>
      <p:sp>
        <p:nvSpPr>
          <p:cNvPr id="13" name="Rounded Rectangle 12"/>
          <p:cNvSpPr/>
          <p:nvPr/>
        </p:nvSpPr>
        <p:spPr>
          <a:xfrm>
            <a:off x="2167127" y="2267712"/>
            <a:ext cx="621792" cy="621792"/>
          </a:xfrm>
          <a:prstGeom prst="roundRect">
            <a:avLst>
              <a:gd name="adj" fmla="val 12000"/>
            </a:avLst>
          </a:prstGeom>
          <a:solidFill>
            <a:srgbClr val="FDBA74"/>
          </a:solidFill>
          <a:ln>
            <a:noFill/>
          </a:ln>
          <a:effectLst/>
        </p:spPr>
        <p:txBody>
          <a:bodyPr rtlCol="0" anchor="ctr"/>
          <a:lstStyle/>
          <a:p>
            <a:pPr algn="ctr"/>
            <a:endParaRPr/>
          </a:p>
        </p:txBody>
      </p:sp>
      <p:sp>
        <p:nvSpPr>
          <p:cNvPr id="14" name="Rounded Rectangle 13"/>
          <p:cNvSpPr/>
          <p:nvPr/>
        </p:nvSpPr>
        <p:spPr>
          <a:xfrm>
            <a:off x="2843784" y="2267712"/>
            <a:ext cx="621792" cy="621792"/>
          </a:xfrm>
          <a:prstGeom prst="roundRect">
            <a:avLst>
              <a:gd name="adj" fmla="val 12000"/>
            </a:avLst>
          </a:prstGeom>
          <a:solidFill>
            <a:srgbClr val="FCA5A5"/>
          </a:solidFill>
          <a:ln>
            <a:noFill/>
          </a:ln>
          <a:effectLst/>
        </p:spPr>
        <p:txBody>
          <a:bodyPr rtlCol="0" anchor="ctr"/>
          <a:lstStyle/>
          <a:p>
            <a:pPr algn="ctr"/>
            <a:endParaRPr/>
          </a:p>
        </p:txBody>
      </p:sp>
      <p:sp>
        <p:nvSpPr>
          <p:cNvPr id="15" name="Rounded Rectangle 14"/>
          <p:cNvSpPr/>
          <p:nvPr/>
        </p:nvSpPr>
        <p:spPr>
          <a:xfrm>
            <a:off x="3520439" y="2267712"/>
            <a:ext cx="621792" cy="621792"/>
          </a:xfrm>
          <a:prstGeom prst="roundRect">
            <a:avLst>
              <a:gd name="adj" fmla="val 12000"/>
            </a:avLst>
          </a:prstGeom>
          <a:solidFill>
            <a:srgbClr val="F87171"/>
          </a:solidFill>
          <a:ln>
            <a:noFill/>
          </a:ln>
          <a:effectLst/>
        </p:spPr>
        <p:txBody>
          <a:bodyPr rtlCol="0" anchor="ctr"/>
          <a:lstStyle/>
          <a:p>
            <a:pPr algn="ctr"/>
            <a:endParaRPr/>
          </a:p>
        </p:txBody>
      </p:sp>
      <p:sp>
        <p:nvSpPr>
          <p:cNvPr id="16" name="Rounded Rectangle 15"/>
          <p:cNvSpPr/>
          <p:nvPr/>
        </p:nvSpPr>
        <p:spPr>
          <a:xfrm>
            <a:off x="4197096" y="2267712"/>
            <a:ext cx="621792" cy="621792"/>
          </a:xfrm>
          <a:prstGeom prst="roundRect">
            <a:avLst>
              <a:gd name="adj" fmla="val 12000"/>
            </a:avLst>
          </a:prstGeom>
          <a:solidFill>
            <a:srgbClr val="EF4444"/>
          </a:solidFill>
          <a:ln>
            <a:noFill/>
          </a:ln>
          <a:effectLst/>
        </p:spPr>
        <p:txBody>
          <a:bodyPr rtlCol="0" anchor="ctr"/>
          <a:lstStyle/>
          <a:p>
            <a:pPr algn="ctr"/>
            <a:endParaRPr/>
          </a:p>
        </p:txBody>
      </p:sp>
      <p:sp>
        <p:nvSpPr>
          <p:cNvPr id="17" name="Rounded Rectangle 16"/>
          <p:cNvSpPr/>
          <p:nvPr/>
        </p:nvSpPr>
        <p:spPr>
          <a:xfrm>
            <a:off x="1490472" y="2944368"/>
            <a:ext cx="621792" cy="621792"/>
          </a:xfrm>
          <a:prstGeom prst="roundRect">
            <a:avLst>
              <a:gd name="adj" fmla="val 12000"/>
            </a:avLst>
          </a:prstGeom>
          <a:solidFill>
            <a:srgbClr val="FDE68A"/>
          </a:solidFill>
          <a:ln>
            <a:noFill/>
          </a:ln>
          <a:effectLst/>
        </p:spPr>
        <p:txBody>
          <a:bodyPr rtlCol="0" anchor="ctr"/>
          <a:lstStyle/>
          <a:p>
            <a:pPr algn="ctr"/>
            <a:endParaRPr/>
          </a:p>
        </p:txBody>
      </p:sp>
      <p:sp>
        <p:nvSpPr>
          <p:cNvPr id="18" name="Rounded Rectangle 17"/>
          <p:cNvSpPr/>
          <p:nvPr/>
        </p:nvSpPr>
        <p:spPr>
          <a:xfrm>
            <a:off x="2167127" y="2944368"/>
            <a:ext cx="621792" cy="621792"/>
          </a:xfrm>
          <a:prstGeom prst="roundRect">
            <a:avLst>
              <a:gd name="adj" fmla="val 12000"/>
            </a:avLst>
          </a:prstGeom>
          <a:solidFill>
            <a:srgbClr val="FCD34D"/>
          </a:solidFill>
          <a:ln>
            <a:noFill/>
          </a:ln>
          <a:effectLst/>
        </p:spPr>
        <p:txBody>
          <a:bodyPr rtlCol="0" anchor="ctr"/>
          <a:lstStyle/>
          <a:p>
            <a:pPr algn="ctr"/>
            <a:endParaRPr/>
          </a:p>
        </p:txBody>
      </p:sp>
      <p:sp>
        <p:nvSpPr>
          <p:cNvPr id="19" name="Rounded Rectangle 18"/>
          <p:cNvSpPr/>
          <p:nvPr/>
        </p:nvSpPr>
        <p:spPr>
          <a:xfrm>
            <a:off x="2843784" y="2944368"/>
            <a:ext cx="621792" cy="621792"/>
          </a:xfrm>
          <a:prstGeom prst="roundRect">
            <a:avLst>
              <a:gd name="adj" fmla="val 12000"/>
            </a:avLst>
          </a:prstGeom>
          <a:solidFill>
            <a:srgbClr val="FDBA74"/>
          </a:solidFill>
          <a:ln>
            <a:noFill/>
          </a:ln>
          <a:effectLst/>
        </p:spPr>
        <p:txBody>
          <a:bodyPr rtlCol="0" anchor="ctr"/>
          <a:lstStyle/>
          <a:p>
            <a:pPr algn="ctr"/>
            <a:endParaRPr/>
          </a:p>
        </p:txBody>
      </p:sp>
      <p:sp>
        <p:nvSpPr>
          <p:cNvPr id="20" name="Rounded Rectangle 19"/>
          <p:cNvSpPr/>
          <p:nvPr/>
        </p:nvSpPr>
        <p:spPr>
          <a:xfrm>
            <a:off x="3520439" y="2944368"/>
            <a:ext cx="621792" cy="621792"/>
          </a:xfrm>
          <a:prstGeom prst="roundRect">
            <a:avLst>
              <a:gd name="adj" fmla="val 12000"/>
            </a:avLst>
          </a:prstGeom>
          <a:solidFill>
            <a:srgbClr val="FCA5A5"/>
          </a:solidFill>
          <a:ln>
            <a:noFill/>
          </a:ln>
          <a:effectLst/>
        </p:spPr>
        <p:txBody>
          <a:bodyPr rtlCol="0" anchor="ctr"/>
          <a:lstStyle/>
          <a:p>
            <a:pPr algn="ctr"/>
            <a:endParaRPr/>
          </a:p>
        </p:txBody>
      </p:sp>
      <p:sp>
        <p:nvSpPr>
          <p:cNvPr id="21" name="Rounded Rectangle 20"/>
          <p:cNvSpPr/>
          <p:nvPr/>
        </p:nvSpPr>
        <p:spPr>
          <a:xfrm>
            <a:off x="4197096" y="2944368"/>
            <a:ext cx="621792" cy="621792"/>
          </a:xfrm>
          <a:prstGeom prst="roundRect">
            <a:avLst>
              <a:gd name="adj" fmla="val 12000"/>
            </a:avLst>
          </a:prstGeom>
          <a:solidFill>
            <a:srgbClr val="F87171"/>
          </a:solidFill>
          <a:ln>
            <a:noFill/>
          </a:ln>
          <a:effectLst/>
        </p:spPr>
        <p:txBody>
          <a:bodyPr rtlCol="0" anchor="ctr"/>
          <a:lstStyle/>
          <a:p>
            <a:pPr algn="ctr"/>
            <a:endParaRPr/>
          </a:p>
        </p:txBody>
      </p:sp>
      <p:sp>
        <p:nvSpPr>
          <p:cNvPr id="22" name="Rounded Rectangle 21"/>
          <p:cNvSpPr/>
          <p:nvPr/>
        </p:nvSpPr>
        <p:spPr>
          <a:xfrm>
            <a:off x="1490472" y="3621024"/>
            <a:ext cx="621792" cy="621792"/>
          </a:xfrm>
          <a:prstGeom prst="roundRect">
            <a:avLst>
              <a:gd name="adj" fmla="val 12000"/>
            </a:avLst>
          </a:prstGeom>
          <a:solidFill>
            <a:srgbClr val="FDE68A"/>
          </a:solidFill>
          <a:ln>
            <a:noFill/>
          </a:ln>
          <a:effectLst/>
        </p:spPr>
        <p:txBody>
          <a:bodyPr rtlCol="0" anchor="ctr"/>
          <a:lstStyle/>
          <a:p>
            <a:pPr algn="ctr"/>
            <a:endParaRPr/>
          </a:p>
        </p:txBody>
      </p:sp>
      <p:sp>
        <p:nvSpPr>
          <p:cNvPr id="23" name="Rounded Rectangle 22"/>
          <p:cNvSpPr/>
          <p:nvPr/>
        </p:nvSpPr>
        <p:spPr>
          <a:xfrm>
            <a:off x="2167127" y="3621024"/>
            <a:ext cx="621792" cy="621792"/>
          </a:xfrm>
          <a:prstGeom prst="roundRect">
            <a:avLst>
              <a:gd name="adj" fmla="val 12000"/>
            </a:avLst>
          </a:prstGeom>
          <a:solidFill>
            <a:srgbClr val="FDE68A"/>
          </a:solidFill>
          <a:ln>
            <a:noFill/>
          </a:ln>
          <a:effectLst/>
        </p:spPr>
        <p:txBody>
          <a:bodyPr rtlCol="0" anchor="ctr"/>
          <a:lstStyle/>
          <a:p>
            <a:pPr algn="ctr"/>
            <a:endParaRPr/>
          </a:p>
        </p:txBody>
      </p:sp>
      <p:sp>
        <p:nvSpPr>
          <p:cNvPr id="24" name="Rounded Rectangle 23"/>
          <p:cNvSpPr/>
          <p:nvPr/>
        </p:nvSpPr>
        <p:spPr>
          <a:xfrm>
            <a:off x="2843784" y="3621024"/>
            <a:ext cx="621792" cy="621792"/>
          </a:xfrm>
          <a:prstGeom prst="roundRect">
            <a:avLst>
              <a:gd name="adj" fmla="val 12000"/>
            </a:avLst>
          </a:prstGeom>
          <a:solidFill>
            <a:srgbClr val="FCD34D"/>
          </a:solidFill>
          <a:ln>
            <a:noFill/>
          </a:ln>
          <a:effectLst/>
        </p:spPr>
        <p:txBody>
          <a:bodyPr rtlCol="0" anchor="ctr"/>
          <a:lstStyle/>
          <a:p>
            <a:pPr algn="ctr"/>
            <a:endParaRPr/>
          </a:p>
        </p:txBody>
      </p:sp>
      <p:sp>
        <p:nvSpPr>
          <p:cNvPr id="25" name="Rounded Rectangle 24"/>
          <p:cNvSpPr/>
          <p:nvPr/>
        </p:nvSpPr>
        <p:spPr>
          <a:xfrm>
            <a:off x="3520439" y="3621024"/>
            <a:ext cx="621792" cy="621792"/>
          </a:xfrm>
          <a:prstGeom prst="roundRect">
            <a:avLst>
              <a:gd name="adj" fmla="val 12000"/>
            </a:avLst>
          </a:prstGeom>
          <a:solidFill>
            <a:srgbClr val="FDBA74"/>
          </a:solidFill>
          <a:ln>
            <a:noFill/>
          </a:ln>
          <a:effectLst/>
        </p:spPr>
        <p:txBody>
          <a:bodyPr rtlCol="0" anchor="ctr"/>
          <a:lstStyle/>
          <a:p>
            <a:pPr algn="ctr"/>
            <a:endParaRPr/>
          </a:p>
        </p:txBody>
      </p:sp>
      <p:sp>
        <p:nvSpPr>
          <p:cNvPr id="26" name="Rounded Rectangle 25"/>
          <p:cNvSpPr/>
          <p:nvPr/>
        </p:nvSpPr>
        <p:spPr>
          <a:xfrm>
            <a:off x="4197096" y="3621024"/>
            <a:ext cx="621792" cy="621792"/>
          </a:xfrm>
          <a:prstGeom prst="roundRect">
            <a:avLst>
              <a:gd name="adj" fmla="val 12000"/>
            </a:avLst>
          </a:prstGeom>
          <a:solidFill>
            <a:srgbClr val="FCA5A5"/>
          </a:solidFill>
          <a:ln>
            <a:noFill/>
          </a:ln>
          <a:effectLst/>
        </p:spPr>
        <p:txBody>
          <a:bodyPr rtlCol="0" anchor="ctr"/>
          <a:lstStyle/>
          <a:p>
            <a:pPr algn="ctr"/>
            <a:endParaRPr/>
          </a:p>
        </p:txBody>
      </p:sp>
      <p:sp>
        <p:nvSpPr>
          <p:cNvPr id="27" name="Rounded Rectangle 26"/>
          <p:cNvSpPr/>
          <p:nvPr/>
        </p:nvSpPr>
        <p:spPr>
          <a:xfrm>
            <a:off x="1490472" y="4297680"/>
            <a:ext cx="621792" cy="621792"/>
          </a:xfrm>
          <a:prstGeom prst="roundRect">
            <a:avLst>
              <a:gd name="adj" fmla="val 12000"/>
            </a:avLst>
          </a:prstGeom>
          <a:solidFill>
            <a:srgbClr val="BBF7D0"/>
          </a:solidFill>
          <a:ln>
            <a:noFill/>
          </a:ln>
          <a:effectLst/>
        </p:spPr>
        <p:txBody>
          <a:bodyPr rtlCol="0" anchor="ctr"/>
          <a:lstStyle/>
          <a:p>
            <a:pPr algn="ctr"/>
            <a:endParaRPr/>
          </a:p>
        </p:txBody>
      </p:sp>
      <p:sp>
        <p:nvSpPr>
          <p:cNvPr id="28" name="Rounded Rectangle 27"/>
          <p:cNvSpPr/>
          <p:nvPr/>
        </p:nvSpPr>
        <p:spPr>
          <a:xfrm>
            <a:off x="2167127" y="4297680"/>
            <a:ext cx="621792" cy="621792"/>
          </a:xfrm>
          <a:prstGeom prst="roundRect">
            <a:avLst>
              <a:gd name="adj" fmla="val 12000"/>
            </a:avLst>
          </a:prstGeom>
          <a:solidFill>
            <a:srgbClr val="FDE68A"/>
          </a:solidFill>
          <a:ln>
            <a:noFill/>
          </a:ln>
          <a:effectLst/>
        </p:spPr>
        <p:txBody>
          <a:bodyPr rtlCol="0" anchor="ctr"/>
          <a:lstStyle/>
          <a:p>
            <a:pPr algn="ctr"/>
            <a:endParaRPr/>
          </a:p>
        </p:txBody>
      </p:sp>
      <p:sp>
        <p:nvSpPr>
          <p:cNvPr id="29" name="Rounded Rectangle 28"/>
          <p:cNvSpPr/>
          <p:nvPr/>
        </p:nvSpPr>
        <p:spPr>
          <a:xfrm>
            <a:off x="2843784" y="4297680"/>
            <a:ext cx="621792" cy="621792"/>
          </a:xfrm>
          <a:prstGeom prst="roundRect">
            <a:avLst>
              <a:gd name="adj" fmla="val 12000"/>
            </a:avLst>
          </a:prstGeom>
          <a:solidFill>
            <a:srgbClr val="FDE68A"/>
          </a:solidFill>
          <a:ln>
            <a:noFill/>
          </a:ln>
          <a:effectLst/>
        </p:spPr>
        <p:txBody>
          <a:bodyPr rtlCol="0" anchor="ctr"/>
          <a:lstStyle/>
          <a:p>
            <a:pPr algn="ctr"/>
            <a:endParaRPr/>
          </a:p>
        </p:txBody>
      </p:sp>
      <p:sp>
        <p:nvSpPr>
          <p:cNvPr id="30" name="Rounded Rectangle 29"/>
          <p:cNvSpPr/>
          <p:nvPr/>
        </p:nvSpPr>
        <p:spPr>
          <a:xfrm>
            <a:off x="3520439" y="4297680"/>
            <a:ext cx="621792" cy="621792"/>
          </a:xfrm>
          <a:prstGeom prst="roundRect">
            <a:avLst>
              <a:gd name="adj" fmla="val 12000"/>
            </a:avLst>
          </a:prstGeom>
          <a:solidFill>
            <a:srgbClr val="FCD34D"/>
          </a:solidFill>
          <a:ln>
            <a:noFill/>
          </a:ln>
          <a:effectLst/>
        </p:spPr>
        <p:txBody>
          <a:bodyPr rtlCol="0" anchor="ctr"/>
          <a:lstStyle/>
          <a:p>
            <a:pPr algn="ctr"/>
            <a:endParaRPr/>
          </a:p>
        </p:txBody>
      </p:sp>
      <p:sp>
        <p:nvSpPr>
          <p:cNvPr id="31" name="Rounded Rectangle 30"/>
          <p:cNvSpPr/>
          <p:nvPr/>
        </p:nvSpPr>
        <p:spPr>
          <a:xfrm>
            <a:off x="4197096" y="4297680"/>
            <a:ext cx="621792" cy="621792"/>
          </a:xfrm>
          <a:prstGeom prst="roundRect">
            <a:avLst>
              <a:gd name="adj" fmla="val 12000"/>
            </a:avLst>
          </a:prstGeom>
          <a:solidFill>
            <a:srgbClr val="FDBA74"/>
          </a:solidFill>
          <a:ln>
            <a:noFill/>
          </a:ln>
          <a:effectLst/>
        </p:spPr>
        <p:txBody>
          <a:bodyPr rtlCol="0" anchor="ctr"/>
          <a:lstStyle/>
          <a:p>
            <a:pPr algn="ctr"/>
            <a:endParaRPr/>
          </a:p>
        </p:txBody>
      </p:sp>
      <p:sp>
        <p:nvSpPr>
          <p:cNvPr id="32" name="Rounded Rectangle 31"/>
          <p:cNvSpPr/>
          <p:nvPr/>
        </p:nvSpPr>
        <p:spPr>
          <a:xfrm>
            <a:off x="1490472" y="4974336"/>
            <a:ext cx="621792" cy="621792"/>
          </a:xfrm>
          <a:prstGeom prst="roundRect">
            <a:avLst>
              <a:gd name="adj" fmla="val 12000"/>
            </a:avLst>
          </a:prstGeom>
          <a:solidFill>
            <a:srgbClr val="BBF7D0"/>
          </a:solidFill>
          <a:ln>
            <a:noFill/>
          </a:ln>
          <a:effectLst/>
        </p:spPr>
        <p:txBody>
          <a:bodyPr rtlCol="0" anchor="ctr"/>
          <a:lstStyle/>
          <a:p>
            <a:pPr algn="ctr"/>
            <a:endParaRPr/>
          </a:p>
        </p:txBody>
      </p:sp>
      <p:sp>
        <p:nvSpPr>
          <p:cNvPr id="33" name="Rounded Rectangle 32"/>
          <p:cNvSpPr/>
          <p:nvPr/>
        </p:nvSpPr>
        <p:spPr>
          <a:xfrm>
            <a:off x="2167127" y="4974336"/>
            <a:ext cx="621792" cy="621792"/>
          </a:xfrm>
          <a:prstGeom prst="roundRect">
            <a:avLst>
              <a:gd name="adj" fmla="val 12000"/>
            </a:avLst>
          </a:prstGeom>
          <a:solidFill>
            <a:srgbClr val="BBF7D0"/>
          </a:solidFill>
          <a:ln>
            <a:noFill/>
          </a:ln>
          <a:effectLst/>
        </p:spPr>
        <p:txBody>
          <a:bodyPr rtlCol="0" anchor="ctr"/>
          <a:lstStyle/>
          <a:p>
            <a:pPr algn="ctr"/>
            <a:endParaRPr/>
          </a:p>
        </p:txBody>
      </p:sp>
      <p:sp>
        <p:nvSpPr>
          <p:cNvPr id="34" name="Rounded Rectangle 33"/>
          <p:cNvSpPr/>
          <p:nvPr/>
        </p:nvSpPr>
        <p:spPr>
          <a:xfrm>
            <a:off x="2843784" y="4974336"/>
            <a:ext cx="621792" cy="621792"/>
          </a:xfrm>
          <a:prstGeom prst="roundRect">
            <a:avLst>
              <a:gd name="adj" fmla="val 12000"/>
            </a:avLst>
          </a:prstGeom>
          <a:solidFill>
            <a:srgbClr val="FDE68A"/>
          </a:solidFill>
          <a:ln>
            <a:noFill/>
          </a:ln>
          <a:effectLst/>
        </p:spPr>
        <p:txBody>
          <a:bodyPr rtlCol="0" anchor="ctr"/>
          <a:lstStyle/>
          <a:p>
            <a:pPr algn="ctr"/>
            <a:endParaRPr/>
          </a:p>
        </p:txBody>
      </p:sp>
      <p:sp>
        <p:nvSpPr>
          <p:cNvPr id="35" name="Rounded Rectangle 34"/>
          <p:cNvSpPr/>
          <p:nvPr/>
        </p:nvSpPr>
        <p:spPr>
          <a:xfrm>
            <a:off x="3520439" y="4974336"/>
            <a:ext cx="621792" cy="621792"/>
          </a:xfrm>
          <a:prstGeom prst="roundRect">
            <a:avLst>
              <a:gd name="adj" fmla="val 12000"/>
            </a:avLst>
          </a:prstGeom>
          <a:solidFill>
            <a:srgbClr val="FDE68A"/>
          </a:solidFill>
          <a:ln>
            <a:noFill/>
          </a:ln>
          <a:effectLst/>
        </p:spPr>
        <p:txBody>
          <a:bodyPr rtlCol="0" anchor="ctr"/>
          <a:lstStyle/>
          <a:p>
            <a:pPr algn="ctr"/>
            <a:endParaRPr/>
          </a:p>
        </p:txBody>
      </p:sp>
      <p:sp>
        <p:nvSpPr>
          <p:cNvPr id="36" name="Rounded Rectangle 35"/>
          <p:cNvSpPr/>
          <p:nvPr/>
        </p:nvSpPr>
        <p:spPr>
          <a:xfrm>
            <a:off x="4197096" y="4974336"/>
            <a:ext cx="621792" cy="621792"/>
          </a:xfrm>
          <a:prstGeom prst="roundRect">
            <a:avLst>
              <a:gd name="adj" fmla="val 12000"/>
            </a:avLst>
          </a:prstGeom>
          <a:solidFill>
            <a:srgbClr val="FCD34D"/>
          </a:solidFill>
          <a:ln>
            <a:noFill/>
          </a:ln>
          <a:effectLst/>
        </p:spPr>
        <p:txBody>
          <a:bodyPr rtlCol="0" anchor="ctr"/>
          <a:lstStyle/>
          <a:p>
            <a:pPr algn="ctr"/>
            <a:endParaRPr/>
          </a:p>
        </p:txBody>
      </p:sp>
      <p:sp>
        <p:nvSpPr>
          <p:cNvPr id="37" name="TextBox 36"/>
          <p:cNvSpPr txBox="1"/>
          <p:nvPr/>
        </p:nvSpPr>
        <p:spPr>
          <a:xfrm>
            <a:off x="1463040" y="5641848"/>
            <a:ext cx="676656" cy="182880"/>
          </a:xfrm>
          <a:prstGeom prst="rect">
            <a:avLst/>
          </a:prstGeom>
          <a:noFill/>
        </p:spPr>
        <p:txBody>
          <a:bodyPr wrap="square" lIns="0" tIns="0" rIns="0" bIns="0" anchor="t">
            <a:spAutoFit/>
          </a:bodyPr>
          <a:lstStyle/>
          <a:p>
            <a:pPr algn="ctr">
              <a:lnSpc>
                <a:spcPct val="108000"/>
              </a:lnSpc>
              <a:spcAft>
                <a:spcPts val="300"/>
              </a:spcAft>
            </a:pPr>
            <a:r>
              <a:rPr sz="800" b="0" i="0">
                <a:solidFill>
                  <a:srgbClr val="6B6F8A"/>
                </a:solidFill>
                <a:latin typeface="Montserrat"/>
              </a:rPr>
              <a:t>1</a:t>
            </a:r>
          </a:p>
        </p:txBody>
      </p:sp>
      <p:sp>
        <p:nvSpPr>
          <p:cNvPr id="38" name="TextBox 37"/>
          <p:cNvSpPr txBox="1"/>
          <p:nvPr/>
        </p:nvSpPr>
        <p:spPr>
          <a:xfrm>
            <a:off x="1188720" y="2487168"/>
            <a:ext cx="228600" cy="182880"/>
          </a:xfrm>
          <a:prstGeom prst="rect">
            <a:avLst/>
          </a:prstGeom>
          <a:noFill/>
        </p:spPr>
        <p:txBody>
          <a:bodyPr wrap="square" lIns="0" tIns="0" rIns="0" bIns="0" anchor="t">
            <a:spAutoFit/>
          </a:bodyPr>
          <a:lstStyle/>
          <a:p>
            <a:pPr algn="ctr">
              <a:lnSpc>
                <a:spcPct val="108000"/>
              </a:lnSpc>
              <a:spcAft>
                <a:spcPts val="300"/>
              </a:spcAft>
            </a:pPr>
            <a:r>
              <a:rPr sz="800" b="0" i="0">
                <a:solidFill>
                  <a:srgbClr val="6B6F8A"/>
                </a:solidFill>
                <a:latin typeface="Montserrat"/>
              </a:rPr>
              <a:t>5</a:t>
            </a:r>
          </a:p>
        </p:txBody>
      </p:sp>
      <p:sp>
        <p:nvSpPr>
          <p:cNvPr id="39" name="TextBox 38"/>
          <p:cNvSpPr txBox="1"/>
          <p:nvPr/>
        </p:nvSpPr>
        <p:spPr>
          <a:xfrm>
            <a:off x="2139696" y="5641848"/>
            <a:ext cx="676656" cy="182880"/>
          </a:xfrm>
          <a:prstGeom prst="rect">
            <a:avLst/>
          </a:prstGeom>
          <a:noFill/>
        </p:spPr>
        <p:txBody>
          <a:bodyPr wrap="square" lIns="0" tIns="0" rIns="0" bIns="0" anchor="t">
            <a:spAutoFit/>
          </a:bodyPr>
          <a:lstStyle/>
          <a:p>
            <a:pPr algn="ctr">
              <a:lnSpc>
                <a:spcPct val="108000"/>
              </a:lnSpc>
              <a:spcAft>
                <a:spcPts val="300"/>
              </a:spcAft>
            </a:pPr>
            <a:r>
              <a:rPr sz="800" b="0" i="0">
                <a:solidFill>
                  <a:srgbClr val="6B6F8A"/>
                </a:solidFill>
                <a:latin typeface="Montserrat"/>
              </a:rPr>
              <a:t>2</a:t>
            </a:r>
          </a:p>
        </p:txBody>
      </p:sp>
      <p:sp>
        <p:nvSpPr>
          <p:cNvPr id="40" name="TextBox 39"/>
          <p:cNvSpPr txBox="1"/>
          <p:nvPr/>
        </p:nvSpPr>
        <p:spPr>
          <a:xfrm>
            <a:off x="1188720" y="3163824"/>
            <a:ext cx="228600" cy="182880"/>
          </a:xfrm>
          <a:prstGeom prst="rect">
            <a:avLst/>
          </a:prstGeom>
          <a:noFill/>
        </p:spPr>
        <p:txBody>
          <a:bodyPr wrap="square" lIns="0" tIns="0" rIns="0" bIns="0" anchor="t">
            <a:spAutoFit/>
          </a:bodyPr>
          <a:lstStyle/>
          <a:p>
            <a:pPr algn="ctr">
              <a:lnSpc>
                <a:spcPct val="108000"/>
              </a:lnSpc>
              <a:spcAft>
                <a:spcPts val="300"/>
              </a:spcAft>
            </a:pPr>
            <a:r>
              <a:rPr sz="800" b="0" i="0">
                <a:solidFill>
                  <a:srgbClr val="6B6F8A"/>
                </a:solidFill>
                <a:latin typeface="Montserrat"/>
              </a:rPr>
              <a:t>4</a:t>
            </a:r>
          </a:p>
        </p:txBody>
      </p:sp>
      <p:sp>
        <p:nvSpPr>
          <p:cNvPr id="41" name="TextBox 40"/>
          <p:cNvSpPr txBox="1"/>
          <p:nvPr/>
        </p:nvSpPr>
        <p:spPr>
          <a:xfrm>
            <a:off x="2816352" y="5641848"/>
            <a:ext cx="676656" cy="182880"/>
          </a:xfrm>
          <a:prstGeom prst="rect">
            <a:avLst/>
          </a:prstGeom>
          <a:noFill/>
        </p:spPr>
        <p:txBody>
          <a:bodyPr wrap="square" lIns="0" tIns="0" rIns="0" bIns="0" anchor="t">
            <a:spAutoFit/>
          </a:bodyPr>
          <a:lstStyle/>
          <a:p>
            <a:pPr algn="ctr">
              <a:lnSpc>
                <a:spcPct val="108000"/>
              </a:lnSpc>
              <a:spcAft>
                <a:spcPts val="300"/>
              </a:spcAft>
            </a:pPr>
            <a:r>
              <a:rPr sz="800" b="0" i="0">
                <a:solidFill>
                  <a:srgbClr val="6B6F8A"/>
                </a:solidFill>
                <a:latin typeface="Montserrat"/>
              </a:rPr>
              <a:t>3</a:t>
            </a:r>
          </a:p>
        </p:txBody>
      </p:sp>
      <p:sp>
        <p:nvSpPr>
          <p:cNvPr id="42" name="TextBox 41"/>
          <p:cNvSpPr txBox="1"/>
          <p:nvPr/>
        </p:nvSpPr>
        <p:spPr>
          <a:xfrm>
            <a:off x="1188720" y="3840480"/>
            <a:ext cx="228600" cy="182880"/>
          </a:xfrm>
          <a:prstGeom prst="rect">
            <a:avLst/>
          </a:prstGeom>
          <a:noFill/>
        </p:spPr>
        <p:txBody>
          <a:bodyPr wrap="square" lIns="0" tIns="0" rIns="0" bIns="0" anchor="t">
            <a:spAutoFit/>
          </a:bodyPr>
          <a:lstStyle/>
          <a:p>
            <a:pPr algn="ctr">
              <a:lnSpc>
                <a:spcPct val="108000"/>
              </a:lnSpc>
              <a:spcAft>
                <a:spcPts val="300"/>
              </a:spcAft>
            </a:pPr>
            <a:r>
              <a:rPr sz="800" b="0" i="0">
                <a:solidFill>
                  <a:srgbClr val="6B6F8A"/>
                </a:solidFill>
                <a:latin typeface="Montserrat"/>
              </a:rPr>
              <a:t>3</a:t>
            </a:r>
          </a:p>
        </p:txBody>
      </p:sp>
      <p:sp>
        <p:nvSpPr>
          <p:cNvPr id="43" name="TextBox 42"/>
          <p:cNvSpPr txBox="1"/>
          <p:nvPr/>
        </p:nvSpPr>
        <p:spPr>
          <a:xfrm>
            <a:off x="3493008" y="5641848"/>
            <a:ext cx="676656" cy="182880"/>
          </a:xfrm>
          <a:prstGeom prst="rect">
            <a:avLst/>
          </a:prstGeom>
          <a:noFill/>
        </p:spPr>
        <p:txBody>
          <a:bodyPr wrap="square" lIns="0" tIns="0" rIns="0" bIns="0" anchor="t">
            <a:spAutoFit/>
          </a:bodyPr>
          <a:lstStyle/>
          <a:p>
            <a:pPr algn="ctr">
              <a:lnSpc>
                <a:spcPct val="108000"/>
              </a:lnSpc>
              <a:spcAft>
                <a:spcPts val="300"/>
              </a:spcAft>
            </a:pPr>
            <a:r>
              <a:rPr sz="800" b="0" i="0">
                <a:solidFill>
                  <a:srgbClr val="6B6F8A"/>
                </a:solidFill>
                <a:latin typeface="Montserrat"/>
              </a:rPr>
              <a:t>4</a:t>
            </a:r>
          </a:p>
        </p:txBody>
      </p:sp>
      <p:sp>
        <p:nvSpPr>
          <p:cNvPr id="44" name="TextBox 43"/>
          <p:cNvSpPr txBox="1"/>
          <p:nvPr/>
        </p:nvSpPr>
        <p:spPr>
          <a:xfrm>
            <a:off x="1188720" y="4517136"/>
            <a:ext cx="228600" cy="182880"/>
          </a:xfrm>
          <a:prstGeom prst="rect">
            <a:avLst/>
          </a:prstGeom>
          <a:noFill/>
        </p:spPr>
        <p:txBody>
          <a:bodyPr wrap="square" lIns="0" tIns="0" rIns="0" bIns="0" anchor="t">
            <a:spAutoFit/>
          </a:bodyPr>
          <a:lstStyle/>
          <a:p>
            <a:pPr algn="ctr">
              <a:lnSpc>
                <a:spcPct val="108000"/>
              </a:lnSpc>
              <a:spcAft>
                <a:spcPts val="300"/>
              </a:spcAft>
            </a:pPr>
            <a:r>
              <a:rPr sz="800" b="0" i="0">
                <a:solidFill>
                  <a:srgbClr val="6B6F8A"/>
                </a:solidFill>
                <a:latin typeface="Montserrat"/>
              </a:rPr>
              <a:t>2</a:t>
            </a:r>
          </a:p>
        </p:txBody>
      </p:sp>
      <p:sp>
        <p:nvSpPr>
          <p:cNvPr id="45" name="TextBox 44"/>
          <p:cNvSpPr txBox="1"/>
          <p:nvPr/>
        </p:nvSpPr>
        <p:spPr>
          <a:xfrm>
            <a:off x="4169664" y="5641848"/>
            <a:ext cx="676656" cy="182880"/>
          </a:xfrm>
          <a:prstGeom prst="rect">
            <a:avLst/>
          </a:prstGeom>
          <a:noFill/>
        </p:spPr>
        <p:txBody>
          <a:bodyPr wrap="square" lIns="0" tIns="0" rIns="0" bIns="0" anchor="t">
            <a:spAutoFit/>
          </a:bodyPr>
          <a:lstStyle/>
          <a:p>
            <a:pPr algn="ctr">
              <a:lnSpc>
                <a:spcPct val="108000"/>
              </a:lnSpc>
              <a:spcAft>
                <a:spcPts val="300"/>
              </a:spcAft>
            </a:pPr>
            <a:r>
              <a:rPr sz="800" b="0" i="0">
                <a:solidFill>
                  <a:srgbClr val="6B6F8A"/>
                </a:solidFill>
                <a:latin typeface="Montserrat"/>
              </a:rPr>
              <a:t>5</a:t>
            </a:r>
          </a:p>
        </p:txBody>
      </p:sp>
      <p:sp>
        <p:nvSpPr>
          <p:cNvPr id="46" name="TextBox 45"/>
          <p:cNvSpPr txBox="1"/>
          <p:nvPr/>
        </p:nvSpPr>
        <p:spPr>
          <a:xfrm>
            <a:off x="1188720" y="5193792"/>
            <a:ext cx="228600" cy="182880"/>
          </a:xfrm>
          <a:prstGeom prst="rect">
            <a:avLst/>
          </a:prstGeom>
          <a:noFill/>
        </p:spPr>
        <p:txBody>
          <a:bodyPr wrap="square" lIns="0" tIns="0" rIns="0" bIns="0" anchor="t">
            <a:spAutoFit/>
          </a:bodyPr>
          <a:lstStyle/>
          <a:p>
            <a:pPr algn="ctr">
              <a:lnSpc>
                <a:spcPct val="108000"/>
              </a:lnSpc>
              <a:spcAft>
                <a:spcPts val="300"/>
              </a:spcAft>
            </a:pPr>
            <a:r>
              <a:rPr sz="800" b="0" i="0">
                <a:solidFill>
                  <a:srgbClr val="6B6F8A"/>
                </a:solidFill>
                <a:latin typeface="Montserrat"/>
              </a:rPr>
              <a:t>1</a:t>
            </a:r>
          </a:p>
        </p:txBody>
      </p:sp>
      <p:sp>
        <p:nvSpPr>
          <p:cNvPr id="47" name="TextBox 46"/>
          <p:cNvSpPr txBox="1"/>
          <p:nvPr/>
        </p:nvSpPr>
        <p:spPr>
          <a:xfrm>
            <a:off x="1463040" y="5852160"/>
            <a:ext cx="3383280" cy="228600"/>
          </a:xfrm>
          <a:prstGeom prst="rect">
            <a:avLst/>
          </a:prstGeom>
          <a:noFill/>
        </p:spPr>
        <p:txBody>
          <a:bodyPr wrap="square" lIns="0" tIns="0" rIns="0" bIns="0" anchor="t">
            <a:spAutoFit/>
          </a:bodyPr>
          <a:lstStyle/>
          <a:p>
            <a:pPr algn="ctr">
              <a:lnSpc>
                <a:spcPct val="108000"/>
              </a:lnSpc>
              <a:spcAft>
                <a:spcPts val="300"/>
              </a:spcAft>
            </a:pPr>
            <a:r>
              <a:rPr sz="900" b="1" i="0">
                <a:solidFill>
                  <a:srgbClr val="0F1129"/>
                </a:solidFill>
                <a:latin typeface="Montserrat"/>
              </a:rPr>
              <a:t>Likelihood  →</a:t>
            </a:r>
          </a:p>
        </p:txBody>
      </p:sp>
      <p:sp>
        <p:nvSpPr>
          <p:cNvPr id="48" name="TextBox 47"/>
          <p:cNvSpPr txBox="1"/>
          <p:nvPr/>
        </p:nvSpPr>
        <p:spPr>
          <a:xfrm rot="16200000">
            <a:off x="-640079" y="3803904"/>
            <a:ext cx="3383280" cy="256032"/>
          </a:xfrm>
          <a:prstGeom prst="rect">
            <a:avLst/>
          </a:prstGeom>
          <a:noFill/>
        </p:spPr>
        <p:txBody>
          <a:bodyPr wrap="square" lIns="0" tIns="0" rIns="0" bIns="0" anchor="t">
            <a:spAutoFit/>
          </a:bodyPr>
          <a:lstStyle/>
          <a:p>
            <a:pPr algn="ctr">
              <a:lnSpc>
                <a:spcPct val="108000"/>
              </a:lnSpc>
              <a:spcAft>
                <a:spcPts val="300"/>
              </a:spcAft>
            </a:pPr>
            <a:r>
              <a:rPr sz="850" b="1" i="0">
                <a:solidFill>
                  <a:srgbClr val="0F1129"/>
                </a:solidFill>
                <a:latin typeface="Montserrat"/>
              </a:rPr>
              <a:t>Severity (scale, scope, remediability)  →</a:t>
            </a:r>
          </a:p>
        </p:txBody>
      </p:sp>
      <p:sp>
        <p:nvSpPr>
          <p:cNvPr id="49" name="Oval 48"/>
          <p:cNvSpPr/>
          <p:nvPr/>
        </p:nvSpPr>
        <p:spPr>
          <a:xfrm>
            <a:off x="4334256" y="2404872"/>
            <a:ext cx="347472" cy="347472"/>
          </a:xfrm>
          <a:prstGeom prst="ellipse">
            <a:avLst/>
          </a:prstGeom>
          <a:solidFill>
            <a:srgbClr val="0F1129"/>
          </a:solidFill>
          <a:ln w="19050">
            <a:solidFill>
              <a:srgbClr val="FFFFFF"/>
            </a:solidFill>
          </a:ln>
          <a:effectLst/>
        </p:spPr>
        <p:txBody>
          <a:bodyPr rtlCol="0" anchor="ctr"/>
          <a:lstStyle/>
          <a:p>
            <a:pPr algn="ctr"/>
            <a:endParaRPr/>
          </a:p>
        </p:txBody>
      </p:sp>
      <p:sp>
        <p:nvSpPr>
          <p:cNvPr id="50" name="TextBox 49"/>
          <p:cNvSpPr txBox="1"/>
          <p:nvPr/>
        </p:nvSpPr>
        <p:spPr>
          <a:xfrm>
            <a:off x="4334256" y="2404872"/>
            <a:ext cx="347472" cy="347472"/>
          </a:xfrm>
          <a:prstGeom prst="rect">
            <a:avLst/>
          </a:prstGeom>
          <a:noFill/>
        </p:spPr>
        <p:txBody>
          <a:bodyPr wrap="square" lIns="0" tIns="0" rIns="0" bIns="0" anchor="ctr">
            <a:spAutoFit/>
          </a:bodyPr>
          <a:lstStyle/>
          <a:p>
            <a:pPr algn="ctr">
              <a:lnSpc>
                <a:spcPct val="108000"/>
              </a:lnSpc>
              <a:spcAft>
                <a:spcPts val="300"/>
              </a:spcAft>
            </a:pPr>
            <a:r>
              <a:rPr sz="1100" b="1" i="0">
                <a:solidFill>
                  <a:srgbClr val="FFFFFF"/>
                </a:solidFill>
                <a:latin typeface="Montserrat"/>
              </a:rPr>
              <a:t>1</a:t>
            </a:r>
          </a:p>
        </p:txBody>
      </p:sp>
      <p:sp>
        <p:nvSpPr>
          <p:cNvPr id="51" name="Oval 50"/>
          <p:cNvSpPr/>
          <p:nvPr/>
        </p:nvSpPr>
        <p:spPr>
          <a:xfrm>
            <a:off x="3657599" y="2404872"/>
            <a:ext cx="347472" cy="347472"/>
          </a:xfrm>
          <a:prstGeom prst="ellipse">
            <a:avLst/>
          </a:prstGeom>
          <a:solidFill>
            <a:srgbClr val="E4202E"/>
          </a:solidFill>
          <a:ln w="19050">
            <a:solidFill>
              <a:srgbClr val="FFFFFF"/>
            </a:solidFill>
          </a:ln>
          <a:effectLst/>
        </p:spPr>
        <p:txBody>
          <a:bodyPr rtlCol="0" anchor="ctr"/>
          <a:lstStyle/>
          <a:p>
            <a:pPr algn="ctr"/>
            <a:endParaRPr/>
          </a:p>
        </p:txBody>
      </p:sp>
      <p:sp>
        <p:nvSpPr>
          <p:cNvPr id="52" name="TextBox 51"/>
          <p:cNvSpPr txBox="1"/>
          <p:nvPr/>
        </p:nvSpPr>
        <p:spPr>
          <a:xfrm>
            <a:off x="3657599" y="2404872"/>
            <a:ext cx="347472" cy="347472"/>
          </a:xfrm>
          <a:prstGeom prst="rect">
            <a:avLst/>
          </a:prstGeom>
          <a:noFill/>
        </p:spPr>
        <p:txBody>
          <a:bodyPr wrap="square" lIns="0" tIns="0" rIns="0" bIns="0" anchor="ctr">
            <a:spAutoFit/>
          </a:bodyPr>
          <a:lstStyle/>
          <a:p>
            <a:pPr algn="ctr">
              <a:lnSpc>
                <a:spcPct val="108000"/>
              </a:lnSpc>
              <a:spcAft>
                <a:spcPts val="300"/>
              </a:spcAft>
            </a:pPr>
            <a:r>
              <a:rPr sz="1100" b="1" i="0">
                <a:solidFill>
                  <a:srgbClr val="FFFFFF"/>
                </a:solidFill>
                <a:latin typeface="Montserrat"/>
              </a:rPr>
              <a:t>2</a:t>
            </a:r>
          </a:p>
        </p:txBody>
      </p:sp>
      <p:sp>
        <p:nvSpPr>
          <p:cNvPr id="53" name="Oval 52"/>
          <p:cNvSpPr/>
          <p:nvPr/>
        </p:nvSpPr>
        <p:spPr>
          <a:xfrm>
            <a:off x="2980944" y="2404872"/>
            <a:ext cx="347472" cy="347472"/>
          </a:xfrm>
          <a:prstGeom prst="ellipse">
            <a:avLst/>
          </a:prstGeom>
          <a:solidFill>
            <a:srgbClr val="E4202E"/>
          </a:solidFill>
          <a:ln w="19050">
            <a:solidFill>
              <a:srgbClr val="FFFFFF"/>
            </a:solidFill>
          </a:ln>
          <a:effectLst/>
        </p:spPr>
        <p:txBody>
          <a:bodyPr rtlCol="0" anchor="ctr"/>
          <a:lstStyle/>
          <a:p>
            <a:pPr algn="ctr"/>
            <a:endParaRPr/>
          </a:p>
        </p:txBody>
      </p:sp>
      <p:sp>
        <p:nvSpPr>
          <p:cNvPr id="54" name="TextBox 53"/>
          <p:cNvSpPr txBox="1"/>
          <p:nvPr/>
        </p:nvSpPr>
        <p:spPr>
          <a:xfrm>
            <a:off x="2980944" y="2404872"/>
            <a:ext cx="347472" cy="347472"/>
          </a:xfrm>
          <a:prstGeom prst="rect">
            <a:avLst/>
          </a:prstGeom>
          <a:noFill/>
        </p:spPr>
        <p:txBody>
          <a:bodyPr wrap="square" lIns="0" tIns="0" rIns="0" bIns="0" anchor="ctr">
            <a:spAutoFit/>
          </a:bodyPr>
          <a:lstStyle/>
          <a:p>
            <a:pPr algn="ctr">
              <a:lnSpc>
                <a:spcPct val="108000"/>
              </a:lnSpc>
              <a:spcAft>
                <a:spcPts val="300"/>
              </a:spcAft>
            </a:pPr>
            <a:r>
              <a:rPr sz="1100" b="1" i="0">
                <a:solidFill>
                  <a:srgbClr val="FFFFFF"/>
                </a:solidFill>
                <a:latin typeface="Montserrat"/>
              </a:rPr>
              <a:t>4</a:t>
            </a:r>
          </a:p>
        </p:txBody>
      </p:sp>
      <p:sp>
        <p:nvSpPr>
          <p:cNvPr id="55" name="Oval 54"/>
          <p:cNvSpPr/>
          <p:nvPr/>
        </p:nvSpPr>
        <p:spPr>
          <a:xfrm>
            <a:off x="3657599" y="3081528"/>
            <a:ext cx="347472" cy="347472"/>
          </a:xfrm>
          <a:prstGeom prst="ellipse">
            <a:avLst/>
          </a:prstGeom>
          <a:solidFill>
            <a:srgbClr val="E4202E"/>
          </a:solidFill>
          <a:ln w="19050">
            <a:solidFill>
              <a:srgbClr val="FFFFFF"/>
            </a:solidFill>
          </a:ln>
          <a:effectLst/>
        </p:spPr>
        <p:txBody>
          <a:bodyPr rtlCol="0" anchor="ctr"/>
          <a:lstStyle/>
          <a:p>
            <a:pPr algn="ctr"/>
            <a:endParaRPr/>
          </a:p>
        </p:txBody>
      </p:sp>
      <p:sp>
        <p:nvSpPr>
          <p:cNvPr id="56" name="TextBox 55"/>
          <p:cNvSpPr txBox="1"/>
          <p:nvPr/>
        </p:nvSpPr>
        <p:spPr>
          <a:xfrm>
            <a:off x="3657599" y="3081528"/>
            <a:ext cx="347472" cy="347472"/>
          </a:xfrm>
          <a:prstGeom prst="rect">
            <a:avLst/>
          </a:prstGeom>
          <a:noFill/>
        </p:spPr>
        <p:txBody>
          <a:bodyPr wrap="square" lIns="0" tIns="0" rIns="0" bIns="0" anchor="ctr">
            <a:spAutoFit/>
          </a:bodyPr>
          <a:lstStyle/>
          <a:p>
            <a:pPr algn="ctr">
              <a:lnSpc>
                <a:spcPct val="108000"/>
              </a:lnSpc>
              <a:spcAft>
                <a:spcPts val="300"/>
              </a:spcAft>
            </a:pPr>
            <a:r>
              <a:rPr sz="1100" b="1" i="0">
                <a:solidFill>
                  <a:srgbClr val="FFFFFF"/>
                </a:solidFill>
                <a:latin typeface="Montserrat"/>
              </a:rPr>
              <a:t>3</a:t>
            </a:r>
          </a:p>
        </p:txBody>
      </p:sp>
      <p:sp>
        <p:nvSpPr>
          <p:cNvPr id="57" name="Oval 56"/>
          <p:cNvSpPr/>
          <p:nvPr/>
        </p:nvSpPr>
        <p:spPr>
          <a:xfrm>
            <a:off x="3657599" y="3758183"/>
            <a:ext cx="347472" cy="347472"/>
          </a:xfrm>
          <a:prstGeom prst="ellipse">
            <a:avLst/>
          </a:prstGeom>
          <a:solidFill>
            <a:srgbClr val="E4202E"/>
          </a:solidFill>
          <a:ln w="19050">
            <a:solidFill>
              <a:srgbClr val="FFFFFF"/>
            </a:solidFill>
          </a:ln>
          <a:effectLst/>
        </p:spPr>
        <p:txBody>
          <a:bodyPr rtlCol="0" anchor="ctr"/>
          <a:lstStyle/>
          <a:p>
            <a:pPr algn="ctr"/>
            <a:endParaRPr/>
          </a:p>
        </p:txBody>
      </p:sp>
      <p:sp>
        <p:nvSpPr>
          <p:cNvPr id="58" name="TextBox 57"/>
          <p:cNvSpPr txBox="1"/>
          <p:nvPr/>
        </p:nvSpPr>
        <p:spPr>
          <a:xfrm>
            <a:off x="3657599" y="3758183"/>
            <a:ext cx="347472" cy="347472"/>
          </a:xfrm>
          <a:prstGeom prst="rect">
            <a:avLst/>
          </a:prstGeom>
          <a:noFill/>
        </p:spPr>
        <p:txBody>
          <a:bodyPr wrap="square" lIns="0" tIns="0" rIns="0" bIns="0" anchor="ctr">
            <a:spAutoFit/>
          </a:bodyPr>
          <a:lstStyle/>
          <a:p>
            <a:pPr algn="ctr">
              <a:lnSpc>
                <a:spcPct val="108000"/>
              </a:lnSpc>
              <a:spcAft>
                <a:spcPts val="300"/>
              </a:spcAft>
            </a:pPr>
            <a:r>
              <a:rPr sz="1100" b="1" i="0">
                <a:solidFill>
                  <a:srgbClr val="FFFFFF"/>
                </a:solidFill>
                <a:latin typeface="Montserrat"/>
              </a:rPr>
              <a:t>6</a:t>
            </a:r>
          </a:p>
        </p:txBody>
      </p:sp>
      <p:sp>
        <p:nvSpPr>
          <p:cNvPr id="59" name="Oval 58"/>
          <p:cNvSpPr/>
          <p:nvPr/>
        </p:nvSpPr>
        <p:spPr>
          <a:xfrm>
            <a:off x="2980944" y="3081528"/>
            <a:ext cx="347472" cy="347472"/>
          </a:xfrm>
          <a:prstGeom prst="ellipse">
            <a:avLst/>
          </a:prstGeom>
          <a:solidFill>
            <a:srgbClr val="E4202E"/>
          </a:solidFill>
          <a:ln w="19050">
            <a:solidFill>
              <a:srgbClr val="FFFFFF"/>
            </a:solidFill>
          </a:ln>
          <a:effectLst/>
        </p:spPr>
        <p:txBody>
          <a:bodyPr rtlCol="0" anchor="ctr"/>
          <a:lstStyle/>
          <a:p>
            <a:pPr algn="ctr"/>
            <a:endParaRPr/>
          </a:p>
        </p:txBody>
      </p:sp>
      <p:sp>
        <p:nvSpPr>
          <p:cNvPr id="60" name="TextBox 59"/>
          <p:cNvSpPr txBox="1"/>
          <p:nvPr/>
        </p:nvSpPr>
        <p:spPr>
          <a:xfrm>
            <a:off x="2980944" y="3081528"/>
            <a:ext cx="347472" cy="347472"/>
          </a:xfrm>
          <a:prstGeom prst="rect">
            <a:avLst/>
          </a:prstGeom>
          <a:noFill/>
        </p:spPr>
        <p:txBody>
          <a:bodyPr wrap="square" lIns="0" tIns="0" rIns="0" bIns="0" anchor="ctr">
            <a:spAutoFit/>
          </a:bodyPr>
          <a:lstStyle/>
          <a:p>
            <a:pPr algn="ctr">
              <a:lnSpc>
                <a:spcPct val="108000"/>
              </a:lnSpc>
              <a:spcAft>
                <a:spcPts val="300"/>
              </a:spcAft>
            </a:pPr>
            <a:r>
              <a:rPr sz="1100" b="1" i="0">
                <a:solidFill>
                  <a:srgbClr val="FFFFFF"/>
                </a:solidFill>
                <a:latin typeface="Montserrat"/>
              </a:rPr>
              <a:t>5</a:t>
            </a:r>
          </a:p>
        </p:txBody>
      </p:sp>
      <p:sp>
        <p:nvSpPr>
          <p:cNvPr id="61" name="Rounded Rectangle 60"/>
          <p:cNvSpPr/>
          <p:nvPr/>
        </p:nvSpPr>
        <p:spPr>
          <a:xfrm>
            <a:off x="5440680" y="2011680"/>
            <a:ext cx="6199632" cy="4343400"/>
          </a:xfrm>
          <a:prstGeom prst="roundRect">
            <a:avLst>
              <a:gd name="adj" fmla="val 2105"/>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graphicFrame>
        <p:nvGraphicFramePr>
          <p:cNvPr id="62" name="Table 61"/>
          <p:cNvGraphicFramePr>
            <a:graphicFrameLocks noGrp="1"/>
          </p:cNvGraphicFramePr>
          <p:nvPr/>
        </p:nvGraphicFramePr>
        <p:xfrm>
          <a:off x="5577840" y="2103120"/>
          <a:ext cx="5925312" cy="2432304"/>
        </p:xfrm>
        <a:graphic>
          <a:graphicData uri="http://schemas.openxmlformats.org/drawingml/2006/table">
            <a:tbl>
              <a:tblPr>
                <a:tableStyleId>{2D5ABB26-0587-4C30-8999-92F81FD0307C}</a:tableStyleId>
              </a:tblPr>
              <a:tblGrid>
                <a:gridCol w="3200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987552">
                  <a:extLst>
                    <a:ext uri="{9D8B030D-6E8A-4147-A177-3AD203B41FA5}">
                      <a16:colId xmlns:a16="http://schemas.microsoft.com/office/drawing/2014/main" val="20004"/>
                    </a:ext>
                  </a:extLst>
                </a:gridCol>
              </a:tblGrid>
              <a:tr h="347472">
                <a:tc>
                  <a:txBody>
                    <a:bodyPr/>
                    <a:lstStyle/>
                    <a:p>
                      <a:pPr>
                        <a:lnSpc>
                          <a:spcPct val="102000"/>
                        </a:lnSpc>
                      </a:pPr>
                      <a:r>
                        <a:rPr sz="880" b="1" i="0">
                          <a:solidFill>
                            <a:srgbClr val="6B6F8A"/>
                          </a:solidFill>
                          <a:latin typeface="Montserrat"/>
                        </a:rPr>
                        <a:t>#</a:t>
                      </a:r>
                    </a:p>
                  </a:txBody>
                  <a:tcPr marL="64008" marR="64008" anchor="ctr">
                    <a:solidFill>
                      <a:srgbClr val="F2F3F8"/>
                    </a:solidFill>
                  </a:tcPr>
                </a:tc>
                <a:tc>
                  <a:txBody>
                    <a:bodyPr/>
                    <a:lstStyle/>
                    <a:p>
                      <a:pPr>
                        <a:lnSpc>
                          <a:spcPct val="102000"/>
                        </a:lnSpc>
                      </a:pPr>
                      <a:r>
                        <a:rPr sz="880" b="1" i="0">
                          <a:solidFill>
                            <a:srgbClr val="6B6F8A"/>
                          </a:solidFill>
                          <a:latin typeface="Montserrat"/>
                        </a:rPr>
                        <a:t>Salient issue</a:t>
                      </a:r>
                    </a:p>
                  </a:txBody>
                  <a:tcPr marL="64008" marR="64008" anchor="ctr">
                    <a:solidFill>
                      <a:srgbClr val="F2F3F8"/>
                    </a:solidFill>
                  </a:tcPr>
                </a:tc>
                <a:tc>
                  <a:txBody>
                    <a:bodyPr/>
                    <a:lstStyle/>
                    <a:p>
                      <a:pPr>
                        <a:lnSpc>
                          <a:spcPct val="102000"/>
                        </a:lnSpc>
                      </a:pPr>
                      <a:r>
                        <a:rPr sz="880" b="1" i="0">
                          <a:solidFill>
                            <a:srgbClr val="6B6F8A"/>
                          </a:solidFill>
                          <a:latin typeface="Montserrat"/>
                        </a:rPr>
                        <a:t>Sev.</a:t>
                      </a:r>
                    </a:p>
                  </a:txBody>
                  <a:tcPr marL="64008" marR="64008" anchor="ctr">
                    <a:solidFill>
                      <a:srgbClr val="F2F3F8"/>
                    </a:solidFill>
                  </a:tcPr>
                </a:tc>
                <a:tc>
                  <a:txBody>
                    <a:bodyPr/>
                    <a:lstStyle/>
                    <a:p>
                      <a:pPr>
                        <a:lnSpc>
                          <a:spcPct val="102000"/>
                        </a:lnSpc>
                      </a:pPr>
                      <a:r>
                        <a:rPr sz="880" b="1" i="0">
                          <a:solidFill>
                            <a:srgbClr val="6B6F8A"/>
                          </a:solidFill>
                          <a:latin typeface="Montserrat"/>
                        </a:rPr>
                        <a:t>Lik.</a:t>
                      </a:r>
                    </a:p>
                  </a:txBody>
                  <a:tcPr marL="64008" marR="64008" anchor="ctr">
                    <a:solidFill>
                      <a:srgbClr val="F2F3F8"/>
                    </a:solidFill>
                  </a:tcPr>
                </a:tc>
                <a:tc>
                  <a:txBody>
                    <a:bodyPr/>
                    <a:lstStyle/>
                    <a:p>
                      <a:pPr>
                        <a:lnSpc>
                          <a:spcPct val="102000"/>
                        </a:lnSpc>
                      </a:pPr>
                      <a:r>
                        <a:rPr sz="880" b="1" i="0">
                          <a:solidFill>
                            <a:srgbClr val="6B6F8A"/>
                          </a:solidFill>
                          <a:latin typeface="Montserrat"/>
                        </a:rPr>
                        <a:t>Priority</a:t>
                      </a:r>
                    </a:p>
                  </a:txBody>
                  <a:tcPr marL="64008" marR="64008" anchor="ctr">
                    <a:solidFill>
                      <a:srgbClr val="F2F3F8"/>
                    </a:solidFill>
                  </a:tcPr>
                </a:tc>
                <a:extLst>
                  <a:ext uri="{0D108BD9-81ED-4DB2-BD59-A6C34878D82A}">
                    <a16:rowId xmlns:a16="http://schemas.microsoft.com/office/drawing/2014/main" val="10000"/>
                  </a:ext>
                </a:extLst>
              </a:tr>
              <a:tr h="347472">
                <a:tc>
                  <a:txBody>
                    <a:bodyPr/>
                    <a:lstStyle/>
                    <a:p>
                      <a:pPr>
                        <a:lnSpc>
                          <a:spcPct val="102000"/>
                        </a:lnSpc>
                      </a:pPr>
                      <a:r>
                        <a:rPr sz="930" b="1" i="0">
                          <a:solidFill>
                            <a:srgbClr val="0F1129"/>
                          </a:solidFill>
                          <a:latin typeface="Montserrat"/>
                        </a:rPr>
                        <a:t>1</a:t>
                      </a:r>
                    </a:p>
                  </a:txBody>
                  <a:tcPr marL="64008" marR="64008" anchor="ctr">
                    <a:solidFill>
                      <a:srgbClr val="FFFFFF"/>
                    </a:solidFill>
                  </a:tcPr>
                </a:tc>
                <a:tc>
                  <a:txBody>
                    <a:bodyPr/>
                    <a:lstStyle/>
                    <a:p>
                      <a:pPr>
                        <a:lnSpc>
                          <a:spcPct val="102000"/>
                        </a:lnSpc>
                      </a:pPr>
                      <a:r>
                        <a:rPr sz="930" b="0" i="0" dirty="0">
                          <a:solidFill>
                            <a:srgbClr val="2A2C45"/>
                          </a:solidFill>
                          <a:latin typeface="Montserrat"/>
                        </a:rPr>
                        <a:t>Over-indebtedness &amp; unfair collection</a:t>
                      </a:r>
                    </a:p>
                  </a:txBody>
                  <a:tcPr marL="64008" marR="64008" anchor="ctr">
                    <a:solidFill>
                      <a:srgbClr val="FFFFFF"/>
                    </a:solidFill>
                  </a:tcPr>
                </a:tc>
                <a:tc>
                  <a:txBody>
                    <a:bodyPr/>
                    <a:lstStyle/>
                    <a:p>
                      <a:pPr>
                        <a:lnSpc>
                          <a:spcPct val="102000"/>
                        </a:lnSpc>
                      </a:pPr>
                      <a:r>
                        <a:rPr sz="930" b="0" i="0">
                          <a:solidFill>
                            <a:srgbClr val="2A2C45"/>
                          </a:solidFill>
                          <a:latin typeface="Montserrat"/>
                        </a:rPr>
                        <a:t>5</a:t>
                      </a:r>
                    </a:p>
                  </a:txBody>
                  <a:tcPr marL="64008" marR="64008" anchor="ctr">
                    <a:solidFill>
                      <a:srgbClr val="FFFFFF"/>
                    </a:solidFill>
                  </a:tcPr>
                </a:tc>
                <a:tc>
                  <a:txBody>
                    <a:bodyPr/>
                    <a:lstStyle/>
                    <a:p>
                      <a:pPr>
                        <a:lnSpc>
                          <a:spcPct val="102000"/>
                        </a:lnSpc>
                      </a:pPr>
                      <a:r>
                        <a:rPr sz="930" b="0" i="0">
                          <a:solidFill>
                            <a:srgbClr val="2A2C45"/>
                          </a:solidFill>
                          <a:latin typeface="Montserrat"/>
                        </a:rPr>
                        <a:t>5</a:t>
                      </a:r>
                    </a:p>
                  </a:txBody>
                  <a:tcPr marL="64008" marR="64008" anchor="ctr">
                    <a:solidFill>
                      <a:srgbClr val="FFFFFF"/>
                    </a:solidFill>
                  </a:tcPr>
                </a:tc>
                <a:tc>
                  <a:txBody>
                    <a:bodyPr/>
                    <a:lstStyle/>
                    <a:p>
                      <a:pPr>
                        <a:lnSpc>
                          <a:spcPct val="102000"/>
                        </a:lnSpc>
                      </a:pPr>
                      <a:r>
                        <a:rPr sz="930" b="0" i="0">
                          <a:solidFill>
                            <a:srgbClr val="2A2C45"/>
                          </a:solidFill>
                          <a:latin typeface="Montserrat"/>
                        </a:rPr>
                        <a:t>Focus</a:t>
                      </a:r>
                    </a:p>
                  </a:txBody>
                  <a:tcPr marL="64008" marR="64008" anchor="ctr">
                    <a:solidFill>
                      <a:srgbClr val="FFFFFF"/>
                    </a:solidFill>
                  </a:tcPr>
                </a:tc>
                <a:extLst>
                  <a:ext uri="{0D108BD9-81ED-4DB2-BD59-A6C34878D82A}">
                    <a16:rowId xmlns:a16="http://schemas.microsoft.com/office/drawing/2014/main" val="10001"/>
                  </a:ext>
                </a:extLst>
              </a:tr>
              <a:tr h="347472">
                <a:tc>
                  <a:txBody>
                    <a:bodyPr/>
                    <a:lstStyle/>
                    <a:p>
                      <a:pPr>
                        <a:lnSpc>
                          <a:spcPct val="102000"/>
                        </a:lnSpc>
                      </a:pPr>
                      <a:r>
                        <a:rPr sz="930" b="1" i="0">
                          <a:solidFill>
                            <a:srgbClr val="0F1129"/>
                          </a:solidFill>
                          <a:latin typeface="Montserrat"/>
                        </a:rPr>
                        <a:t>2</a:t>
                      </a:r>
                    </a:p>
                  </a:txBody>
                  <a:tcPr marL="64008" marR="64008" anchor="ctr">
                    <a:solidFill>
                      <a:srgbClr val="FFFFFF"/>
                    </a:solidFill>
                  </a:tcPr>
                </a:tc>
                <a:tc>
                  <a:txBody>
                    <a:bodyPr/>
                    <a:lstStyle/>
                    <a:p>
                      <a:pPr>
                        <a:lnSpc>
                          <a:spcPct val="102000"/>
                        </a:lnSpc>
                      </a:pPr>
                      <a:r>
                        <a:rPr sz="930" b="0" i="0" dirty="0">
                          <a:solidFill>
                            <a:srgbClr val="2A2C45"/>
                          </a:solidFill>
                          <a:latin typeface="Montserrat"/>
                        </a:rPr>
                        <a:t>Data privacy &amp; fraud</a:t>
                      </a:r>
                    </a:p>
                  </a:txBody>
                  <a:tcPr marL="64008" marR="64008" anchor="ctr">
                    <a:solidFill>
                      <a:srgbClr val="FFFFFF"/>
                    </a:solidFill>
                  </a:tcPr>
                </a:tc>
                <a:tc>
                  <a:txBody>
                    <a:bodyPr/>
                    <a:lstStyle/>
                    <a:p>
                      <a:pPr>
                        <a:lnSpc>
                          <a:spcPct val="102000"/>
                        </a:lnSpc>
                      </a:pPr>
                      <a:r>
                        <a:rPr sz="930" b="0" i="0">
                          <a:solidFill>
                            <a:srgbClr val="2A2C45"/>
                          </a:solidFill>
                          <a:latin typeface="Montserrat"/>
                        </a:rPr>
                        <a:t>5</a:t>
                      </a:r>
                    </a:p>
                  </a:txBody>
                  <a:tcPr marL="64008" marR="64008" anchor="ctr">
                    <a:solidFill>
                      <a:srgbClr val="FFFFFF"/>
                    </a:solidFill>
                  </a:tcPr>
                </a:tc>
                <a:tc>
                  <a:txBody>
                    <a:bodyPr/>
                    <a:lstStyle/>
                    <a:p>
                      <a:pPr>
                        <a:lnSpc>
                          <a:spcPct val="102000"/>
                        </a:lnSpc>
                      </a:pPr>
                      <a:r>
                        <a:rPr sz="930" b="0" i="0">
                          <a:solidFill>
                            <a:srgbClr val="2A2C45"/>
                          </a:solidFill>
                          <a:latin typeface="Montserrat"/>
                        </a:rPr>
                        <a:t>4</a:t>
                      </a:r>
                    </a:p>
                  </a:txBody>
                  <a:tcPr marL="64008" marR="64008" anchor="ctr">
                    <a:solidFill>
                      <a:srgbClr val="FFFFFF"/>
                    </a:solidFill>
                  </a:tcPr>
                </a:tc>
                <a:tc>
                  <a:txBody>
                    <a:bodyPr/>
                    <a:lstStyle/>
                    <a:p>
                      <a:pPr>
                        <a:lnSpc>
                          <a:spcPct val="102000"/>
                        </a:lnSpc>
                      </a:pPr>
                      <a:r>
                        <a:rPr sz="930" b="0" i="0">
                          <a:solidFill>
                            <a:srgbClr val="2A2C45"/>
                          </a:solidFill>
                          <a:latin typeface="Montserrat"/>
                        </a:rPr>
                        <a:t>High</a:t>
                      </a:r>
                    </a:p>
                  </a:txBody>
                  <a:tcPr marL="64008" marR="64008" anchor="ctr">
                    <a:solidFill>
                      <a:srgbClr val="FFFFFF"/>
                    </a:solidFill>
                  </a:tcPr>
                </a:tc>
                <a:extLst>
                  <a:ext uri="{0D108BD9-81ED-4DB2-BD59-A6C34878D82A}">
                    <a16:rowId xmlns:a16="http://schemas.microsoft.com/office/drawing/2014/main" val="10002"/>
                  </a:ext>
                </a:extLst>
              </a:tr>
              <a:tr h="347472">
                <a:tc>
                  <a:txBody>
                    <a:bodyPr/>
                    <a:lstStyle/>
                    <a:p>
                      <a:pPr>
                        <a:lnSpc>
                          <a:spcPct val="102000"/>
                        </a:lnSpc>
                      </a:pPr>
                      <a:r>
                        <a:rPr sz="930" b="1" i="0">
                          <a:solidFill>
                            <a:srgbClr val="0F1129"/>
                          </a:solidFill>
                          <a:latin typeface="Montserrat"/>
                        </a:rPr>
                        <a:t>3</a:t>
                      </a:r>
                    </a:p>
                  </a:txBody>
                  <a:tcPr marL="64008" marR="64008" anchor="ctr">
                    <a:solidFill>
                      <a:srgbClr val="FFFFFF"/>
                    </a:solidFill>
                  </a:tcPr>
                </a:tc>
                <a:tc>
                  <a:txBody>
                    <a:bodyPr/>
                    <a:lstStyle/>
                    <a:p>
                      <a:pPr>
                        <a:lnSpc>
                          <a:spcPct val="102000"/>
                        </a:lnSpc>
                      </a:pPr>
                      <a:r>
                        <a:rPr sz="930" b="0" i="0">
                          <a:solidFill>
                            <a:srgbClr val="2A2C45"/>
                          </a:solidFill>
                          <a:latin typeface="Montserrat"/>
                        </a:rPr>
                        <a:t>Algorithmic &amp; digital exclusion</a:t>
                      </a:r>
                    </a:p>
                  </a:txBody>
                  <a:tcPr marL="64008" marR="64008" anchor="ctr">
                    <a:solidFill>
                      <a:srgbClr val="FFFFFF"/>
                    </a:solidFill>
                  </a:tcPr>
                </a:tc>
                <a:tc>
                  <a:txBody>
                    <a:bodyPr/>
                    <a:lstStyle/>
                    <a:p>
                      <a:pPr>
                        <a:lnSpc>
                          <a:spcPct val="102000"/>
                        </a:lnSpc>
                      </a:pPr>
                      <a:r>
                        <a:rPr sz="930" b="0" i="0">
                          <a:solidFill>
                            <a:srgbClr val="2A2C45"/>
                          </a:solidFill>
                          <a:latin typeface="Montserrat"/>
                        </a:rPr>
                        <a:t>4</a:t>
                      </a:r>
                    </a:p>
                  </a:txBody>
                  <a:tcPr marL="64008" marR="64008" anchor="ctr">
                    <a:solidFill>
                      <a:srgbClr val="FFFFFF"/>
                    </a:solidFill>
                  </a:tcPr>
                </a:tc>
                <a:tc>
                  <a:txBody>
                    <a:bodyPr/>
                    <a:lstStyle/>
                    <a:p>
                      <a:pPr>
                        <a:lnSpc>
                          <a:spcPct val="102000"/>
                        </a:lnSpc>
                      </a:pPr>
                      <a:r>
                        <a:rPr sz="930" b="0" i="0">
                          <a:solidFill>
                            <a:srgbClr val="2A2C45"/>
                          </a:solidFill>
                          <a:latin typeface="Montserrat"/>
                        </a:rPr>
                        <a:t>4</a:t>
                      </a:r>
                    </a:p>
                  </a:txBody>
                  <a:tcPr marL="64008" marR="64008" anchor="ctr">
                    <a:solidFill>
                      <a:srgbClr val="FFFFFF"/>
                    </a:solidFill>
                  </a:tcPr>
                </a:tc>
                <a:tc>
                  <a:txBody>
                    <a:bodyPr/>
                    <a:lstStyle/>
                    <a:p>
                      <a:pPr>
                        <a:lnSpc>
                          <a:spcPct val="102000"/>
                        </a:lnSpc>
                      </a:pPr>
                      <a:r>
                        <a:rPr sz="930" b="0" i="0">
                          <a:solidFill>
                            <a:srgbClr val="2A2C45"/>
                          </a:solidFill>
                          <a:latin typeface="Montserrat"/>
                        </a:rPr>
                        <a:t>High</a:t>
                      </a:r>
                    </a:p>
                  </a:txBody>
                  <a:tcPr marL="64008" marR="64008" anchor="ctr">
                    <a:solidFill>
                      <a:srgbClr val="FFFFFF"/>
                    </a:solidFill>
                  </a:tcPr>
                </a:tc>
                <a:extLst>
                  <a:ext uri="{0D108BD9-81ED-4DB2-BD59-A6C34878D82A}">
                    <a16:rowId xmlns:a16="http://schemas.microsoft.com/office/drawing/2014/main" val="10003"/>
                  </a:ext>
                </a:extLst>
              </a:tr>
              <a:tr h="347472">
                <a:tc>
                  <a:txBody>
                    <a:bodyPr/>
                    <a:lstStyle/>
                    <a:p>
                      <a:pPr>
                        <a:lnSpc>
                          <a:spcPct val="102000"/>
                        </a:lnSpc>
                      </a:pPr>
                      <a:r>
                        <a:rPr sz="930" b="1" i="0">
                          <a:solidFill>
                            <a:srgbClr val="0F1129"/>
                          </a:solidFill>
                          <a:latin typeface="Montserrat"/>
                        </a:rPr>
                        <a:t>4</a:t>
                      </a:r>
                    </a:p>
                  </a:txBody>
                  <a:tcPr marL="64008" marR="64008" anchor="ctr">
                    <a:solidFill>
                      <a:srgbClr val="FFFFFF"/>
                    </a:solidFill>
                  </a:tcPr>
                </a:tc>
                <a:tc>
                  <a:txBody>
                    <a:bodyPr/>
                    <a:lstStyle/>
                    <a:p>
                      <a:pPr>
                        <a:lnSpc>
                          <a:spcPct val="102000"/>
                        </a:lnSpc>
                      </a:pPr>
                      <a:r>
                        <a:rPr sz="930" b="0" i="0" dirty="0">
                          <a:solidFill>
                            <a:srgbClr val="2A2C45"/>
                          </a:solidFill>
                          <a:latin typeface="Montserrat"/>
                        </a:rPr>
                        <a:t>Impacts of financed clients</a:t>
                      </a:r>
                    </a:p>
                  </a:txBody>
                  <a:tcPr marL="64008" marR="64008" anchor="ctr">
                    <a:solidFill>
                      <a:srgbClr val="FFFFFF"/>
                    </a:solidFill>
                  </a:tcPr>
                </a:tc>
                <a:tc>
                  <a:txBody>
                    <a:bodyPr/>
                    <a:lstStyle/>
                    <a:p>
                      <a:pPr>
                        <a:lnSpc>
                          <a:spcPct val="102000"/>
                        </a:lnSpc>
                      </a:pPr>
                      <a:r>
                        <a:rPr sz="930" b="0" i="0">
                          <a:solidFill>
                            <a:srgbClr val="2A2C45"/>
                          </a:solidFill>
                          <a:latin typeface="Montserrat"/>
                        </a:rPr>
                        <a:t>5</a:t>
                      </a:r>
                    </a:p>
                  </a:txBody>
                  <a:tcPr marL="64008" marR="64008" anchor="ctr">
                    <a:solidFill>
                      <a:srgbClr val="FFFFFF"/>
                    </a:solidFill>
                  </a:tcPr>
                </a:tc>
                <a:tc>
                  <a:txBody>
                    <a:bodyPr/>
                    <a:lstStyle/>
                    <a:p>
                      <a:pPr>
                        <a:lnSpc>
                          <a:spcPct val="102000"/>
                        </a:lnSpc>
                      </a:pPr>
                      <a:r>
                        <a:rPr sz="930" b="0" i="0">
                          <a:solidFill>
                            <a:srgbClr val="2A2C45"/>
                          </a:solidFill>
                          <a:latin typeface="Montserrat"/>
                        </a:rPr>
                        <a:t>3</a:t>
                      </a:r>
                    </a:p>
                  </a:txBody>
                  <a:tcPr marL="64008" marR="64008" anchor="ctr">
                    <a:solidFill>
                      <a:srgbClr val="FFFFFF"/>
                    </a:solidFill>
                  </a:tcPr>
                </a:tc>
                <a:tc>
                  <a:txBody>
                    <a:bodyPr/>
                    <a:lstStyle/>
                    <a:p>
                      <a:pPr>
                        <a:lnSpc>
                          <a:spcPct val="102000"/>
                        </a:lnSpc>
                      </a:pPr>
                      <a:r>
                        <a:rPr sz="930" b="0" i="0">
                          <a:solidFill>
                            <a:srgbClr val="2A2C45"/>
                          </a:solidFill>
                          <a:latin typeface="Montserrat"/>
                        </a:rPr>
                        <a:t>High</a:t>
                      </a:r>
                    </a:p>
                  </a:txBody>
                  <a:tcPr marL="64008" marR="64008" anchor="ctr">
                    <a:solidFill>
                      <a:srgbClr val="FFFFFF"/>
                    </a:solidFill>
                  </a:tcPr>
                </a:tc>
                <a:extLst>
                  <a:ext uri="{0D108BD9-81ED-4DB2-BD59-A6C34878D82A}">
                    <a16:rowId xmlns:a16="http://schemas.microsoft.com/office/drawing/2014/main" val="10004"/>
                  </a:ext>
                </a:extLst>
              </a:tr>
              <a:tr h="347472">
                <a:tc>
                  <a:txBody>
                    <a:bodyPr/>
                    <a:lstStyle/>
                    <a:p>
                      <a:pPr>
                        <a:lnSpc>
                          <a:spcPct val="102000"/>
                        </a:lnSpc>
                      </a:pPr>
                      <a:r>
                        <a:rPr sz="930" b="1" i="0">
                          <a:solidFill>
                            <a:srgbClr val="0F1129"/>
                          </a:solidFill>
                          <a:latin typeface="Montserrat"/>
                        </a:rPr>
                        <a:t>5</a:t>
                      </a:r>
                    </a:p>
                  </a:txBody>
                  <a:tcPr marL="64008" marR="64008" anchor="ctr">
                    <a:solidFill>
                      <a:srgbClr val="FFFFFF"/>
                    </a:solidFill>
                  </a:tcPr>
                </a:tc>
                <a:tc>
                  <a:txBody>
                    <a:bodyPr/>
                    <a:lstStyle/>
                    <a:p>
                      <a:pPr>
                        <a:lnSpc>
                          <a:spcPct val="102000"/>
                        </a:lnSpc>
                      </a:pPr>
                      <a:r>
                        <a:rPr sz="930" b="0" i="0" dirty="0">
                          <a:solidFill>
                            <a:srgbClr val="2A2C45"/>
                          </a:solidFill>
                          <a:latin typeface="Montserrat"/>
                        </a:rPr>
                        <a:t>Outsourced workers</a:t>
                      </a:r>
                    </a:p>
                  </a:txBody>
                  <a:tcPr marL="64008" marR="64008" anchor="ctr">
                    <a:solidFill>
                      <a:srgbClr val="FFFFFF"/>
                    </a:solidFill>
                  </a:tcPr>
                </a:tc>
                <a:tc>
                  <a:txBody>
                    <a:bodyPr/>
                    <a:lstStyle/>
                    <a:p>
                      <a:pPr>
                        <a:lnSpc>
                          <a:spcPct val="102000"/>
                        </a:lnSpc>
                      </a:pPr>
                      <a:r>
                        <a:rPr sz="930" b="0" i="0">
                          <a:solidFill>
                            <a:srgbClr val="2A2C45"/>
                          </a:solidFill>
                          <a:latin typeface="Montserrat"/>
                        </a:rPr>
                        <a:t>4</a:t>
                      </a:r>
                    </a:p>
                  </a:txBody>
                  <a:tcPr marL="64008" marR="64008" anchor="ctr">
                    <a:solidFill>
                      <a:srgbClr val="FFFFFF"/>
                    </a:solidFill>
                  </a:tcPr>
                </a:tc>
                <a:tc>
                  <a:txBody>
                    <a:bodyPr/>
                    <a:lstStyle/>
                    <a:p>
                      <a:pPr>
                        <a:lnSpc>
                          <a:spcPct val="102000"/>
                        </a:lnSpc>
                      </a:pPr>
                      <a:r>
                        <a:rPr sz="930" b="0" i="0">
                          <a:solidFill>
                            <a:srgbClr val="2A2C45"/>
                          </a:solidFill>
                          <a:latin typeface="Montserrat"/>
                        </a:rPr>
                        <a:t>3</a:t>
                      </a:r>
                    </a:p>
                  </a:txBody>
                  <a:tcPr marL="64008" marR="64008" anchor="ctr">
                    <a:solidFill>
                      <a:srgbClr val="FFFFFF"/>
                    </a:solidFill>
                  </a:tcPr>
                </a:tc>
                <a:tc>
                  <a:txBody>
                    <a:bodyPr/>
                    <a:lstStyle/>
                    <a:p>
                      <a:pPr>
                        <a:lnSpc>
                          <a:spcPct val="102000"/>
                        </a:lnSpc>
                      </a:pPr>
                      <a:r>
                        <a:rPr sz="930" b="0" i="0">
                          <a:solidFill>
                            <a:srgbClr val="2A2C45"/>
                          </a:solidFill>
                          <a:latin typeface="Montserrat"/>
                        </a:rPr>
                        <a:t>Medium</a:t>
                      </a:r>
                    </a:p>
                  </a:txBody>
                  <a:tcPr marL="64008" marR="64008" anchor="ctr">
                    <a:solidFill>
                      <a:srgbClr val="FFFFFF"/>
                    </a:solidFill>
                  </a:tcPr>
                </a:tc>
                <a:extLst>
                  <a:ext uri="{0D108BD9-81ED-4DB2-BD59-A6C34878D82A}">
                    <a16:rowId xmlns:a16="http://schemas.microsoft.com/office/drawing/2014/main" val="10005"/>
                  </a:ext>
                </a:extLst>
              </a:tr>
              <a:tr h="347472">
                <a:tc>
                  <a:txBody>
                    <a:bodyPr/>
                    <a:lstStyle/>
                    <a:p>
                      <a:pPr>
                        <a:lnSpc>
                          <a:spcPct val="102000"/>
                        </a:lnSpc>
                      </a:pPr>
                      <a:r>
                        <a:rPr sz="930" b="1" i="0">
                          <a:solidFill>
                            <a:srgbClr val="0F1129"/>
                          </a:solidFill>
                          <a:latin typeface="Montserrat"/>
                        </a:rPr>
                        <a:t>6</a:t>
                      </a:r>
                    </a:p>
                  </a:txBody>
                  <a:tcPr marL="64008" marR="64008" anchor="ctr">
                    <a:solidFill>
                      <a:srgbClr val="FFFFFF"/>
                    </a:solidFill>
                  </a:tcPr>
                </a:tc>
                <a:tc>
                  <a:txBody>
                    <a:bodyPr/>
                    <a:lstStyle/>
                    <a:p>
                      <a:pPr>
                        <a:lnSpc>
                          <a:spcPct val="102000"/>
                        </a:lnSpc>
                      </a:pPr>
                      <a:r>
                        <a:rPr sz="930" b="0" i="0" dirty="0">
                          <a:solidFill>
                            <a:srgbClr val="2A2C45"/>
                          </a:solidFill>
                          <a:latin typeface="Montserrat"/>
                        </a:rPr>
                        <a:t>Frontline workload</a:t>
                      </a:r>
                    </a:p>
                  </a:txBody>
                  <a:tcPr marL="64008" marR="64008" anchor="ctr">
                    <a:solidFill>
                      <a:srgbClr val="FFFFFF"/>
                    </a:solidFill>
                  </a:tcPr>
                </a:tc>
                <a:tc>
                  <a:txBody>
                    <a:bodyPr/>
                    <a:lstStyle/>
                    <a:p>
                      <a:pPr>
                        <a:lnSpc>
                          <a:spcPct val="102000"/>
                        </a:lnSpc>
                      </a:pPr>
                      <a:r>
                        <a:rPr sz="930" b="0" i="0">
                          <a:solidFill>
                            <a:srgbClr val="2A2C45"/>
                          </a:solidFill>
                          <a:latin typeface="Montserrat"/>
                        </a:rPr>
                        <a:t>3</a:t>
                      </a:r>
                    </a:p>
                  </a:txBody>
                  <a:tcPr marL="64008" marR="64008" anchor="ctr">
                    <a:solidFill>
                      <a:srgbClr val="FFFFFF"/>
                    </a:solidFill>
                  </a:tcPr>
                </a:tc>
                <a:tc>
                  <a:txBody>
                    <a:bodyPr/>
                    <a:lstStyle/>
                    <a:p>
                      <a:pPr>
                        <a:lnSpc>
                          <a:spcPct val="102000"/>
                        </a:lnSpc>
                      </a:pPr>
                      <a:r>
                        <a:rPr sz="930" b="0" i="0">
                          <a:solidFill>
                            <a:srgbClr val="2A2C45"/>
                          </a:solidFill>
                          <a:latin typeface="Montserrat"/>
                        </a:rPr>
                        <a:t>4</a:t>
                      </a:r>
                    </a:p>
                  </a:txBody>
                  <a:tcPr marL="64008" marR="64008" anchor="ctr">
                    <a:solidFill>
                      <a:srgbClr val="FFFFFF"/>
                    </a:solidFill>
                  </a:tcPr>
                </a:tc>
                <a:tc>
                  <a:txBody>
                    <a:bodyPr/>
                    <a:lstStyle/>
                    <a:p>
                      <a:pPr>
                        <a:lnSpc>
                          <a:spcPct val="102000"/>
                        </a:lnSpc>
                      </a:pPr>
                      <a:r>
                        <a:rPr sz="930" b="0" i="0" dirty="0">
                          <a:solidFill>
                            <a:srgbClr val="2A2C45"/>
                          </a:solidFill>
                          <a:latin typeface="Montserrat"/>
                        </a:rPr>
                        <a:t>Medium</a:t>
                      </a:r>
                    </a:p>
                  </a:txBody>
                  <a:tcPr marL="64008" marR="64008" anchor="ctr">
                    <a:solidFill>
                      <a:srgbClr val="FFFFFF"/>
                    </a:solidFill>
                  </a:tcPr>
                </a:tc>
                <a:extLst>
                  <a:ext uri="{0D108BD9-81ED-4DB2-BD59-A6C34878D82A}">
                    <a16:rowId xmlns:a16="http://schemas.microsoft.com/office/drawing/2014/main" val="10006"/>
                  </a:ext>
                </a:extLst>
              </a:tr>
            </a:tbl>
          </a:graphicData>
        </a:graphic>
      </p:graphicFrame>
      <p:sp>
        <p:nvSpPr>
          <p:cNvPr id="63" name="Rounded Rectangle 62"/>
          <p:cNvSpPr/>
          <p:nvPr/>
        </p:nvSpPr>
        <p:spPr>
          <a:xfrm>
            <a:off x="5577840" y="4681728"/>
            <a:ext cx="5925312" cy="1554480"/>
          </a:xfrm>
          <a:prstGeom prst="roundRect">
            <a:avLst>
              <a:gd name="adj" fmla="val 6000"/>
            </a:avLst>
          </a:prstGeom>
          <a:solidFill>
            <a:srgbClr val="FDECEC"/>
          </a:solidFill>
          <a:ln>
            <a:noFill/>
          </a:ln>
          <a:effectLst/>
        </p:spPr>
        <p:txBody>
          <a:bodyPr rtlCol="0" anchor="ctr"/>
          <a:lstStyle/>
          <a:p>
            <a:pPr algn="ctr"/>
            <a:endParaRPr/>
          </a:p>
        </p:txBody>
      </p:sp>
      <p:sp>
        <p:nvSpPr>
          <p:cNvPr id="64" name="TextBox 63"/>
          <p:cNvSpPr txBox="1"/>
          <p:nvPr/>
        </p:nvSpPr>
        <p:spPr>
          <a:xfrm>
            <a:off x="5760720" y="4791456"/>
            <a:ext cx="5577840" cy="1417320"/>
          </a:xfrm>
          <a:prstGeom prst="rect">
            <a:avLst/>
          </a:prstGeom>
          <a:noFill/>
        </p:spPr>
        <p:txBody>
          <a:bodyPr wrap="square" lIns="0" tIns="0" rIns="0" bIns="0" anchor="t">
            <a:spAutoFit/>
          </a:bodyPr>
          <a:lstStyle/>
          <a:p>
            <a:pPr>
              <a:lnSpc>
                <a:spcPct val="108000"/>
              </a:lnSpc>
              <a:spcAft>
                <a:spcPts val="300"/>
              </a:spcAft>
            </a:pPr>
            <a:r>
              <a:rPr sz="1000" b="1" i="0">
                <a:solidFill>
                  <a:srgbClr val="E4202E"/>
                </a:solidFill>
                <a:latin typeface="Montserrat"/>
              </a:rPr>
              <a:t>Why issue 1 is the focus</a:t>
            </a:r>
          </a:p>
          <a:p>
            <a:pPr>
              <a:lnSpc>
                <a:spcPct val="105000"/>
              </a:lnSpc>
              <a:spcAft>
                <a:spcPts val="300"/>
              </a:spcAft>
            </a:pPr>
            <a:r>
              <a:rPr sz="950" b="0" i="0">
                <a:solidFill>
                  <a:srgbClr val="2A2C45"/>
                </a:solidFill>
                <a:latin typeface="Montserrat"/>
              </a:rPr>
              <a:t>Consumer lending drives growth and digital credit is very easy to take. The Central Bank reports household debt-to-income rose to 18.4% and sector NPLs grew ~17% year on year. The bank is the direct cause, so it has full leverage to act.</a:t>
            </a:r>
          </a:p>
        </p:txBody>
      </p:sp>
    </p:spTree>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12</a:t>
            </a:r>
          </a:p>
        </p:txBody>
      </p:sp>
      <p:sp>
        <p:nvSpPr>
          <p:cNvPr id="8" name="TextBox 7"/>
          <p:cNvSpPr txBox="1"/>
          <p:nvPr/>
        </p:nvSpPr>
        <p:spPr>
          <a:xfrm>
            <a:off x="548640" y="859537"/>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HRDD Step 2: Taking Action</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11091672" cy="114300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2" name="Rounded Rectangle 11"/>
          <p:cNvSpPr/>
          <p:nvPr/>
        </p:nvSpPr>
        <p:spPr>
          <a:xfrm>
            <a:off x="822959" y="2148840"/>
            <a:ext cx="1188720" cy="237744"/>
          </a:xfrm>
          <a:prstGeom prst="roundRect">
            <a:avLst>
              <a:gd name="adj" fmla="val 50000"/>
            </a:avLst>
          </a:prstGeom>
          <a:solidFill>
            <a:srgbClr val="FDECEC"/>
          </a:solidFill>
          <a:ln>
            <a:noFill/>
          </a:ln>
          <a:effectLst/>
        </p:spPr>
        <p:txBody>
          <a:bodyPr rtlCol="0" anchor="ctr"/>
          <a:lstStyle/>
          <a:p>
            <a:pPr algn="ctr"/>
            <a:endParaRPr/>
          </a:p>
        </p:txBody>
      </p:sp>
      <p:sp>
        <p:nvSpPr>
          <p:cNvPr id="13" name="TextBox 12"/>
          <p:cNvSpPr txBox="1"/>
          <p:nvPr/>
        </p:nvSpPr>
        <p:spPr>
          <a:xfrm>
            <a:off x="822959" y="2148840"/>
            <a:ext cx="1188720" cy="237744"/>
          </a:xfrm>
          <a:prstGeom prst="rect">
            <a:avLst/>
          </a:prstGeom>
          <a:noFill/>
        </p:spPr>
        <p:txBody>
          <a:bodyPr wrap="square" lIns="0" tIns="0" rIns="0" bIns="0" anchor="ctr">
            <a:spAutoFit/>
          </a:bodyPr>
          <a:lstStyle/>
          <a:p>
            <a:pPr algn="ctr">
              <a:lnSpc>
                <a:spcPct val="108000"/>
              </a:lnSpc>
              <a:spcAft>
                <a:spcPts val="300"/>
              </a:spcAft>
            </a:pPr>
            <a:r>
              <a:rPr sz="850" b="1" i="0">
                <a:solidFill>
                  <a:srgbClr val="C8102E"/>
                </a:solidFill>
                <a:latin typeface="Montserrat"/>
              </a:rPr>
              <a:t>Focus</a:t>
            </a:r>
          </a:p>
        </p:txBody>
      </p:sp>
      <p:sp>
        <p:nvSpPr>
          <p:cNvPr id="14" name="TextBox 13"/>
          <p:cNvSpPr txBox="1"/>
          <p:nvPr/>
        </p:nvSpPr>
        <p:spPr>
          <a:xfrm>
            <a:off x="2148840" y="2130552"/>
            <a:ext cx="9171432" cy="27432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lIns="0" tIns="0" rIns="0" bIns="0" anchor="t">
            <a:spAutoFit/>
          </a:bodyPr>
          <a:lstStyle/>
          <a:p>
            <a:pPr>
              <a:lnSpc>
                <a:spcPct val="108000"/>
              </a:lnSpc>
              <a:spcAft>
                <a:spcPts val="300"/>
              </a:spcAft>
            </a:pPr>
            <a:r>
              <a:rPr sz="1100" b="1" i="0" dirty="0">
                <a:solidFill>
                  <a:srgbClr val="0F1129"/>
                </a:solidFill>
                <a:latin typeface="Montserrat"/>
              </a:rPr>
              <a:t>Salient issue 1 – over-indebtedness and unfair debt collection</a:t>
            </a:r>
          </a:p>
        </p:txBody>
      </p:sp>
      <p:sp>
        <p:nvSpPr>
          <p:cNvPr id="15" name="TextBox 14"/>
          <p:cNvSpPr txBox="1"/>
          <p:nvPr/>
        </p:nvSpPr>
        <p:spPr>
          <a:xfrm>
            <a:off x="822959" y="2487168"/>
            <a:ext cx="10543032" cy="640080"/>
          </a:xfrm>
          <a:prstGeom prst="rect">
            <a:avLst/>
          </a:prstGeom>
          <a:noFill/>
        </p:spPr>
        <p:txBody>
          <a:bodyPr wrap="square" lIns="0" tIns="0" rIns="0" bIns="0" anchor="t">
            <a:spAutoFit/>
          </a:bodyPr>
          <a:lstStyle/>
          <a:p>
            <a:pPr>
              <a:lnSpc>
                <a:spcPct val="103000"/>
              </a:lnSpc>
              <a:spcAft>
                <a:spcPts val="300"/>
              </a:spcAft>
            </a:pPr>
            <a:r>
              <a:rPr sz="950" b="0" i="0" dirty="0">
                <a:solidFill>
                  <a:srgbClr val="2A2C45"/>
                </a:solidFill>
                <a:latin typeface="Montserrat"/>
              </a:rPr>
              <a:t>Kapital Bank </a:t>
            </a:r>
            <a:r>
              <a:rPr sz="950" b="1" i="0" dirty="0">
                <a:solidFill>
                  <a:srgbClr val="2A2C45"/>
                </a:solidFill>
                <a:latin typeface="Montserrat"/>
              </a:rPr>
              <a:t>causes</a:t>
            </a:r>
            <a:r>
              <a:rPr sz="950" b="0" i="0" dirty="0">
                <a:solidFill>
                  <a:srgbClr val="2A2C45"/>
                </a:solidFill>
                <a:latin typeface="Montserrat"/>
              </a:rPr>
              <a:t> this risk through its lending decisions, pre-approved offers and collection practices, and is </a:t>
            </a:r>
            <a:r>
              <a:rPr sz="950" b="1" i="0" dirty="0">
                <a:solidFill>
                  <a:srgbClr val="2A2C45"/>
                </a:solidFill>
                <a:latin typeface="Montserrat"/>
              </a:rPr>
              <a:t>directly linked</a:t>
            </a:r>
            <a:r>
              <a:rPr sz="950" b="0" i="0" dirty="0">
                <a:solidFill>
                  <a:srgbClr val="2A2C45"/>
                </a:solidFill>
                <a:latin typeface="Montserrat"/>
              </a:rPr>
              <a:t> when external agencies collect on its behalf. It must prevent and mitigate the harm and provide remedy.</a:t>
            </a:r>
          </a:p>
        </p:txBody>
      </p:sp>
      <p:sp>
        <p:nvSpPr>
          <p:cNvPr id="16" name="Rounded Rectangle 15"/>
          <p:cNvSpPr/>
          <p:nvPr/>
        </p:nvSpPr>
        <p:spPr>
          <a:xfrm>
            <a:off x="548640" y="3310128"/>
            <a:ext cx="5431536" cy="141732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7" name="Rounded Rectangle 16"/>
          <p:cNvSpPr/>
          <p:nvPr/>
        </p:nvSpPr>
        <p:spPr>
          <a:xfrm>
            <a:off x="749808" y="3493008"/>
            <a:ext cx="384048" cy="384048"/>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18" name="TextBox 17"/>
          <p:cNvSpPr txBox="1"/>
          <p:nvPr/>
        </p:nvSpPr>
        <p:spPr>
          <a:xfrm>
            <a:off x="749808" y="3493008"/>
            <a:ext cx="384048" cy="384048"/>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A1</a:t>
            </a:r>
          </a:p>
        </p:txBody>
      </p:sp>
      <p:sp>
        <p:nvSpPr>
          <p:cNvPr id="19" name="TextBox 18"/>
          <p:cNvSpPr txBox="1"/>
          <p:nvPr/>
        </p:nvSpPr>
        <p:spPr>
          <a:xfrm>
            <a:off x="1280160" y="3456432"/>
            <a:ext cx="4517136" cy="274320"/>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Responsible lending &amp; affordability</a:t>
            </a:r>
          </a:p>
        </p:txBody>
      </p:sp>
      <p:sp>
        <p:nvSpPr>
          <p:cNvPr id="20" name="TextBox 19"/>
          <p:cNvSpPr txBox="1"/>
          <p:nvPr/>
        </p:nvSpPr>
        <p:spPr>
          <a:xfrm>
            <a:off x="1280160" y="3749039"/>
            <a:ext cx="4517136" cy="713232"/>
          </a:xfrm>
          <a:prstGeom prst="rect">
            <a:avLst/>
          </a:prstGeom>
          <a:noFill/>
        </p:spPr>
        <p:txBody>
          <a:bodyPr wrap="square" lIns="0" tIns="0" rIns="0" bIns="0" anchor="t">
            <a:spAutoFit/>
          </a:bodyPr>
          <a:lstStyle/>
          <a:p>
            <a:pPr>
              <a:lnSpc>
                <a:spcPct val="103000"/>
              </a:lnSpc>
              <a:spcAft>
                <a:spcPts val="300"/>
              </a:spcAft>
            </a:pPr>
            <a:r>
              <a:rPr sz="900" b="0" i="0" dirty="0">
                <a:solidFill>
                  <a:srgbClr val="2A2C45"/>
                </a:solidFill>
                <a:latin typeface="Montserrat"/>
              </a:rPr>
              <a:t>Responsible Lending Standard with a full debt-to-income check across all credit products; extra safeguards for pensioners and benefit recipients.</a:t>
            </a:r>
          </a:p>
        </p:txBody>
      </p:sp>
      <p:sp>
        <p:nvSpPr>
          <p:cNvPr id="21" name="TextBox 20"/>
          <p:cNvSpPr txBox="1"/>
          <p:nvPr/>
        </p:nvSpPr>
        <p:spPr>
          <a:xfrm>
            <a:off x="1280160" y="4453128"/>
            <a:ext cx="4517136" cy="228600"/>
          </a:xfrm>
          <a:prstGeom prst="rect">
            <a:avLst/>
          </a:prstGeom>
          <a:noFill/>
        </p:spPr>
        <p:txBody>
          <a:bodyPr wrap="square" lIns="0" tIns="0" rIns="0" bIns="0" anchor="t">
            <a:spAutoFit/>
          </a:bodyPr>
          <a:lstStyle/>
          <a:p>
            <a:pPr>
              <a:lnSpc>
                <a:spcPct val="108000"/>
              </a:lnSpc>
              <a:spcAft>
                <a:spcPts val="300"/>
              </a:spcAft>
            </a:pPr>
            <a:r>
              <a:rPr sz="830" b="1" i="0">
                <a:solidFill>
                  <a:srgbClr val="E4202E"/>
                </a:solidFill>
                <a:latin typeface="Montserrat"/>
              </a:rPr>
              <a:t>→ Retail Risk, Credit Policy, Credit Bureau</a:t>
            </a:r>
          </a:p>
        </p:txBody>
      </p:sp>
      <p:sp>
        <p:nvSpPr>
          <p:cNvPr id="22" name="Rounded Rectangle 21"/>
          <p:cNvSpPr/>
          <p:nvPr/>
        </p:nvSpPr>
        <p:spPr>
          <a:xfrm>
            <a:off x="6208776" y="3310128"/>
            <a:ext cx="5431536" cy="141732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3" name="Rounded Rectangle 22"/>
          <p:cNvSpPr/>
          <p:nvPr/>
        </p:nvSpPr>
        <p:spPr>
          <a:xfrm>
            <a:off x="6409944" y="3493008"/>
            <a:ext cx="384048" cy="384048"/>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24" name="TextBox 23"/>
          <p:cNvSpPr txBox="1"/>
          <p:nvPr/>
        </p:nvSpPr>
        <p:spPr>
          <a:xfrm>
            <a:off x="6409944" y="3493008"/>
            <a:ext cx="384048" cy="384048"/>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A2</a:t>
            </a:r>
          </a:p>
        </p:txBody>
      </p:sp>
      <p:sp>
        <p:nvSpPr>
          <p:cNvPr id="25" name="TextBox 24"/>
          <p:cNvSpPr txBox="1"/>
          <p:nvPr/>
        </p:nvSpPr>
        <p:spPr>
          <a:xfrm>
            <a:off x="6940296" y="3456432"/>
            <a:ext cx="4517136" cy="274320"/>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check on AI scoring &amp; offers</a:t>
            </a:r>
          </a:p>
        </p:txBody>
      </p:sp>
      <p:sp>
        <p:nvSpPr>
          <p:cNvPr id="26" name="TextBox 25"/>
          <p:cNvSpPr txBox="1"/>
          <p:nvPr/>
        </p:nvSpPr>
        <p:spPr>
          <a:xfrm>
            <a:off x="6940296" y="3749039"/>
            <a:ext cx="4517136" cy="713232"/>
          </a:xfrm>
          <a:prstGeom prst="rect">
            <a:avLst/>
          </a:prstGeom>
          <a:noFill/>
        </p:spPr>
        <p:txBody>
          <a:bodyPr wrap="square" lIns="0" tIns="0" rIns="0" bIns="0" anchor="t">
            <a:spAutoFit/>
          </a:bodyPr>
          <a:lstStyle/>
          <a:p>
            <a:pPr>
              <a:lnSpc>
                <a:spcPct val="103000"/>
              </a:lnSpc>
              <a:spcAft>
                <a:spcPts val="300"/>
              </a:spcAft>
            </a:pPr>
            <a:r>
              <a:rPr sz="900" b="0" i="0">
                <a:solidFill>
                  <a:srgbClr val="2A2C45"/>
                </a:solidFill>
                <a:latin typeface="Montserrat"/>
              </a:rPr>
              <a:t>Test scoring models and pre-approved offers for bias; limit offers to customers in distress; cooling-off period and clear total cost.</a:t>
            </a:r>
          </a:p>
        </p:txBody>
      </p:sp>
      <p:sp>
        <p:nvSpPr>
          <p:cNvPr id="27" name="TextBox 26"/>
          <p:cNvSpPr txBox="1"/>
          <p:nvPr/>
        </p:nvSpPr>
        <p:spPr>
          <a:xfrm>
            <a:off x="6940296" y="4453128"/>
            <a:ext cx="4517136" cy="228600"/>
          </a:xfrm>
          <a:prstGeom prst="rect">
            <a:avLst/>
          </a:prstGeom>
          <a:noFill/>
        </p:spPr>
        <p:txBody>
          <a:bodyPr wrap="square" lIns="0" tIns="0" rIns="0" bIns="0" anchor="t">
            <a:spAutoFit/>
          </a:bodyPr>
          <a:lstStyle/>
          <a:p>
            <a:pPr>
              <a:lnSpc>
                <a:spcPct val="108000"/>
              </a:lnSpc>
              <a:spcAft>
                <a:spcPts val="300"/>
              </a:spcAft>
            </a:pPr>
            <a:r>
              <a:rPr sz="830" b="1" i="0">
                <a:solidFill>
                  <a:srgbClr val="E4202E"/>
                </a:solidFill>
                <a:latin typeface="Montserrat"/>
              </a:rPr>
              <a:t>→ Data/AI, Product, Compliance, Legal</a:t>
            </a:r>
          </a:p>
        </p:txBody>
      </p:sp>
      <p:sp>
        <p:nvSpPr>
          <p:cNvPr id="28" name="Rounded Rectangle 27"/>
          <p:cNvSpPr/>
          <p:nvPr/>
        </p:nvSpPr>
        <p:spPr>
          <a:xfrm>
            <a:off x="548640" y="4846320"/>
            <a:ext cx="5431536" cy="141732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9" name="Rounded Rectangle 28"/>
          <p:cNvSpPr/>
          <p:nvPr/>
        </p:nvSpPr>
        <p:spPr>
          <a:xfrm>
            <a:off x="749808" y="5029200"/>
            <a:ext cx="384048" cy="384048"/>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0" name="TextBox 29"/>
          <p:cNvSpPr txBox="1"/>
          <p:nvPr/>
        </p:nvSpPr>
        <p:spPr>
          <a:xfrm>
            <a:off x="749808" y="5029200"/>
            <a:ext cx="384048" cy="384048"/>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A3</a:t>
            </a:r>
          </a:p>
        </p:txBody>
      </p:sp>
      <p:sp>
        <p:nvSpPr>
          <p:cNvPr id="31" name="TextBox 30"/>
          <p:cNvSpPr txBox="1"/>
          <p:nvPr/>
        </p:nvSpPr>
        <p:spPr>
          <a:xfrm>
            <a:off x="1280160" y="4992624"/>
            <a:ext cx="4517136" cy="274320"/>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Fair debt collection code</a:t>
            </a:r>
          </a:p>
        </p:txBody>
      </p:sp>
      <p:sp>
        <p:nvSpPr>
          <p:cNvPr id="32" name="TextBox 31"/>
          <p:cNvSpPr txBox="1"/>
          <p:nvPr/>
        </p:nvSpPr>
        <p:spPr>
          <a:xfrm>
            <a:off x="1280160" y="5285231"/>
            <a:ext cx="4517136" cy="713232"/>
          </a:xfrm>
          <a:prstGeom prst="rect">
            <a:avLst/>
          </a:prstGeom>
          <a:noFill/>
        </p:spPr>
        <p:txBody>
          <a:bodyPr wrap="square" lIns="0" tIns="0" rIns="0" bIns="0" anchor="t">
            <a:spAutoFit/>
          </a:bodyPr>
          <a:lstStyle/>
          <a:p>
            <a:pPr>
              <a:lnSpc>
                <a:spcPct val="103000"/>
              </a:lnSpc>
              <a:spcAft>
                <a:spcPts val="300"/>
              </a:spcAft>
            </a:pPr>
            <a:r>
              <a:rPr sz="900" b="0" i="0">
                <a:solidFill>
                  <a:srgbClr val="2A2C45"/>
                </a:solidFill>
                <a:latin typeface="Montserrat"/>
              </a:rPr>
              <a:t>Limits on call hours and frequency, no contact with employers or relatives, respectful language; binding on agencies through contracts and audits.</a:t>
            </a:r>
          </a:p>
        </p:txBody>
      </p:sp>
      <p:sp>
        <p:nvSpPr>
          <p:cNvPr id="33" name="TextBox 32"/>
          <p:cNvSpPr txBox="1"/>
          <p:nvPr/>
        </p:nvSpPr>
        <p:spPr>
          <a:xfrm>
            <a:off x="1280160" y="5989320"/>
            <a:ext cx="4517136" cy="228600"/>
          </a:xfrm>
          <a:prstGeom prst="rect">
            <a:avLst/>
          </a:prstGeom>
          <a:noFill/>
        </p:spPr>
        <p:txBody>
          <a:bodyPr wrap="square" lIns="0" tIns="0" rIns="0" bIns="0" anchor="t">
            <a:spAutoFit/>
          </a:bodyPr>
          <a:lstStyle/>
          <a:p>
            <a:pPr>
              <a:lnSpc>
                <a:spcPct val="108000"/>
              </a:lnSpc>
              <a:spcAft>
                <a:spcPts val="300"/>
              </a:spcAft>
            </a:pPr>
            <a:r>
              <a:rPr sz="830" b="1" i="0">
                <a:solidFill>
                  <a:srgbClr val="E4202E"/>
                </a:solidFill>
                <a:latin typeface="Montserrat"/>
              </a:rPr>
              <a:t>→ Collections, Procurement, HR</a:t>
            </a:r>
          </a:p>
        </p:txBody>
      </p:sp>
      <p:sp>
        <p:nvSpPr>
          <p:cNvPr id="34" name="Rounded Rectangle 33"/>
          <p:cNvSpPr/>
          <p:nvPr/>
        </p:nvSpPr>
        <p:spPr>
          <a:xfrm>
            <a:off x="6208776" y="4846320"/>
            <a:ext cx="5431536" cy="141732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35" name="Rounded Rectangle 34"/>
          <p:cNvSpPr/>
          <p:nvPr/>
        </p:nvSpPr>
        <p:spPr>
          <a:xfrm>
            <a:off x="6409944" y="5029200"/>
            <a:ext cx="384048" cy="384048"/>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6" name="TextBox 35"/>
          <p:cNvSpPr txBox="1"/>
          <p:nvPr/>
        </p:nvSpPr>
        <p:spPr>
          <a:xfrm>
            <a:off x="6409944" y="5029200"/>
            <a:ext cx="384048" cy="384048"/>
          </a:xfrm>
          <a:prstGeom prst="rect">
            <a:avLst/>
          </a:prstGeom>
          <a:noFill/>
        </p:spPr>
        <p:txBody>
          <a:bodyPr wrap="square" lIns="0" tIns="0" rIns="0" bIns="0" anchor="ctr">
            <a:spAutoFit/>
          </a:bodyPr>
          <a:lstStyle/>
          <a:p>
            <a:pPr algn="ctr">
              <a:lnSpc>
                <a:spcPct val="108000"/>
              </a:lnSpc>
              <a:spcAft>
                <a:spcPts val="300"/>
              </a:spcAft>
            </a:pPr>
            <a:r>
              <a:rPr sz="950" b="1" i="0">
                <a:solidFill>
                  <a:srgbClr val="FFFFFF"/>
                </a:solidFill>
                <a:latin typeface="Montserrat"/>
              </a:rPr>
              <a:t>A4</a:t>
            </a:r>
          </a:p>
        </p:txBody>
      </p:sp>
      <p:sp>
        <p:nvSpPr>
          <p:cNvPr id="37" name="TextBox 36"/>
          <p:cNvSpPr txBox="1"/>
          <p:nvPr/>
        </p:nvSpPr>
        <p:spPr>
          <a:xfrm>
            <a:off x="6940296" y="4992624"/>
            <a:ext cx="4517136" cy="274320"/>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Hardship support &amp; financial literacy</a:t>
            </a:r>
          </a:p>
        </p:txBody>
      </p:sp>
      <p:sp>
        <p:nvSpPr>
          <p:cNvPr id="38" name="TextBox 37"/>
          <p:cNvSpPr txBox="1"/>
          <p:nvPr/>
        </p:nvSpPr>
        <p:spPr>
          <a:xfrm>
            <a:off x="6940296" y="5285231"/>
            <a:ext cx="4517136" cy="713232"/>
          </a:xfrm>
          <a:prstGeom prst="rect">
            <a:avLst/>
          </a:prstGeom>
          <a:noFill/>
        </p:spPr>
        <p:txBody>
          <a:bodyPr wrap="square" lIns="0" tIns="0" rIns="0" bIns="0" anchor="t">
            <a:spAutoFit/>
          </a:bodyPr>
          <a:lstStyle/>
          <a:p>
            <a:pPr>
              <a:lnSpc>
                <a:spcPct val="103000"/>
              </a:lnSpc>
              <a:spcAft>
                <a:spcPts val="300"/>
              </a:spcAft>
            </a:pPr>
            <a:r>
              <a:rPr sz="900" b="0" i="0" dirty="0">
                <a:solidFill>
                  <a:srgbClr val="2A2C45"/>
                </a:solidFill>
                <a:latin typeface="Montserrat"/>
              </a:rPr>
              <a:t>Early-warning outreach, restructuring, fee waivers, a vulnerable-customer flag; refocus CSR literacy work on borrowing and scam risks.</a:t>
            </a:r>
          </a:p>
        </p:txBody>
      </p:sp>
      <p:sp>
        <p:nvSpPr>
          <p:cNvPr id="39" name="TextBox 38"/>
          <p:cNvSpPr txBox="1"/>
          <p:nvPr/>
        </p:nvSpPr>
        <p:spPr>
          <a:xfrm>
            <a:off x="6940296" y="5989320"/>
            <a:ext cx="4517136" cy="228600"/>
          </a:xfrm>
          <a:prstGeom prst="rect">
            <a:avLst/>
          </a:prstGeom>
          <a:noFill/>
        </p:spPr>
        <p:txBody>
          <a:bodyPr wrap="square" lIns="0" tIns="0" rIns="0" bIns="0" anchor="t">
            <a:spAutoFit/>
          </a:bodyPr>
          <a:lstStyle/>
          <a:p>
            <a:pPr>
              <a:lnSpc>
                <a:spcPct val="108000"/>
              </a:lnSpc>
              <a:spcAft>
                <a:spcPts val="300"/>
              </a:spcAft>
            </a:pPr>
            <a:r>
              <a:rPr sz="830" b="1" i="0" dirty="0">
                <a:solidFill>
                  <a:srgbClr val="E4202E"/>
                </a:solidFill>
                <a:latin typeface="Montserrat"/>
              </a:rPr>
              <a:t>→ Retail, Customer Service, CSR team</a:t>
            </a:r>
          </a:p>
        </p:txBody>
      </p:sp>
    </p:spTree>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13</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HRDD Step 3: Tracking</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11091672" cy="457200"/>
          </a:xfrm>
          <a:prstGeom prst="roundRect">
            <a:avLst>
              <a:gd name="adj" fmla="val 20000"/>
            </a:avLst>
          </a:prstGeom>
          <a:solidFill>
            <a:srgbClr val="FDECEC"/>
          </a:solidFill>
          <a:ln>
            <a:noFill/>
          </a:ln>
          <a:effectLst/>
        </p:spPr>
        <p:txBody>
          <a:bodyPr rtlCol="0" anchor="ctr"/>
          <a:lstStyle/>
          <a:p>
            <a:pPr algn="ctr"/>
            <a:endParaRPr/>
          </a:p>
        </p:txBody>
      </p:sp>
      <p:sp>
        <p:nvSpPr>
          <p:cNvPr id="12" name="TextBox 11"/>
          <p:cNvSpPr txBox="1"/>
          <p:nvPr/>
        </p:nvSpPr>
        <p:spPr>
          <a:xfrm>
            <a:off x="777240" y="2011680"/>
            <a:ext cx="10634472" cy="457200"/>
          </a:xfrm>
          <a:prstGeom prst="rect">
            <a:avLst/>
          </a:prstGeom>
          <a:noFill/>
        </p:spPr>
        <p:txBody>
          <a:bodyPr wrap="square" lIns="0" tIns="0" rIns="0" bIns="0" anchor="ctr">
            <a:spAutoFit/>
          </a:bodyPr>
          <a:lstStyle/>
          <a:p>
            <a:pPr>
              <a:lnSpc>
                <a:spcPct val="108000"/>
              </a:lnSpc>
              <a:spcAft>
                <a:spcPts val="300"/>
              </a:spcAft>
            </a:pPr>
            <a:r>
              <a:rPr sz="1050" b="1" i="0">
                <a:solidFill>
                  <a:srgbClr val="0F1129"/>
                </a:solidFill>
                <a:latin typeface="Montserrat"/>
              </a:rPr>
              <a:t>Action A1:</a:t>
            </a:r>
            <a:r>
              <a:rPr sz="1050" b="0" i="0">
                <a:solidFill>
                  <a:srgbClr val="0F1129"/>
                </a:solidFill>
                <a:latin typeface="Montserrat"/>
              </a:rPr>
              <a:t> Responsible lending &amp; affordability standard across all retail credit products</a:t>
            </a:r>
          </a:p>
        </p:txBody>
      </p:sp>
      <p:sp>
        <p:nvSpPr>
          <p:cNvPr id="13" name="Rounded Rectangle 12"/>
          <p:cNvSpPr/>
          <p:nvPr/>
        </p:nvSpPr>
        <p:spPr>
          <a:xfrm>
            <a:off x="548640" y="2606040"/>
            <a:ext cx="11091672" cy="850392"/>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4" name="Rounded Rectangle 13"/>
          <p:cNvSpPr/>
          <p:nvPr/>
        </p:nvSpPr>
        <p:spPr>
          <a:xfrm>
            <a:off x="731520" y="2889504"/>
            <a:ext cx="1828800" cy="274320"/>
          </a:xfrm>
          <a:prstGeom prst="roundRect">
            <a:avLst>
              <a:gd name="adj" fmla="val 50000"/>
            </a:avLst>
          </a:prstGeom>
          <a:solidFill>
            <a:srgbClr val="FDECEC"/>
          </a:solidFill>
          <a:ln>
            <a:noFill/>
          </a:ln>
          <a:effectLst/>
        </p:spPr>
        <p:txBody>
          <a:bodyPr rtlCol="0" anchor="ctr"/>
          <a:lstStyle/>
          <a:p>
            <a:pPr algn="ctr"/>
            <a:endParaRPr/>
          </a:p>
        </p:txBody>
      </p:sp>
      <p:sp>
        <p:nvSpPr>
          <p:cNvPr id="15" name="TextBox 14"/>
          <p:cNvSpPr txBox="1"/>
          <p:nvPr/>
        </p:nvSpPr>
        <p:spPr>
          <a:xfrm>
            <a:off x="731520" y="2889504"/>
            <a:ext cx="1828800" cy="274320"/>
          </a:xfrm>
          <a:prstGeom prst="rect">
            <a:avLst/>
          </a:prstGeom>
          <a:noFill/>
        </p:spPr>
        <p:txBody>
          <a:bodyPr wrap="square" lIns="0" tIns="0" rIns="0" bIns="0" anchor="ctr">
            <a:spAutoFit/>
          </a:bodyPr>
          <a:lstStyle/>
          <a:p>
            <a:pPr algn="ctr">
              <a:lnSpc>
                <a:spcPct val="108000"/>
              </a:lnSpc>
              <a:spcAft>
                <a:spcPts val="300"/>
              </a:spcAft>
            </a:pPr>
            <a:r>
              <a:rPr sz="800" b="1" i="0">
                <a:solidFill>
                  <a:srgbClr val="E4202E"/>
                </a:solidFill>
                <a:latin typeface="Montserrat"/>
              </a:rPr>
              <a:t>ACTIVITY</a:t>
            </a:r>
          </a:p>
        </p:txBody>
      </p:sp>
      <p:sp>
        <p:nvSpPr>
          <p:cNvPr id="16" name="TextBox 15"/>
          <p:cNvSpPr txBox="1"/>
          <p:nvPr/>
        </p:nvSpPr>
        <p:spPr>
          <a:xfrm>
            <a:off x="2788920" y="2679192"/>
            <a:ext cx="4334256" cy="201168"/>
          </a:xfrm>
          <a:prstGeom prst="rect">
            <a:avLst/>
          </a:prstGeom>
          <a:noFill/>
        </p:spPr>
        <p:txBody>
          <a:bodyPr wrap="square" lIns="0" tIns="0" rIns="0" bIns="0" anchor="t">
            <a:spAutoFit/>
          </a:bodyPr>
          <a:lstStyle/>
          <a:p>
            <a:pPr>
              <a:lnSpc>
                <a:spcPct val="108000"/>
              </a:lnSpc>
              <a:spcAft>
                <a:spcPts val="300"/>
              </a:spcAft>
            </a:pPr>
            <a:r>
              <a:rPr sz="800" b="1" i="0">
                <a:solidFill>
                  <a:srgbClr val="6B6F8A"/>
                </a:solidFill>
                <a:latin typeface="Montserrat"/>
              </a:rPr>
              <a:t>What is the action we plan to take?</a:t>
            </a:r>
          </a:p>
        </p:txBody>
      </p:sp>
      <p:sp>
        <p:nvSpPr>
          <p:cNvPr id="17" name="TextBox 16"/>
          <p:cNvSpPr txBox="1"/>
          <p:nvPr/>
        </p:nvSpPr>
        <p:spPr>
          <a:xfrm>
            <a:off x="2788920" y="2907792"/>
            <a:ext cx="4334256" cy="512064"/>
          </a:xfrm>
          <a:prstGeom prst="rect">
            <a:avLst/>
          </a:prstGeom>
          <a:noFill/>
        </p:spPr>
        <p:txBody>
          <a:bodyPr wrap="square" lIns="0" tIns="0" rIns="0" bIns="0" anchor="t">
            <a:spAutoFit/>
          </a:bodyPr>
          <a:lstStyle/>
          <a:p>
            <a:pPr>
              <a:lnSpc>
                <a:spcPct val="102000"/>
              </a:lnSpc>
              <a:spcAft>
                <a:spcPts val="300"/>
              </a:spcAft>
            </a:pPr>
            <a:r>
              <a:rPr sz="900" b="0" i="0" dirty="0">
                <a:solidFill>
                  <a:srgbClr val="2A2C45"/>
                </a:solidFill>
                <a:latin typeface="Montserrat"/>
              </a:rPr>
              <a:t>Draft and approve a Responsible Lending Standard with one affordability (DTI) rule and vulnerable-customer safeguards</a:t>
            </a:r>
          </a:p>
        </p:txBody>
      </p:sp>
      <p:sp>
        <p:nvSpPr>
          <p:cNvPr id="18" name="TextBox 17"/>
          <p:cNvSpPr txBox="1"/>
          <p:nvPr/>
        </p:nvSpPr>
        <p:spPr>
          <a:xfrm>
            <a:off x="7214616" y="2679192"/>
            <a:ext cx="4334256" cy="201168"/>
          </a:xfrm>
          <a:prstGeom prst="rect">
            <a:avLst/>
          </a:prstGeom>
          <a:noFill/>
        </p:spPr>
        <p:txBody>
          <a:bodyPr wrap="square" lIns="0" tIns="0" rIns="0" bIns="0" anchor="t">
            <a:spAutoFit/>
          </a:bodyPr>
          <a:lstStyle/>
          <a:p>
            <a:pPr>
              <a:lnSpc>
                <a:spcPct val="108000"/>
              </a:lnSpc>
              <a:spcAft>
                <a:spcPts val="300"/>
              </a:spcAft>
            </a:pPr>
            <a:r>
              <a:rPr sz="800" b="1" i="0">
                <a:solidFill>
                  <a:srgbClr val="6B6F8A"/>
                </a:solidFill>
                <a:latin typeface="Montserrat"/>
              </a:rPr>
              <a:t>How could we measure if we are implementing the activity as planned?</a:t>
            </a:r>
          </a:p>
        </p:txBody>
      </p:sp>
      <p:sp>
        <p:nvSpPr>
          <p:cNvPr id="19" name="TextBox 18"/>
          <p:cNvSpPr txBox="1"/>
          <p:nvPr/>
        </p:nvSpPr>
        <p:spPr>
          <a:xfrm>
            <a:off x="7214616" y="2907792"/>
            <a:ext cx="4334256" cy="512064"/>
          </a:xfrm>
          <a:prstGeom prst="rect">
            <a:avLst/>
          </a:prstGeom>
          <a:noFill/>
        </p:spPr>
        <p:txBody>
          <a:bodyPr wrap="square" lIns="0" tIns="0" rIns="0" bIns="0" anchor="t">
            <a:spAutoFit/>
          </a:bodyPr>
          <a:lstStyle/>
          <a:p>
            <a:pPr>
              <a:lnSpc>
                <a:spcPct val="102000"/>
              </a:lnSpc>
              <a:spcAft>
                <a:spcPts val="300"/>
              </a:spcAft>
            </a:pPr>
            <a:r>
              <a:rPr sz="900" b="0" i="0" dirty="0">
                <a:solidFill>
                  <a:srgbClr val="2A2C45"/>
                </a:solidFill>
                <a:latin typeface="Montserrat"/>
              </a:rPr>
              <a:t>Standard approved by the Management Board; 100% of retail credit products covered</a:t>
            </a:r>
          </a:p>
        </p:txBody>
      </p:sp>
      <p:sp>
        <p:nvSpPr>
          <p:cNvPr id="20" name="Rounded Rectangle 19"/>
          <p:cNvSpPr/>
          <p:nvPr/>
        </p:nvSpPr>
        <p:spPr>
          <a:xfrm>
            <a:off x="548640" y="3547872"/>
            <a:ext cx="11091672" cy="850392"/>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1" name="Rounded Rectangle 20"/>
          <p:cNvSpPr/>
          <p:nvPr/>
        </p:nvSpPr>
        <p:spPr>
          <a:xfrm>
            <a:off x="731520" y="3831335"/>
            <a:ext cx="1828800" cy="274320"/>
          </a:xfrm>
          <a:prstGeom prst="roundRect">
            <a:avLst>
              <a:gd name="adj" fmla="val 50000"/>
            </a:avLst>
          </a:prstGeom>
          <a:solidFill>
            <a:srgbClr val="FFF1E7"/>
          </a:solidFill>
          <a:ln>
            <a:noFill/>
          </a:ln>
          <a:effectLst/>
        </p:spPr>
        <p:txBody>
          <a:bodyPr rtlCol="0" anchor="ctr"/>
          <a:lstStyle/>
          <a:p>
            <a:pPr algn="ctr"/>
            <a:endParaRPr/>
          </a:p>
        </p:txBody>
      </p:sp>
      <p:sp>
        <p:nvSpPr>
          <p:cNvPr id="22" name="TextBox 21"/>
          <p:cNvSpPr txBox="1"/>
          <p:nvPr/>
        </p:nvSpPr>
        <p:spPr>
          <a:xfrm>
            <a:off x="731520" y="3831335"/>
            <a:ext cx="1828800" cy="274320"/>
          </a:xfrm>
          <a:prstGeom prst="rect">
            <a:avLst/>
          </a:prstGeom>
          <a:noFill/>
        </p:spPr>
        <p:txBody>
          <a:bodyPr wrap="square" lIns="0" tIns="0" rIns="0" bIns="0" anchor="ctr">
            <a:spAutoFit/>
          </a:bodyPr>
          <a:lstStyle/>
          <a:p>
            <a:pPr algn="ctr">
              <a:lnSpc>
                <a:spcPct val="108000"/>
              </a:lnSpc>
              <a:spcAft>
                <a:spcPts val="300"/>
              </a:spcAft>
            </a:pPr>
            <a:r>
              <a:rPr sz="800" b="1" i="0">
                <a:solidFill>
                  <a:srgbClr val="E8590C"/>
                </a:solidFill>
                <a:latin typeface="Montserrat"/>
              </a:rPr>
              <a:t>OUTPUT</a:t>
            </a:r>
          </a:p>
        </p:txBody>
      </p:sp>
      <p:sp>
        <p:nvSpPr>
          <p:cNvPr id="23" name="TextBox 22"/>
          <p:cNvSpPr txBox="1"/>
          <p:nvPr/>
        </p:nvSpPr>
        <p:spPr>
          <a:xfrm>
            <a:off x="2788920" y="3621024"/>
            <a:ext cx="4334256" cy="201168"/>
          </a:xfrm>
          <a:prstGeom prst="rect">
            <a:avLst/>
          </a:prstGeom>
          <a:noFill/>
        </p:spPr>
        <p:txBody>
          <a:bodyPr wrap="square" lIns="0" tIns="0" rIns="0" bIns="0" anchor="t">
            <a:spAutoFit/>
          </a:bodyPr>
          <a:lstStyle/>
          <a:p>
            <a:pPr>
              <a:lnSpc>
                <a:spcPct val="108000"/>
              </a:lnSpc>
              <a:spcAft>
                <a:spcPts val="300"/>
              </a:spcAft>
            </a:pPr>
            <a:r>
              <a:rPr sz="800" b="1" i="0">
                <a:solidFill>
                  <a:srgbClr val="6B6F8A"/>
                </a:solidFill>
                <a:latin typeface="Montserrat"/>
              </a:rPr>
              <a:t>What immediate results will the activity deliver?</a:t>
            </a:r>
          </a:p>
        </p:txBody>
      </p:sp>
      <p:sp>
        <p:nvSpPr>
          <p:cNvPr id="24" name="TextBox 23"/>
          <p:cNvSpPr txBox="1"/>
          <p:nvPr/>
        </p:nvSpPr>
        <p:spPr>
          <a:xfrm>
            <a:off x="2788920" y="3849624"/>
            <a:ext cx="4334256" cy="512064"/>
          </a:xfrm>
          <a:prstGeom prst="rect">
            <a:avLst/>
          </a:prstGeom>
          <a:noFill/>
        </p:spPr>
        <p:txBody>
          <a:bodyPr wrap="square" lIns="0" tIns="0" rIns="0" bIns="0" anchor="t">
            <a:spAutoFit/>
          </a:bodyPr>
          <a:lstStyle/>
          <a:p>
            <a:pPr>
              <a:lnSpc>
                <a:spcPct val="102000"/>
              </a:lnSpc>
              <a:spcAft>
                <a:spcPts val="300"/>
              </a:spcAft>
            </a:pPr>
            <a:r>
              <a:rPr sz="900" b="0" i="0">
                <a:solidFill>
                  <a:srgbClr val="2A2C45"/>
                </a:solidFill>
                <a:latin typeface="Montserrat"/>
              </a:rPr>
              <a:t>Affordability checks built into branch and digital credit journeys; frontline, collections and product staff trained</a:t>
            </a:r>
          </a:p>
        </p:txBody>
      </p:sp>
      <p:sp>
        <p:nvSpPr>
          <p:cNvPr id="25" name="TextBox 24"/>
          <p:cNvSpPr txBox="1"/>
          <p:nvPr/>
        </p:nvSpPr>
        <p:spPr>
          <a:xfrm>
            <a:off x="7214616" y="3621024"/>
            <a:ext cx="4334256" cy="201168"/>
          </a:xfrm>
          <a:prstGeom prst="rect">
            <a:avLst/>
          </a:prstGeom>
          <a:noFill/>
        </p:spPr>
        <p:txBody>
          <a:bodyPr wrap="square" lIns="0" tIns="0" rIns="0" bIns="0" anchor="t">
            <a:spAutoFit/>
          </a:bodyPr>
          <a:lstStyle/>
          <a:p>
            <a:pPr>
              <a:lnSpc>
                <a:spcPct val="108000"/>
              </a:lnSpc>
              <a:spcAft>
                <a:spcPts val="300"/>
              </a:spcAft>
            </a:pPr>
            <a:r>
              <a:rPr sz="800" b="1" i="0">
                <a:solidFill>
                  <a:srgbClr val="6B6F8A"/>
                </a:solidFill>
                <a:latin typeface="Montserrat"/>
              </a:rPr>
              <a:t>How could we measure if these results are being achieved?</a:t>
            </a:r>
          </a:p>
        </p:txBody>
      </p:sp>
      <p:sp>
        <p:nvSpPr>
          <p:cNvPr id="26" name="TextBox 25"/>
          <p:cNvSpPr txBox="1"/>
          <p:nvPr/>
        </p:nvSpPr>
        <p:spPr>
          <a:xfrm>
            <a:off x="7214616" y="3849624"/>
            <a:ext cx="4334256" cy="512064"/>
          </a:xfrm>
          <a:prstGeom prst="rect">
            <a:avLst/>
          </a:prstGeom>
          <a:noFill/>
        </p:spPr>
        <p:txBody>
          <a:bodyPr wrap="square" lIns="0" tIns="0" rIns="0" bIns="0" anchor="t">
            <a:spAutoFit/>
          </a:bodyPr>
          <a:lstStyle/>
          <a:p>
            <a:pPr>
              <a:lnSpc>
                <a:spcPct val="102000"/>
              </a:lnSpc>
              <a:spcAft>
                <a:spcPts val="300"/>
              </a:spcAft>
            </a:pPr>
            <a:r>
              <a:rPr sz="900" b="0" i="0" dirty="0">
                <a:solidFill>
                  <a:srgbClr val="2A2C45"/>
                </a:solidFill>
                <a:latin typeface="Montserrat"/>
              </a:rPr>
              <a:t>% of new loans with a documented DTI check; ≥ 90% of relevant staff trained</a:t>
            </a:r>
          </a:p>
        </p:txBody>
      </p:sp>
      <p:sp>
        <p:nvSpPr>
          <p:cNvPr id="27" name="Rounded Rectangle 26"/>
          <p:cNvSpPr/>
          <p:nvPr/>
        </p:nvSpPr>
        <p:spPr>
          <a:xfrm>
            <a:off x="548640" y="4489704"/>
            <a:ext cx="11091672" cy="850392"/>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8" name="Rounded Rectangle 27"/>
          <p:cNvSpPr/>
          <p:nvPr/>
        </p:nvSpPr>
        <p:spPr>
          <a:xfrm>
            <a:off x="731520" y="4773168"/>
            <a:ext cx="1828800" cy="274320"/>
          </a:xfrm>
          <a:prstGeom prst="roundRect">
            <a:avLst>
              <a:gd name="adj" fmla="val 50000"/>
            </a:avLst>
          </a:prstGeom>
          <a:solidFill>
            <a:srgbClr val="FEF3DC"/>
          </a:solidFill>
          <a:ln>
            <a:noFill/>
          </a:ln>
          <a:effectLst/>
        </p:spPr>
        <p:txBody>
          <a:bodyPr rtlCol="0" anchor="ctr"/>
          <a:lstStyle/>
          <a:p>
            <a:pPr algn="ctr"/>
            <a:endParaRPr/>
          </a:p>
        </p:txBody>
      </p:sp>
      <p:sp>
        <p:nvSpPr>
          <p:cNvPr id="29" name="TextBox 28"/>
          <p:cNvSpPr txBox="1"/>
          <p:nvPr/>
        </p:nvSpPr>
        <p:spPr>
          <a:xfrm>
            <a:off x="731520" y="4773168"/>
            <a:ext cx="1828800" cy="274320"/>
          </a:xfrm>
          <a:prstGeom prst="rect">
            <a:avLst/>
          </a:prstGeom>
          <a:noFill/>
        </p:spPr>
        <p:txBody>
          <a:bodyPr wrap="square" lIns="0" tIns="0" rIns="0" bIns="0" anchor="ctr">
            <a:spAutoFit/>
          </a:bodyPr>
          <a:lstStyle/>
          <a:p>
            <a:pPr algn="ctr">
              <a:lnSpc>
                <a:spcPct val="108000"/>
              </a:lnSpc>
              <a:spcAft>
                <a:spcPts val="300"/>
              </a:spcAft>
            </a:pPr>
            <a:r>
              <a:rPr sz="800" b="1" i="0">
                <a:solidFill>
                  <a:srgbClr val="B7791F"/>
                </a:solidFill>
                <a:latin typeface="Montserrat"/>
              </a:rPr>
              <a:t>PRACTICE / BEHAVIOR</a:t>
            </a:r>
          </a:p>
        </p:txBody>
      </p:sp>
      <p:sp>
        <p:nvSpPr>
          <p:cNvPr id="30" name="TextBox 29"/>
          <p:cNvSpPr txBox="1"/>
          <p:nvPr/>
        </p:nvSpPr>
        <p:spPr>
          <a:xfrm>
            <a:off x="2788920" y="4562856"/>
            <a:ext cx="4334256" cy="201168"/>
          </a:xfrm>
          <a:prstGeom prst="rect">
            <a:avLst/>
          </a:prstGeom>
          <a:noFill/>
        </p:spPr>
        <p:txBody>
          <a:bodyPr wrap="square" lIns="0" tIns="0" rIns="0" bIns="0" anchor="t">
            <a:spAutoFit/>
          </a:bodyPr>
          <a:lstStyle/>
          <a:p>
            <a:pPr>
              <a:lnSpc>
                <a:spcPct val="108000"/>
              </a:lnSpc>
              <a:spcAft>
                <a:spcPts val="300"/>
              </a:spcAft>
            </a:pPr>
            <a:r>
              <a:rPr sz="800" b="1" i="0">
                <a:solidFill>
                  <a:srgbClr val="6B6F8A"/>
                </a:solidFill>
                <a:latin typeface="Montserrat"/>
              </a:rPr>
              <a:t>Whose behavior do we want to influence?</a:t>
            </a:r>
          </a:p>
        </p:txBody>
      </p:sp>
      <p:sp>
        <p:nvSpPr>
          <p:cNvPr id="31" name="TextBox 30"/>
          <p:cNvSpPr txBox="1"/>
          <p:nvPr/>
        </p:nvSpPr>
        <p:spPr>
          <a:xfrm>
            <a:off x="2788920" y="4791456"/>
            <a:ext cx="4334256" cy="512064"/>
          </a:xfrm>
          <a:prstGeom prst="rect">
            <a:avLst/>
          </a:prstGeom>
          <a:noFill/>
        </p:spPr>
        <p:txBody>
          <a:bodyPr wrap="square" lIns="0" tIns="0" rIns="0" bIns="0" anchor="t">
            <a:spAutoFit/>
          </a:bodyPr>
          <a:lstStyle/>
          <a:p>
            <a:pPr>
              <a:lnSpc>
                <a:spcPct val="102000"/>
              </a:lnSpc>
              <a:spcAft>
                <a:spcPts val="300"/>
              </a:spcAft>
            </a:pPr>
            <a:r>
              <a:rPr sz="900" b="0" i="0" dirty="0">
                <a:solidFill>
                  <a:srgbClr val="2A2C45"/>
                </a:solidFill>
                <a:latin typeface="Montserrat"/>
              </a:rPr>
              <a:t>Product and risk teams (design), branch and call-</a:t>
            </a:r>
            <a:r>
              <a:rPr sz="900" b="0" i="0" dirty="0" err="1">
                <a:solidFill>
                  <a:srgbClr val="2A2C45"/>
                </a:solidFill>
                <a:latin typeface="Montserrat"/>
              </a:rPr>
              <a:t>centre</a:t>
            </a:r>
            <a:r>
              <a:rPr sz="900" b="0" i="0" dirty="0">
                <a:solidFill>
                  <a:srgbClr val="2A2C45"/>
                </a:solidFill>
                <a:latin typeface="Montserrat"/>
              </a:rPr>
              <a:t> staff (advice), customers (borrowing decisions)</a:t>
            </a:r>
          </a:p>
        </p:txBody>
      </p:sp>
      <p:sp>
        <p:nvSpPr>
          <p:cNvPr id="32" name="TextBox 31"/>
          <p:cNvSpPr txBox="1"/>
          <p:nvPr/>
        </p:nvSpPr>
        <p:spPr>
          <a:xfrm>
            <a:off x="7214616" y="4562856"/>
            <a:ext cx="4334256" cy="201168"/>
          </a:xfrm>
          <a:prstGeom prst="rect">
            <a:avLst/>
          </a:prstGeom>
          <a:noFill/>
        </p:spPr>
        <p:txBody>
          <a:bodyPr wrap="square" lIns="0" tIns="0" rIns="0" bIns="0" anchor="t">
            <a:spAutoFit/>
          </a:bodyPr>
          <a:lstStyle/>
          <a:p>
            <a:pPr>
              <a:lnSpc>
                <a:spcPct val="108000"/>
              </a:lnSpc>
              <a:spcAft>
                <a:spcPts val="300"/>
              </a:spcAft>
            </a:pPr>
            <a:r>
              <a:rPr sz="800" b="1" i="0">
                <a:solidFill>
                  <a:srgbClr val="6B6F8A"/>
                </a:solidFill>
                <a:latin typeface="Montserrat"/>
              </a:rPr>
              <a:t>How can we measure if this is changing?</a:t>
            </a:r>
          </a:p>
        </p:txBody>
      </p:sp>
      <p:sp>
        <p:nvSpPr>
          <p:cNvPr id="33" name="TextBox 32"/>
          <p:cNvSpPr txBox="1"/>
          <p:nvPr/>
        </p:nvSpPr>
        <p:spPr>
          <a:xfrm>
            <a:off x="7214616" y="4791456"/>
            <a:ext cx="4334256" cy="512064"/>
          </a:xfrm>
          <a:prstGeom prst="rect">
            <a:avLst/>
          </a:prstGeom>
          <a:noFill/>
        </p:spPr>
        <p:txBody>
          <a:bodyPr wrap="square" lIns="0" tIns="0" rIns="0" bIns="0" anchor="t">
            <a:spAutoFit/>
          </a:bodyPr>
          <a:lstStyle/>
          <a:p>
            <a:pPr>
              <a:lnSpc>
                <a:spcPct val="102000"/>
              </a:lnSpc>
              <a:spcAft>
                <a:spcPts val="300"/>
              </a:spcAft>
            </a:pPr>
            <a:r>
              <a:rPr sz="900" b="0" i="0" dirty="0">
                <a:solidFill>
                  <a:srgbClr val="2A2C45"/>
                </a:solidFill>
                <a:latin typeface="Montserrat"/>
              </a:rPr>
              <a:t>Share of loans with DTI &gt; 45% ↓; mis-selling and collection complaints ↓; sales KPIs weighted to quality</a:t>
            </a:r>
          </a:p>
        </p:txBody>
      </p:sp>
      <p:sp>
        <p:nvSpPr>
          <p:cNvPr id="34" name="Rounded Rectangle 33"/>
          <p:cNvSpPr/>
          <p:nvPr/>
        </p:nvSpPr>
        <p:spPr>
          <a:xfrm>
            <a:off x="548640" y="5431536"/>
            <a:ext cx="11091672" cy="850392"/>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35" name="Rounded Rectangle 34"/>
          <p:cNvSpPr/>
          <p:nvPr/>
        </p:nvSpPr>
        <p:spPr>
          <a:xfrm>
            <a:off x="731520" y="5714999"/>
            <a:ext cx="1828800" cy="274320"/>
          </a:xfrm>
          <a:prstGeom prst="roundRect">
            <a:avLst>
              <a:gd name="adj" fmla="val 50000"/>
            </a:avLst>
          </a:prstGeom>
          <a:solidFill>
            <a:srgbClr val="E3F5EA"/>
          </a:solidFill>
          <a:ln>
            <a:noFill/>
          </a:ln>
          <a:effectLst/>
        </p:spPr>
        <p:txBody>
          <a:bodyPr rtlCol="0" anchor="ctr"/>
          <a:lstStyle/>
          <a:p>
            <a:pPr algn="ctr"/>
            <a:endParaRPr/>
          </a:p>
        </p:txBody>
      </p:sp>
      <p:sp>
        <p:nvSpPr>
          <p:cNvPr id="36" name="TextBox 35"/>
          <p:cNvSpPr txBox="1"/>
          <p:nvPr/>
        </p:nvSpPr>
        <p:spPr>
          <a:xfrm>
            <a:off x="731520" y="5714999"/>
            <a:ext cx="1828800" cy="274320"/>
          </a:xfrm>
          <a:prstGeom prst="rect">
            <a:avLst/>
          </a:prstGeom>
          <a:noFill/>
        </p:spPr>
        <p:txBody>
          <a:bodyPr wrap="square" lIns="0" tIns="0" rIns="0" bIns="0" anchor="ctr">
            <a:spAutoFit/>
          </a:bodyPr>
          <a:lstStyle/>
          <a:p>
            <a:pPr algn="ctr">
              <a:lnSpc>
                <a:spcPct val="108000"/>
              </a:lnSpc>
              <a:spcAft>
                <a:spcPts val="300"/>
              </a:spcAft>
            </a:pPr>
            <a:r>
              <a:rPr sz="800" b="1" i="0">
                <a:solidFill>
                  <a:srgbClr val="15803D"/>
                </a:solidFill>
                <a:latin typeface="Montserrat"/>
              </a:rPr>
              <a:t>OUTCOME</a:t>
            </a:r>
          </a:p>
        </p:txBody>
      </p:sp>
      <p:sp>
        <p:nvSpPr>
          <p:cNvPr id="37" name="TextBox 36"/>
          <p:cNvSpPr txBox="1"/>
          <p:nvPr/>
        </p:nvSpPr>
        <p:spPr>
          <a:xfrm>
            <a:off x="2788920" y="5504688"/>
            <a:ext cx="4334256" cy="201168"/>
          </a:xfrm>
          <a:prstGeom prst="rect">
            <a:avLst/>
          </a:prstGeom>
          <a:noFill/>
        </p:spPr>
        <p:txBody>
          <a:bodyPr wrap="square" lIns="0" tIns="0" rIns="0" bIns="0" anchor="t">
            <a:spAutoFit/>
          </a:bodyPr>
          <a:lstStyle/>
          <a:p>
            <a:pPr>
              <a:lnSpc>
                <a:spcPct val="108000"/>
              </a:lnSpc>
              <a:spcAft>
                <a:spcPts val="300"/>
              </a:spcAft>
            </a:pPr>
            <a:r>
              <a:rPr sz="800" b="1" i="0">
                <a:solidFill>
                  <a:srgbClr val="6B6F8A"/>
                </a:solidFill>
                <a:latin typeface="Montserrat"/>
              </a:rPr>
              <a:t>What is the key outcome we want to achieve?</a:t>
            </a:r>
          </a:p>
        </p:txBody>
      </p:sp>
      <p:sp>
        <p:nvSpPr>
          <p:cNvPr id="38" name="TextBox 37"/>
          <p:cNvSpPr txBox="1"/>
          <p:nvPr/>
        </p:nvSpPr>
        <p:spPr>
          <a:xfrm>
            <a:off x="2788920" y="5733288"/>
            <a:ext cx="4334256" cy="512064"/>
          </a:xfrm>
          <a:prstGeom prst="rect">
            <a:avLst/>
          </a:prstGeom>
          <a:noFill/>
        </p:spPr>
        <p:txBody>
          <a:bodyPr wrap="square" lIns="0" tIns="0" rIns="0" bIns="0" anchor="t">
            <a:spAutoFit/>
          </a:bodyPr>
          <a:lstStyle/>
          <a:p>
            <a:pPr>
              <a:lnSpc>
                <a:spcPct val="102000"/>
              </a:lnSpc>
              <a:spcAft>
                <a:spcPts val="300"/>
              </a:spcAft>
            </a:pPr>
            <a:r>
              <a:rPr sz="900" b="0" i="0" dirty="0">
                <a:solidFill>
                  <a:srgbClr val="2A2C45"/>
                </a:solidFill>
                <a:latin typeface="Montserrat"/>
              </a:rPr>
              <a:t>Customers borrow within their means; borrowers in difficulty get early, fair help</a:t>
            </a:r>
          </a:p>
        </p:txBody>
      </p:sp>
      <p:sp>
        <p:nvSpPr>
          <p:cNvPr id="39" name="TextBox 38"/>
          <p:cNvSpPr txBox="1"/>
          <p:nvPr/>
        </p:nvSpPr>
        <p:spPr>
          <a:xfrm>
            <a:off x="7214616" y="5504688"/>
            <a:ext cx="4334256" cy="201168"/>
          </a:xfrm>
          <a:prstGeom prst="rect">
            <a:avLst/>
          </a:prstGeom>
          <a:noFill/>
        </p:spPr>
        <p:txBody>
          <a:bodyPr wrap="square" lIns="0" tIns="0" rIns="0" bIns="0" anchor="t">
            <a:spAutoFit/>
          </a:bodyPr>
          <a:lstStyle/>
          <a:p>
            <a:pPr>
              <a:lnSpc>
                <a:spcPct val="108000"/>
              </a:lnSpc>
              <a:spcAft>
                <a:spcPts val="300"/>
              </a:spcAft>
            </a:pPr>
            <a:r>
              <a:rPr sz="800" b="1" i="0">
                <a:solidFill>
                  <a:srgbClr val="6B6F8A"/>
                </a:solidFill>
                <a:latin typeface="Montserrat"/>
              </a:rPr>
              <a:t>How can we measure if this has been achieved?</a:t>
            </a:r>
          </a:p>
        </p:txBody>
      </p:sp>
      <p:sp>
        <p:nvSpPr>
          <p:cNvPr id="40" name="TextBox 39"/>
          <p:cNvSpPr txBox="1"/>
          <p:nvPr/>
        </p:nvSpPr>
        <p:spPr>
          <a:xfrm>
            <a:off x="7214616" y="5733288"/>
            <a:ext cx="4334256" cy="512064"/>
          </a:xfrm>
          <a:prstGeom prst="rect">
            <a:avLst/>
          </a:prstGeom>
          <a:noFill/>
        </p:spPr>
        <p:txBody>
          <a:bodyPr wrap="square" lIns="0" tIns="0" rIns="0" bIns="0" anchor="t">
            <a:spAutoFit/>
          </a:bodyPr>
          <a:lstStyle/>
          <a:p>
            <a:pPr>
              <a:lnSpc>
                <a:spcPct val="102000"/>
              </a:lnSpc>
              <a:spcAft>
                <a:spcPts val="300"/>
              </a:spcAft>
            </a:pPr>
            <a:r>
              <a:rPr sz="900" b="0" i="0" dirty="0">
                <a:solidFill>
                  <a:srgbClr val="2A2C45"/>
                </a:solidFill>
                <a:latin typeface="Montserrat"/>
              </a:rPr>
              <a:t>30+ days past due in vulnerable segments ↓; hardship restructurings ↑; financial-wellbeing score ↑</a:t>
            </a:r>
          </a:p>
        </p:txBody>
      </p:sp>
    </p:spTree>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14</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HRDD Step 4: Communicating</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5408676" cy="4315968"/>
          </a:xfrm>
          <a:prstGeom prst="roundRect">
            <a:avLst>
              <a:gd name="adj" fmla="val 2118"/>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2" name="Rounded Rectangle 11"/>
          <p:cNvSpPr/>
          <p:nvPr/>
        </p:nvSpPr>
        <p:spPr>
          <a:xfrm>
            <a:off x="822959" y="2194560"/>
            <a:ext cx="1188720" cy="274320"/>
          </a:xfrm>
          <a:prstGeom prst="roundRect">
            <a:avLst>
              <a:gd name="adj" fmla="val 50000"/>
            </a:avLst>
          </a:prstGeom>
          <a:solidFill>
            <a:srgbClr val="FDECEC"/>
          </a:solidFill>
          <a:ln>
            <a:noFill/>
          </a:ln>
          <a:effectLst/>
        </p:spPr>
        <p:txBody>
          <a:bodyPr rtlCol="0" anchor="ctr"/>
          <a:lstStyle/>
          <a:p>
            <a:pPr algn="ctr"/>
            <a:endParaRPr/>
          </a:p>
        </p:txBody>
      </p:sp>
      <p:sp>
        <p:nvSpPr>
          <p:cNvPr id="13" name="TextBox 12"/>
          <p:cNvSpPr txBox="1"/>
          <p:nvPr/>
        </p:nvSpPr>
        <p:spPr>
          <a:xfrm>
            <a:off x="822959" y="2194560"/>
            <a:ext cx="1188720" cy="274320"/>
          </a:xfrm>
          <a:prstGeom prst="rect">
            <a:avLst/>
          </a:prstGeom>
          <a:noFill/>
        </p:spPr>
        <p:txBody>
          <a:bodyPr wrap="square" lIns="0" tIns="0" rIns="0" bIns="0" anchor="ctr">
            <a:spAutoFit/>
          </a:bodyPr>
          <a:lstStyle/>
          <a:p>
            <a:pPr algn="ctr">
              <a:lnSpc>
                <a:spcPct val="108000"/>
              </a:lnSpc>
              <a:spcAft>
                <a:spcPts val="300"/>
              </a:spcAft>
            </a:pPr>
            <a:r>
              <a:rPr sz="900" b="1" i="0">
                <a:solidFill>
                  <a:srgbClr val="E4202E"/>
                </a:solidFill>
                <a:latin typeface="Montserrat"/>
              </a:rPr>
              <a:t>Internal</a:t>
            </a:r>
          </a:p>
        </p:txBody>
      </p:sp>
      <p:sp>
        <p:nvSpPr>
          <p:cNvPr id="14" name="Rounded Rectangle 13"/>
          <p:cNvSpPr/>
          <p:nvPr/>
        </p:nvSpPr>
        <p:spPr>
          <a:xfrm>
            <a:off x="822959" y="2670048"/>
            <a:ext cx="402336" cy="402336"/>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15" name="Picture 14" descr="LuMegaphone.png"/>
          <p:cNvPicPr>
            <a:picLocks noChangeAspect="1"/>
          </p:cNvPicPr>
          <p:nvPr/>
        </p:nvPicPr>
        <p:blipFill>
          <a:blip r:embed="rId3"/>
          <a:stretch>
            <a:fillRect/>
          </a:stretch>
        </p:blipFill>
        <p:spPr>
          <a:xfrm>
            <a:off x="911473" y="2758561"/>
            <a:ext cx="225308" cy="225308"/>
          </a:xfrm>
          <a:prstGeom prst="rect">
            <a:avLst/>
          </a:prstGeom>
        </p:spPr>
      </p:pic>
      <p:sp>
        <p:nvSpPr>
          <p:cNvPr id="16" name="TextBox 15"/>
          <p:cNvSpPr txBox="1"/>
          <p:nvPr/>
        </p:nvSpPr>
        <p:spPr>
          <a:xfrm>
            <a:off x="1371600" y="2651760"/>
            <a:ext cx="4311396" cy="237744"/>
          </a:xfrm>
          <a:prstGeom prst="rect">
            <a:avLst/>
          </a:prstGeom>
          <a:noFill/>
        </p:spPr>
        <p:txBody>
          <a:bodyPr wrap="square" lIns="0" tIns="0" rIns="0" bIns="0" anchor="t">
            <a:spAutoFit/>
          </a:bodyPr>
          <a:lstStyle/>
          <a:p>
            <a:pPr>
              <a:lnSpc>
                <a:spcPct val="108000"/>
              </a:lnSpc>
              <a:spcAft>
                <a:spcPts val="300"/>
              </a:spcAft>
            </a:pPr>
            <a:r>
              <a:rPr sz="1050" b="1" i="0" dirty="0">
                <a:solidFill>
                  <a:srgbClr val="0F1129"/>
                </a:solidFill>
                <a:latin typeface="Montserrat"/>
              </a:rPr>
              <a:t>Tone from the top</a:t>
            </a:r>
          </a:p>
        </p:txBody>
      </p:sp>
      <p:sp>
        <p:nvSpPr>
          <p:cNvPr id="17" name="TextBox 16"/>
          <p:cNvSpPr txBox="1"/>
          <p:nvPr/>
        </p:nvSpPr>
        <p:spPr>
          <a:xfrm>
            <a:off x="1371600" y="2907791"/>
            <a:ext cx="4311396" cy="594359"/>
          </a:xfrm>
          <a:prstGeom prst="rect">
            <a:avLst/>
          </a:prstGeom>
          <a:noFill/>
        </p:spPr>
        <p:txBody>
          <a:bodyPr wrap="square" lIns="0" tIns="0" rIns="0" bIns="0" anchor="t">
            <a:spAutoFit/>
          </a:bodyPr>
          <a:lstStyle/>
          <a:p>
            <a:pPr>
              <a:lnSpc>
                <a:spcPct val="105000"/>
              </a:lnSpc>
              <a:spcAft>
                <a:spcPts val="300"/>
              </a:spcAft>
            </a:pPr>
            <a:r>
              <a:rPr sz="950" b="0" i="0">
                <a:solidFill>
                  <a:srgbClr val="2A2C45"/>
                </a:solidFill>
                <a:latin typeface="Montserrat"/>
              </a:rPr>
              <a:t>The CEO and Supervisory Board launch the Human Rights Policy and explain why it matters for the bank.</a:t>
            </a:r>
          </a:p>
        </p:txBody>
      </p:sp>
      <p:sp>
        <p:nvSpPr>
          <p:cNvPr id="18" name="Rounded Rectangle 17"/>
          <p:cNvSpPr/>
          <p:nvPr/>
        </p:nvSpPr>
        <p:spPr>
          <a:xfrm>
            <a:off x="822959" y="3538727"/>
            <a:ext cx="402336" cy="402336"/>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19" name="Picture 18" descr="LuGraduationCap.png"/>
          <p:cNvPicPr>
            <a:picLocks noChangeAspect="1"/>
          </p:cNvPicPr>
          <p:nvPr/>
        </p:nvPicPr>
        <p:blipFill>
          <a:blip r:embed="rId4"/>
          <a:stretch>
            <a:fillRect/>
          </a:stretch>
        </p:blipFill>
        <p:spPr>
          <a:xfrm>
            <a:off x="911473" y="3627241"/>
            <a:ext cx="225308" cy="225308"/>
          </a:xfrm>
          <a:prstGeom prst="rect">
            <a:avLst/>
          </a:prstGeom>
        </p:spPr>
      </p:pic>
      <p:sp>
        <p:nvSpPr>
          <p:cNvPr id="20" name="TextBox 19"/>
          <p:cNvSpPr txBox="1"/>
          <p:nvPr/>
        </p:nvSpPr>
        <p:spPr>
          <a:xfrm>
            <a:off x="1371600" y="3520439"/>
            <a:ext cx="4311396" cy="237744"/>
          </a:xfrm>
          <a:prstGeom prst="rect">
            <a:avLst/>
          </a:prstGeom>
          <a:noFill/>
        </p:spPr>
        <p:txBody>
          <a:bodyPr wrap="square" lIns="0" tIns="0" rIns="0" bIns="0" anchor="t">
            <a:spAutoFit/>
          </a:bodyPr>
          <a:lstStyle/>
          <a:p>
            <a:pPr>
              <a:lnSpc>
                <a:spcPct val="108000"/>
              </a:lnSpc>
              <a:spcAft>
                <a:spcPts val="300"/>
              </a:spcAft>
            </a:pPr>
            <a:r>
              <a:rPr sz="1050" b="1" i="0" dirty="0">
                <a:solidFill>
                  <a:srgbClr val="0F1129"/>
                </a:solidFill>
                <a:latin typeface="Montserrat"/>
              </a:rPr>
              <a:t>Human Kapital Academy</a:t>
            </a:r>
          </a:p>
        </p:txBody>
      </p:sp>
      <p:sp>
        <p:nvSpPr>
          <p:cNvPr id="21" name="TextBox 20"/>
          <p:cNvSpPr txBox="1"/>
          <p:nvPr/>
        </p:nvSpPr>
        <p:spPr>
          <a:xfrm>
            <a:off x="1371600" y="3776472"/>
            <a:ext cx="4311396" cy="594359"/>
          </a:xfrm>
          <a:prstGeom prst="rect">
            <a:avLst/>
          </a:prstGeom>
          <a:noFill/>
        </p:spPr>
        <p:txBody>
          <a:bodyPr wrap="square" lIns="0" tIns="0" rIns="0" bIns="0" anchor="t">
            <a:spAutoFit/>
          </a:bodyPr>
          <a:lstStyle/>
          <a:p>
            <a:pPr>
              <a:lnSpc>
                <a:spcPct val="105000"/>
              </a:lnSpc>
              <a:spcAft>
                <a:spcPts val="300"/>
              </a:spcAft>
            </a:pPr>
            <a:r>
              <a:rPr sz="950" b="0" i="0" dirty="0">
                <a:solidFill>
                  <a:srgbClr val="2A2C45"/>
                </a:solidFill>
                <a:latin typeface="Montserrat"/>
              </a:rPr>
              <a:t>Mandatory e-learning for all staff; deeper modules for credit, collections, call-</a:t>
            </a:r>
            <a:r>
              <a:rPr sz="950" b="0" i="0" dirty="0" err="1">
                <a:solidFill>
                  <a:srgbClr val="2A2C45"/>
                </a:solidFill>
                <a:latin typeface="Montserrat"/>
              </a:rPr>
              <a:t>centre</a:t>
            </a:r>
            <a:r>
              <a:rPr sz="950" b="0" i="0" dirty="0">
                <a:solidFill>
                  <a:srgbClr val="2A2C45"/>
                </a:solidFill>
                <a:latin typeface="Montserrat"/>
              </a:rPr>
              <a:t> and product teams.</a:t>
            </a:r>
          </a:p>
        </p:txBody>
      </p:sp>
      <p:sp>
        <p:nvSpPr>
          <p:cNvPr id="22" name="Rounded Rectangle 21"/>
          <p:cNvSpPr/>
          <p:nvPr/>
        </p:nvSpPr>
        <p:spPr>
          <a:xfrm>
            <a:off x="822959" y="4407407"/>
            <a:ext cx="402336" cy="402336"/>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23" name="Picture 22" descr="LuChartColumn.png"/>
          <p:cNvPicPr>
            <a:picLocks noChangeAspect="1"/>
          </p:cNvPicPr>
          <p:nvPr/>
        </p:nvPicPr>
        <p:blipFill>
          <a:blip r:embed="rId5"/>
          <a:stretch>
            <a:fillRect/>
          </a:stretch>
        </p:blipFill>
        <p:spPr>
          <a:xfrm>
            <a:off x="911473" y="4495921"/>
            <a:ext cx="225308" cy="225308"/>
          </a:xfrm>
          <a:prstGeom prst="rect">
            <a:avLst/>
          </a:prstGeom>
        </p:spPr>
      </p:pic>
      <p:sp>
        <p:nvSpPr>
          <p:cNvPr id="24" name="TextBox 23"/>
          <p:cNvSpPr txBox="1"/>
          <p:nvPr/>
        </p:nvSpPr>
        <p:spPr>
          <a:xfrm>
            <a:off x="1371600" y="4389120"/>
            <a:ext cx="4311396" cy="237744"/>
          </a:xfrm>
          <a:prstGeom prst="rect">
            <a:avLst/>
          </a:prstGeom>
          <a:noFill/>
        </p:spPr>
        <p:txBody>
          <a:bodyPr wrap="square" lIns="0" tIns="0" rIns="0" bIns="0" anchor="t">
            <a:spAutoFit/>
          </a:bodyPr>
          <a:lstStyle/>
          <a:p>
            <a:pPr>
              <a:lnSpc>
                <a:spcPct val="108000"/>
              </a:lnSpc>
              <a:spcAft>
                <a:spcPts val="300"/>
              </a:spcAft>
            </a:pPr>
            <a:r>
              <a:rPr sz="1050" b="1" i="0" dirty="0">
                <a:solidFill>
                  <a:srgbClr val="0F1129"/>
                </a:solidFill>
                <a:latin typeface="Montserrat"/>
              </a:rPr>
              <a:t>Quarterly dashboard</a:t>
            </a:r>
          </a:p>
        </p:txBody>
      </p:sp>
      <p:sp>
        <p:nvSpPr>
          <p:cNvPr id="25" name="TextBox 24"/>
          <p:cNvSpPr txBox="1"/>
          <p:nvPr/>
        </p:nvSpPr>
        <p:spPr>
          <a:xfrm>
            <a:off x="1371600" y="4645152"/>
            <a:ext cx="4311396" cy="298800"/>
          </a:xfrm>
          <a:prstGeom prst="rect">
            <a:avLst/>
          </a:prstGeom>
          <a:noFill/>
        </p:spPr>
        <p:txBody>
          <a:bodyPr wrap="square" lIns="0" tIns="0" rIns="0" bIns="0" anchor="t">
            <a:spAutoFit/>
          </a:bodyPr>
          <a:lstStyle/>
          <a:p>
            <a:pPr>
              <a:lnSpc>
                <a:spcPct val="105000"/>
              </a:lnSpc>
              <a:spcAft>
                <a:spcPts val="300"/>
              </a:spcAft>
            </a:pPr>
            <a:r>
              <a:rPr sz="950" b="0" i="0" dirty="0">
                <a:solidFill>
                  <a:srgbClr val="2A2C45"/>
                </a:solidFill>
                <a:latin typeface="Montserrat"/>
              </a:rPr>
              <a:t>Step 3 KPIs, complaint trends and remedy cases reported to the Management Board.</a:t>
            </a:r>
          </a:p>
        </p:txBody>
      </p:sp>
      <p:sp>
        <p:nvSpPr>
          <p:cNvPr id="26" name="Rounded Rectangle 25"/>
          <p:cNvSpPr/>
          <p:nvPr/>
        </p:nvSpPr>
        <p:spPr>
          <a:xfrm>
            <a:off x="822959" y="5276088"/>
            <a:ext cx="402336" cy="402336"/>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27" name="Picture 26" descr="LuMessageSquare.png"/>
          <p:cNvPicPr>
            <a:picLocks noChangeAspect="1"/>
          </p:cNvPicPr>
          <p:nvPr/>
        </p:nvPicPr>
        <p:blipFill>
          <a:blip r:embed="rId6"/>
          <a:stretch>
            <a:fillRect/>
          </a:stretch>
        </p:blipFill>
        <p:spPr>
          <a:xfrm>
            <a:off x="911473" y="5364601"/>
            <a:ext cx="225308" cy="225308"/>
          </a:xfrm>
          <a:prstGeom prst="rect">
            <a:avLst/>
          </a:prstGeom>
        </p:spPr>
      </p:pic>
      <p:sp>
        <p:nvSpPr>
          <p:cNvPr id="28" name="TextBox 27"/>
          <p:cNvSpPr txBox="1"/>
          <p:nvPr/>
        </p:nvSpPr>
        <p:spPr>
          <a:xfrm>
            <a:off x="1371600" y="5257800"/>
            <a:ext cx="4311396" cy="237744"/>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Frontline toolkit</a:t>
            </a:r>
          </a:p>
        </p:txBody>
      </p:sp>
      <p:sp>
        <p:nvSpPr>
          <p:cNvPr id="29" name="TextBox 28"/>
          <p:cNvSpPr txBox="1"/>
          <p:nvPr/>
        </p:nvSpPr>
        <p:spPr>
          <a:xfrm>
            <a:off x="1371600" y="5513832"/>
            <a:ext cx="4311396" cy="594359"/>
          </a:xfrm>
          <a:prstGeom prst="rect">
            <a:avLst/>
          </a:prstGeom>
          <a:noFill/>
        </p:spPr>
        <p:txBody>
          <a:bodyPr wrap="square" lIns="0" tIns="0" rIns="0" bIns="0" anchor="t">
            <a:spAutoFit/>
          </a:bodyPr>
          <a:lstStyle/>
          <a:p>
            <a:pPr>
              <a:lnSpc>
                <a:spcPct val="105000"/>
              </a:lnSpc>
              <a:spcAft>
                <a:spcPts val="300"/>
              </a:spcAft>
            </a:pPr>
            <a:r>
              <a:rPr sz="950" b="0" i="0" dirty="0">
                <a:solidFill>
                  <a:srgbClr val="2A2C45"/>
                </a:solidFill>
                <a:latin typeface="Montserrat"/>
              </a:rPr>
              <a:t>Scripts and FAQs so staff can explain customer rights and grievance options in plain language.</a:t>
            </a:r>
          </a:p>
        </p:txBody>
      </p:sp>
      <p:sp>
        <p:nvSpPr>
          <p:cNvPr id="30" name="Rounded Rectangle 29"/>
          <p:cNvSpPr/>
          <p:nvPr/>
        </p:nvSpPr>
        <p:spPr>
          <a:xfrm>
            <a:off x="6231636" y="2011680"/>
            <a:ext cx="5408676" cy="4315968"/>
          </a:xfrm>
          <a:prstGeom prst="roundRect">
            <a:avLst>
              <a:gd name="adj" fmla="val 2118"/>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31" name="Rounded Rectangle 30"/>
          <p:cNvSpPr/>
          <p:nvPr/>
        </p:nvSpPr>
        <p:spPr>
          <a:xfrm>
            <a:off x="6505955" y="2194560"/>
            <a:ext cx="1188720" cy="274320"/>
          </a:xfrm>
          <a:prstGeom prst="roundRect">
            <a:avLst>
              <a:gd name="adj" fmla="val 50000"/>
            </a:avLst>
          </a:prstGeom>
          <a:solidFill>
            <a:srgbClr val="FFF1E7"/>
          </a:solidFill>
          <a:ln>
            <a:noFill/>
          </a:ln>
          <a:effectLst/>
        </p:spPr>
        <p:txBody>
          <a:bodyPr rtlCol="0" anchor="ctr"/>
          <a:lstStyle/>
          <a:p>
            <a:pPr algn="ctr"/>
            <a:endParaRPr/>
          </a:p>
        </p:txBody>
      </p:sp>
      <p:sp>
        <p:nvSpPr>
          <p:cNvPr id="32" name="TextBox 31"/>
          <p:cNvSpPr txBox="1"/>
          <p:nvPr/>
        </p:nvSpPr>
        <p:spPr>
          <a:xfrm>
            <a:off x="6505955" y="2194560"/>
            <a:ext cx="1188720" cy="274320"/>
          </a:xfrm>
          <a:prstGeom prst="rect">
            <a:avLst/>
          </a:prstGeom>
          <a:noFill/>
        </p:spPr>
        <p:txBody>
          <a:bodyPr wrap="square" lIns="0" tIns="0" rIns="0" bIns="0" anchor="ctr">
            <a:spAutoFit/>
          </a:bodyPr>
          <a:lstStyle/>
          <a:p>
            <a:pPr algn="ctr">
              <a:lnSpc>
                <a:spcPct val="108000"/>
              </a:lnSpc>
              <a:spcAft>
                <a:spcPts val="300"/>
              </a:spcAft>
            </a:pPr>
            <a:r>
              <a:rPr sz="900" b="1" i="0">
                <a:solidFill>
                  <a:srgbClr val="E8590C"/>
                </a:solidFill>
                <a:latin typeface="Montserrat"/>
              </a:rPr>
              <a:t>External</a:t>
            </a:r>
          </a:p>
        </p:txBody>
      </p:sp>
      <p:sp>
        <p:nvSpPr>
          <p:cNvPr id="33" name="Rounded Rectangle 32"/>
          <p:cNvSpPr/>
          <p:nvPr/>
        </p:nvSpPr>
        <p:spPr>
          <a:xfrm>
            <a:off x="6505955" y="2670048"/>
            <a:ext cx="402336" cy="402336"/>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34" name="Picture 33" descr="LuGlobe.png"/>
          <p:cNvPicPr>
            <a:picLocks noChangeAspect="1"/>
          </p:cNvPicPr>
          <p:nvPr/>
        </p:nvPicPr>
        <p:blipFill>
          <a:blip r:embed="rId7"/>
          <a:stretch>
            <a:fillRect/>
          </a:stretch>
        </p:blipFill>
        <p:spPr>
          <a:xfrm>
            <a:off x="6594469" y="2758561"/>
            <a:ext cx="225308" cy="225308"/>
          </a:xfrm>
          <a:prstGeom prst="rect">
            <a:avLst/>
          </a:prstGeom>
        </p:spPr>
      </p:pic>
      <p:sp>
        <p:nvSpPr>
          <p:cNvPr id="35" name="TextBox 34"/>
          <p:cNvSpPr txBox="1"/>
          <p:nvPr/>
        </p:nvSpPr>
        <p:spPr>
          <a:xfrm>
            <a:off x="7054596" y="2651760"/>
            <a:ext cx="4311396" cy="237744"/>
          </a:xfrm>
          <a:prstGeom prst="rect">
            <a:avLst/>
          </a:prstGeom>
          <a:noFill/>
        </p:spPr>
        <p:txBody>
          <a:bodyPr wrap="square" lIns="0" tIns="0" rIns="0" bIns="0" anchor="t">
            <a:spAutoFit/>
          </a:bodyPr>
          <a:lstStyle/>
          <a:p>
            <a:pPr>
              <a:lnSpc>
                <a:spcPct val="108000"/>
              </a:lnSpc>
              <a:spcAft>
                <a:spcPts val="300"/>
              </a:spcAft>
            </a:pPr>
            <a:r>
              <a:rPr sz="1050" b="1" i="0" dirty="0">
                <a:solidFill>
                  <a:srgbClr val="0F1129"/>
                </a:solidFill>
                <a:latin typeface="Montserrat"/>
              </a:rPr>
              <a:t>Public policy</a:t>
            </a:r>
          </a:p>
        </p:txBody>
      </p:sp>
      <p:sp>
        <p:nvSpPr>
          <p:cNvPr id="36" name="TextBox 35"/>
          <p:cNvSpPr txBox="1"/>
          <p:nvPr/>
        </p:nvSpPr>
        <p:spPr>
          <a:xfrm>
            <a:off x="7054596" y="2907791"/>
            <a:ext cx="4311396" cy="438912"/>
          </a:xfrm>
          <a:prstGeom prst="rect">
            <a:avLst/>
          </a:prstGeom>
          <a:noFill/>
        </p:spPr>
        <p:txBody>
          <a:bodyPr wrap="square" lIns="0" tIns="0" rIns="0" bIns="0" anchor="t">
            <a:spAutoFit/>
          </a:bodyPr>
          <a:lstStyle/>
          <a:p>
            <a:pPr>
              <a:lnSpc>
                <a:spcPct val="105000"/>
              </a:lnSpc>
              <a:spcAft>
                <a:spcPts val="300"/>
              </a:spcAft>
            </a:pPr>
            <a:r>
              <a:rPr sz="950" b="0" i="0" dirty="0">
                <a:solidFill>
                  <a:srgbClr val="2A2C45"/>
                </a:solidFill>
                <a:latin typeface="Montserrat"/>
              </a:rPr>
              <a:t>Human Rights Policy published on </a:t>
            </a:r>
            <a:r>
              <a:rPr sz="950" b="0" i="0" dirty="0" err="1">
                <a:solidFill>
                  <a:srgbClr val="2A2C45"/>
                </a:solidFill>
                <a:latin typeface="Montserrat"/>
              </a:rPr>
              <a:t>kapital.bank</a:t>
            </a:r>
            <a:r>
              <a:rPr sz="950" b="0" i="0" dirty="0">
                <a:solidFill>
                  <a:srgbClr val="2A2C45"/>
                </a:solidFill>
                <a:latin typeface="Montserrat"/>
              </a:rPr>
              <a:t> in Azerbaijani and English.</a:t>
            </a:r>
          </a:p>
        </p:txBody>
      </p:sp>
      <p:sp>
        <p:nvSpPr>
          <p:cNvPr id="37" name="Rounded Rectangle 36"/>
          <p:cNvSpPr/>
          <p:nvPr/>
        </p:nvSpPr>
        <p:spPr>
          <a:xfrm>
            <a:off x="6505955" y="3383279"/>
            <a:ext cx="402336" cy="402336"/>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38" name="Picture 37" descr="LuFileText.png"/>
          <p:cNvPicPr>
            <a:picLocks noChangeAspect="1"/>
          </p:cNvPicPr>
          <p:nvPr/>
        </p:nvPicPr>
        <p:blipFill>
          <a:blip r:embed="rId8"/>
          <a:stretch>
            <a:fillRect/>
          </a:stretch>
        </p:blipFill>
        <p:spPr>
          <a:xfrm>
            <a:off x="6594469" y="3471793"/>
            <a:ext cx="225308" cy="225308"/>
          </a:xfrm>
          <a:prstGeom prst="rect">
            <a:avLst/>
          </a:prstGeom>
        </p:spPr>
      </p:pic>
      <p:sp>
        <p:nvSpPr>
          <p:cNvPr id="39" name="TextBox 38"/>
          <p:cNvSpPr txBox="1"/>
          <p:nvPr/>
        </p:nvSpPr>
        <p:spPr>
          <a:xfrm>
            <a:off x="7054596" y="3364991"/>
            <a:ext cx="4311396" cy="237744"/>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Annual disclosure</a:t>
            </a:r>
          </a:p>
        </p:txBody>
      </p:sp>
      <p:sp>
        <p:nvSpPr>
          <p:cNvPr id="40" name="TextBox 39"/>
          <p:cNvSpPr txBox="1"/>
          <p:nvPr/>
        </p:nvSpPr>
        <p:spPr>
          <a:xfrm>
            <a:off x="7054596" y="3621024"/>
            <a:ext cx="4311396" cy="1207008"/>
          </a:xfrm>
          <a:prstGeom prst="rect">
            <a:avLst/>
          </a:prstGeom>
          <a:noFill/>
        </p:spPr>
        <p:txBody>
          <a:bodyPr wrap="square" lIns="0" tIns="0" rIns="0" bIns="0" anchor="t">
            <a:spAutoFit/>
          </a:bodyPr>
          <a:lstStyle/>
          <a:p>
            <a:pPr>
              <a:lnSpc>
                <a:spcPct val="105000"/>
              </a:lnSpc>
              <a:spcAft>
                <a:spcPts val="300"/>
              </a:spcAft>
            </a:pPr>
            <a:r>
              <a:rPr sz="950" b="0" i="0">
                <a:solidFill>
                  <a:srgbClr val="2A2C45"/>
                </a:solidFill>
                <a:latin typeface="Montserrat"/>
              </a:rPr>
              <a:t>First UNGC Communication on Progress (due 31 July 2027) and the next Sustainability Report with a human rights section covering:</a:t>
            </a:r>
          </a:p>
        </p:txBody>
      </p:sp>
      <p:sp>
        <p:nvSpPr>
          <p:cNvPr id="41" name="Rounded Rectangle 40"/>
          <p:cNvSpPr/>
          <p:nvPr/>
        </p:nvSpPr>
        <p:spPr>
          <a:xfrm>
            <a:off x="7054596" y="4096511"/>
            <a:ext cx="841248" cy="246888"/>
          </a:xfrm>
          <a:prstGeom prst="roundRect">
            <a:avLst>
              <a:gd name="adj" fmla="val 50000"/>
            </a:avLst>
          </a:prstGeom>
          <a:solidFill>
            <a:srgbClr val="FFF1E7"/>
          </a:solidFill>
          <a:ln>
            <a:noFill/>
          </a:ln>
          <a:effectLst/>
        </p:spPr>
        <p:txBody>
          <a:bodyPr rtlCol="0" anchor="ctr"/>
          <a:lstStyle/>
          <a:p>
            <a:pPr algn="ctr"/>
            <a:endParaRPr/>
          </a:p>
        </p:txBody>
      </p:sp>
      <p:sp>
        <p:nvSpPr>
          <p:cNvPr id="42" name="TextBox 41"/>
          <p:cNvSpPr txBox="1"/>
          <p:nvPr/>
        </p:nvSpPr>
        <p:spPr>
          <a:xfrm>
            <a:off x="7054596" y="4096511"/>
            <a:ext cx="841248" cy="246888"/>
          </a:xfrm>
          <a:prstGeom prst="rect">
            <a:avLst/>
          </a:prstGeom>
          <a:noFill/>
        </p:spPr>
        <p:txBody>
          <a:bodyPr wrap="square" lIns="0" tIns="0" rIns="0" bIns="0" anchor="ctr">
            <a:spAutoFit/>
          </a:bodyPr>
          <a:lstStyle/>
          <a:p>
            <a:pPr algn="ctr">
              <a:lnSpc>
                <a:spcPct val="108000"/>
              </a:lnSpc>
              <a:spcAft>
                <a:spcPts val="300"/>
              </a:spcAft>
            </a:pPr>
            <a:r>
              <a:rPr sz="780" b="1" i="0">
                <a:solidFill>
                  <a:srgbClr val="E8590C"/>
                </a:solidFill>
                <a:latin typeface="Montserrat"/>
              </a:rPr>
              <a:t>Governance</a:t>
            </a:r>
          </a:p>
        </p:txBody>
      </p:sp>
      <p:sp>
        <p:nvSpPr>
          <p:cNvPr id="43" name="Rounded Rectangle 42"/>
          <p:cNvSpPr/>
          <p:nvPr/>
        </p:nvSpPr>
        <p:spPr>
          <a:xfrm>
            <a:off x="7968996" y="4096511"/>
            <a:ext cx="1082649" cy="246888"/>
          </a:xfrm>
          <a:prstGeom prst="roundRect">
            <a:avLst>
              <a:gd name="adj" fmla="val 50000"/>
            </a:avLst>
          </a:prstGeom>
          <a:solidFill>
            <a:srgbClr val="FFF1E7"/>
          </a:solidFill>
          <a:ln>
            <a:noFill/>
          </a:ln>
          <a:effectLst/>
        </p:spPr>
        <p:txBody>
          <a:bodyPr rtlCol="0" anchor="ctr"/>
          <a:lstStyle/>
          <a:p>
            <a:pPr algn="ctr"/>
            <a:endParaRPr/>
          </a:p>
        </p:txBody>
      </p:sp>
      <p:sp>
        <p:nvSpPr>
          <p:cNvPr id="44" name="TextBox 43"/>
          <p:cNvSpPr txBox="1"/>
          <p:nvPr/>
        </p:nvSpPr>
        <p:spPr>
          <a:xfrm>
            <a:off x="7968996" y="4096511"/>
            <a:ext cx="1082649" cy="246888"/>
          </a:xfrm>
          <a:prstGeom prst="rect">
            <a:avLst/>
          </a:prstGeom>
          <a:noFill/>
        </p:spPr>
        <p:txBody>
          <a:bodyPr wrap="square" lIns="0" tIns="0" rIns="0" bIns="0" anchor="ctr">
            <a:spAutoFit/>
          </a:bodyPr>
          <a:lstStyle/>
          <a:p>
            <a:pPr algn="ctr">
              <a:lnSpc>
                <a:spcPct val="108000"/>
              </a:lnSpc>
              <a:spcAft>
                <a:spcPts val="300"/>
              </a:spcAft>
            </a:pPr>
            <a:r>
              <a:rPr sz="780" b="1" i="0">
                <a:solidFill>
                  <a:srgbClr val="E8590C"/>
                </a:solidFill>
                <a:latin typeface="Montserrat"/>
              </a:rPr>
              <a:t>Salient issues</a:t>
            </a:r>
          </a:p>
        </p:txBody>
      </p:sp>
      <p:sp>
        <p:nvSpPr>
          <p:cNvPr id="45" name="Rounded Rectangle 44"/>
          <p:cNvSpPr/>
          <p:nvPr/>
        </p:nvSpPr>
        <p:spPr>
          <a:xfrm>
            <a:off x="9124797" y="4096511"/>
            <a:ext cx="1082649" cy="246888"/>
          </a:xfrm>
          <a:prstGeom prst="roundRect">
            <a:avLst>
              <a:gd name="adj" fmla="val 50000"/>
            </a:avLst>
          </a:prstGeom>
          <a:solidFill>
            <a:srgbClr val="FFF1E7"/>
          </a:solidFill>
          <a:ln>
            <a:noFill/>
          </a:ln>
          <a:effectLst/>
        </p:spPr>
        <p:txBody>
          <a:bodyPr rtlCol="0" anchor="ctr"/>
          <a:lstStyle/>
          <a:p>
            <a:pPr algn="ctr"/>
            <a:endParaRPr/>
          </a:p>
        </p:txBody>
      </p:sp>
      <p:sp>
        <p:nvSpPr>
          <p:cNvPr id="46" name="TextBox 45"/>
          <p:cNvSpPr txBox="1"/>
          <p:nvPr/>
        </p:nvSpPr>
        <p:spPr>
          <a:xfrm>
            <a:off x="9124797" y="4096511"/>
            <a:ext cx="1082649" cy="246888"/>
          </a:xfrm>
          <a:prstGeom prst="rect">
            <a:avLst/>
          </a:prstGeom>
          <a:noFill/>
        </p:spPr>
        <p:txBody>
          <a:bodyPr wrap="square" lIns="0" tIns="0" rIns="0" bIns="0" anchor="ctr">
            <a:spAutoFit/>
          </a:bodyPr>
          <a:lstStyle/>
          <a:p>
            <a:pPr algn="ctr">
              <a:lnSpc>
                <a:spcPct val="108000"/>
              </a:lnSpc>
              <a:spcAft>
                <a:spcPts val="300"/>
              </a:spcAft>
            </a:pPr>
            <a:r>
              <a:rPr sz="780" b="1" i="0">
                <a:solidFill>
                  <a:srgbClr val="E8590C"/>
                </a:solidFill>
                <a:latin typeface="Montserrat"/>
              </a:rPr>
              <a:t>Actions &amp; KPIs</a:t>
            </a:r>
          </a:p>
        </p:txBody>
      </p:sp>
      <p:sp>
        <p:nvSpPr>
          <p:cNvPr id="47" name="Rounded Rectangle 46"/>
          <p:cNvSpPr/>
          <p:nvPr/>
        </p:nvSpPr>
        <p:spPr>
          <a:xfrm>
            <a:off x="7054596" y="4407407"/>
            <a:ext cx="1625803" cy="246888"/>
          </a:xfrm>
          <a:prstGeom prst="roundRect">
            <a:avLst>
              <a:gd name="adj" fmla="val 50000"/>
            </a:avLst>
          </a:prstGeom>
          <a:solidFill>
            <a:srgbClr val="FFF1E7"/>
          </a:solidFill>
          <a:ln>
            <a:noFill/>
          </a:ln>
          <a:effectLst/>
        </p:spPr>
        <p:txBody>
          <a:bodyPr rtlCol="0" anchor="ctr"/>
          <a:lstStyle/>
          <a:p>
            <a:pPr algn="ctr"/>
            <a:endParaRPr/>
          </a:p>
        </p:txBody>
      </p:sp>
      <p:sp>
        <p:nvSpPr>
          <p:cNvPr id="48" name="TextBox 47"/>
          <p:cNvSpPr txBox="1"/>
          <p:nvPr/>
        </p:nvSpPr>
        <p:spPr>
          <a:xfrm>
            <a:off x="7054596" y="4407407"/>
            <a:ext cx="1625803" cy="246888"/>
          </a:xfrm>
          <a:prstGeom prst="rect">
            <a:avLst/>
          </a:prstGeom>
          <a:noFill/>
        </p:spPr>
        <p:txBody>
          <a:bodyPr wrap="square" lIns="0" tIns="0" rIns="0" bIns="0" anchor="ctr">
            <a:spAutoFit/>
          </a:bodyPr>
          <a:lstStyle/>
          <a:p>
            <a:pPr algn="ctr">
              <a:lnSpc>
                <a:spcPct val="108000"/>
              </a:lnSpc>
              <a:spcAft>
                <a:spcPts val="300"/>
              </a:spcAft>
            </a:pPr>
            <a:r>
              <a:rPr sz="780" b="1" i="0">
                <a:solidFill>
                  <a:srgbClr val="E8590C"/>
                </a:solidFill>
                <a:latin typeface="Montserrat"/>
              </a:rPr>
              <a:t>Grievance &amp; remedy data</a:t>
            </a:r>
          </a:p>
        </p:txBody>
      </p:sp>
      <p:sp>
        <p:nvSpPr>
          <p:cNvPr id="49" name="Rounded Rectangle 48"/>
          <p:cNvSpPr/>
          <p:nvPr/>
        </p:nvSpPr>
        <p:spPr>
          <a:xfrm>
            <a:off x="6505955" y="4864607"/>
            <a:ext cx="402336" cy="402336"/>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50" name="Picture 49" descr="LuLayers.png"/>
          <p:cNvPicPr>
            <a:picLocks noChangeAspect="1"/>
          </p:cNvPicPr>
          <p:nvPr/>
        </p:nvPicPr>
        <p:blipFill>
          <a:blip r:embed="rId9"/>
          <a:stretch>
            <a:fillRect/>
          </a:stretch>
        </p:blipFill>
        <p:spPr>
          <a:xfrm>
            <a:off x="6594469" y="4953121"/>
            <a:ext cx="225308" cy="225308"/>
          </a:xfrm>
          <a:prstGeom prst="rect">
            <a:avLst/>
          </a:prstGeom>
        </p:spPr>
      </p:pic>
      <p:sp>
        <p:nvSpPr>
          <p:cNvPr id="51" name="TextBox 50"/>
          <p:cNvSpPr txBox="1"/>
          <p:nvPr/>
        </p:nvSpPr>
        <p:spPr>
          <a:xfrm>
            <a:off x="7054596" y="4846320"/>
            <a:ext cx="4311396" cy="237744"/>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Clear separation</a:t>
            </a:r>
          </a:p>
        </p:txBody>
      </p:sp>
      <p:sp>
        <p:nvSpPr>
          <p:cNvPr id="52" name="TextBox 51"/>
          <p:cNvSpPr txBox="1"/>
          <p:nvPr/>
        </p:nvSpPr>
        <p:spPr>
          <a:xfrm>
            <a:off x="7054596" y="5102352"/>
            <a:ext cx="4311396" cy="384048"/>
          </a:xfrm>
          <a:prstGeom prst="rect">
            <a:avLst/>
          </a:prstGeom>
          <a:noFill/>
        </p:spPr>
        <p:txBody>
          <a:bodyPr wrap="square" lIns="0" tIns="0" rIns="0" bIns="0" anchor="t">
            <a:spAutoFit/>
          </a:bodyPr>
          <a:lstStyle/>
          <a:p>
            <a:pPr>
              <a:lnSpc>
                <a:spcPct val="105000"/>
              </a:lnSpc>
              <a:spcAft>
                <a:spcPts val="300"/>
              </a:spcAft>
            </a:pPr>
            <a:r>
              <a:rPr sz="950" b="0" i="0" dirty="0">
                <a:solidFill>
                  <a:srgbClr val="2A2C45"/>
                </a:solidFill>
                <a:latin typeface="Montserrat"/>
              </a:rPr>
              <a:t>CSR results and human rights risk management presented in separate chapters.</a:t>
            </a:r>
          </a:p>
        </p:txBody>
      </p:sp>
      <p:sp>
        <p:nvSpPr>
          <p:cNvPr id="53" name="Rounded Rectangle 52"/>
          <p:cNvSpPr/>
          <p:nvPr/>
        </p:nvSpPr>
        <p:spPr>
          <a:xfrm>
            <a:off x="6505955" y="5522975"/>
            <a:ext cx="402336" cy="402336"/>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54" name="Picture 53" descr="LuUsers.png"/>
          <p:cNvPicPr>
            <a:picLocks noChangeAspect="1"/>
          </p:cNvPicPr>
          <p:nvPr/>
        </p:nvPicPr>
        <p:blipFill>
          <a:blip r:embed="rId10"/>
          <a:stretch>
            <a:fillRect/>
          </a:stretch>
        </p:blipFill>
        <p:spPr>
          <a:xfrm>
            <a:off x="6594469" y="5611489"/>
            <a:ext cx="225308" cy="225308"/>
          </a:xfrm>
          <a:prstGeom prst="rect">
            <a:avLst/>
          </a:prstGeom>
        </p:spPr>
      </p:pic>
      <p:sp>
        <p:nvSpPr>
          <p:cNvPr id="55" name="TextBox 54"/>
          <p:cNvSpPr txBox="1"/>
          <p:nvPr/>
        </p:nvSpPr>
        <p:spPr>
          <a:xfrm>
            <a:off x="7054596" y="5504688"/>
            <a:ext cx="4311396" cy="237744"/>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Customers</a:t>
            </a:r>
          </a:p>
        </p:txBody>
      </p:sp>
      <p:sp>
        <p:nvSpPr>
          <p:cNvPr id="56" name="TextBox 55"/>
          <p:cNvSpPr txBox="1"/>
          <p:nvPr/>
        </p:nvSpPr>
        <p:spPr>
          <a:xfrm>
            <a:off x="7054596" y="5760720"/>
            <a:ext cx="4311396" cy="384048"/>
          </a:xfrm>
          <a:prstGeom prst="rect">
            <a:avLst/>
          </a:prstGeom>
          <a:noFill/>
        </p:spPr>
        <p:txBody>
          <a:bodyPr wrap="square" lIns="0" tIns="0" rIns="0" bIns="0" anchor="t">
            <a:spAutoFit/>
          </a:bodyPr>
          <a:lstStyle/>
          <a:p>
            <a:pPr>
              <a:lnSpc>
                <a:spcPct val="105000"/>
              </a:lnSpc>
              <a:spcAft>
                <a:spcPts val="300"/>
              </a:spcAft>
            </a:pPr>
            <a:r>
              <a:rPr sz="950" b="0" i="0">
                <a:solidFill>
                  <a:srgbClr val="2A2C45"/>
                </a:solidFill>
                <a:latin typeface="Montserrat"/>
              </a:rPr>
              <a:t>Plain-language loan cost information and accessible formats, including sign language.</a:t>
            </a:r>
          </a:p>
        </p:txBody>
      </p:sp>
    </p:spTree>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15</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dirty="0">
                <a:solidFill>
                  <a:srgbClr val="0F1129"/>
                </a:solidFill>
                <a:latin typeface="Montserrat"/>
              </a:rPr>
              <a:t>Stakeholder Engagement</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11091672" cy="4343400"/>
          </a:xfrm>
          <a:prstGeom prst="roundRect">
            <a:avLst>
              <a:gd name="adj" fmla="val 2105"/>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graphicFrame>
        <p:nvGraphicFramePr>
          <p:cNvPr id="12" name="Table 11"/>
          <p:cNvGraphicFramePr>
            <a:graphicFrameLocks noGrp="1"/>
          </p:cNvGraphicFramePr>
          <p:nvPr>
            <p:extLst>
              <p:ext uri="{D42A27DB-BD31-4B8C-83A1-F6EECF244321}">
                <p14:modId xmlns:p14="http://schemas.microsoft.com/office/powerpoint/2010/main" val="2278532159"/>
              </p:ext>
            </p:extLst>
          </p:nvPr>
        </p:nvGraphicFramePr>
        <p:xfrm>
          <a:off x="685800" y="2084831"/>
          <a:ext cx="10817352" cy="4096512"/>
        </p:xfrm>
        <a:graphic>
          <a:graphicData uri="http://schemas.openxmlformats.org/drawingml/2006/table">
            <a:tbl>
              <a:tblPr>
                <a:tableStyleId>{2D5ABB26-0587-4C30-8999-92F81FD0307C}</a:tableStyleId>
              </a:tblPr>
              <a:tblGrid>
                <a:gridCol w="22402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gridCol w="2176272">
                  <a:extLst>
                    <a:ext uri="{9D8B030D-6E8A-4147-A177-3AD203B41FA5}">
                      <a16:colId xmlns:a16="http://schemas.microsoft.com/office/drawing/2014/main" val="20005"/>
                    </a:ext>
                  </a:extLst>
                </a:gridCol>
              </a:tblGrid>
              <a:tr h="585216">
                <a:tc>
                  <a:txBody>
                    <a:bodyPr/>
                    <a:lstStyle/>
                    <a:p>
                      <a:pPr>
                        <a:lnSpc>
                          <a:spcPct val="102000"/>
                        </a:lnSpc>
                      </a:pPr>
                      <a:r>
                        <a:rPr sz="780" b="1" i="0" dirty="0">
                          <a:solidFill>
                            <a:srgbClr val="6B6F8A"/>
                          </a:solidFill>
                          <a:latin typeface="Montserrat"/>
                        </a:rPr>
                        <a:t>Stakeholder</a:t>
                      </a:r>
                    </a:p>
                  </a:txBody>
                  <a:tcPr marL="64008" marR="64008" anchor="ctr">
                    <a:solidFill>
                      <a:srgbClr val="F2F3F8"/>
                    </a:solidFill>
                  </a:tcPr>
                </a:tc>
                <a:tc>
                  <a:txBody>
                    <a:bodyPr/>
                    <a:lstStyle/>
                    <a:p>
                      <a:pPr>
                        <a:lnSpc>
                          <a:spcPct val="102000"/>
                        </a:lnSpc>
                      </a:pPr>
                      <a:r>
                        <a:rPr sz="780" b="1" i="0">
                          <a:solidFill>
                            <a:srgbClr val="6B6F8A"/>
                          </a:solidFill>
                          <a:latin typeface="Montserrat"/>
                        </a:rPr>
                        <a:t>What do we think we know about their needs?</a:t>
                      </a:r>
                    </a:p>
                  </a:txBody>
                  <a:tcPr marL="64008" marR="64008" anchor="ctr">
                    <a:solidFill>
                      <a:srgbClr val="F2F3F8"/>
                    </a:solidFill>
                  </a:tcPr>
                </a:tc>
                <a:tc>
                  <a:txBody>
                    <a:bodyPr/>
                    <a:lstStyle/>
                    <a:p>
                      <a:pPr>
                        <a:lnSpc>
                          <a:spcPct val="102000"/>
                        </a:lnSpc>
                      </a:pPr>
                      <a:r>
                        <a:rPr sz="780" b="1" i="0">
                          <a:solidFill>
                            <a:srgbClr val="6B6F8A"/>
                          </a:solidFill>
                          <a:latin typeface="Montserrat"/>
                        </a:rPr>
                        <a:t>HRDD phase</a:t>
                      </a:r>
                    </a:p>
                  </a:txBody>
                  <a:tcPr marL="64008" marR="64008" anchor="ctr">
                    <a:solidFill>
                      <a:srgbClr val="F2F3F8"/>
                    </a:solidFill>
                  </a:tcPr>
                </a:tc>
                <a:tc>
                  <a:txBody>
                    <a:bodyPr/>
                    <a:lstStyle/>
                    <a:p>
                      <a:pPr>
                        <a:lnSpc>
                          <a:spcPct val="102000"/>
                        </a:lnSpc>
                      </a:pPr>
                      <a:r>
                        <a:rPr sz="780" b="1" i="0">
                          <a:solidFill>
                            <a:srgbClr val="6B6F8A"/>
                          </a:solidFill>
                          <a:latin typeface="Montserrat"/>
                        </a:rPr>
                        <a:t>Phase of engagement</a:t>
                      </a:r>
                    </a:p>
                  </a:txBody>
                  <a:tcPr marL="64008" marR="64008" anchor="ctr">
                    <a:solidFill>
                      <a:srgbClr val="F2F3F8"/>
                    </a:solidFill>
                  </a:tcPr>
                </a:tc>
                <a:tc>
                  <a:txBody>
                    <a:bodyPr/>
                    <a:lstStyle/>
                    <a:p>
                      <a:pPr>
                        <a:lnSpc>
                          <a:spcPct val="102000"/>
                        </a:lnSpc>
                      </a:pPr>
                      <a:r>
                        <a:rPr sz="780" b="1" i="0">
                          <a:solidFill>
                            <a:srgbClr val="6B6F8A"/>
                          </a:solidFill>
                          <a:latin typeface="Montserrat"/>
                        </a:rPr>
                        <a:t>What do we still need to validate?</a:t>
                      </a:r>
                    </a:p>
                  </a:txBody>
                  <a:tcPr marL="64008" marR="64008" anchor="ctr">
                    <a:solidFill>
                      <a:srgbClr val="F2F3F8"/>
                    </a:solidFill>
                  </a:tcPr>
                </a:tc>
                <a:tc>
                  <a:txBody>
                    <a:bodyPr/>
                    <a:lstStyle/>
                    <a:p>
                      <a:pPr>
                        <a:lnSpc>
                          <a:spcPct val="102000"/>
                        </a:lnSpc>
                      </a:pPr>
                      <a:r>
                        <a:rPr sz="780" b="1" i="0">
                          <a:solidFill>
                            <a:srgbClr val="6B6F8A"/>
                          </a:solidFill>
                          <a:latin typeface="Montserrat"/>
                        </a:rPr>
                        <a:t>Next steps</a:t>
                      </a:r>
                    </a:p>
                  </a:txBody>
                  <a:tcPr marL="64008" marR="64008" anchor="ctr">
                    <a:solidFill>
                      <a:srgbClr val="F2F3F8"/>
                    </a:solidFill>
                  </a:tcPr>
                </a:tc>
                <a:extLst>
                  <a:ext uri="{0D108BD9-81ED-4DB2-BD59-A6C34878D82A}">
                    <a16:rowId xmlns:a16="http://schemas.microsoft.com/office/drawing/2014/main" val="10000"/>
                  </a:ext>
                </a:extLst>
              </a:tr>
              <a:tr h="585216">
                <a:tc>
                  <a:txBody>
                    <a:bodyPr/>
                    <a:lstStyle/>
                    <a:p>
                      <a:pPr>
                        <a:lnSpc>
                          <a:spcPct val="102000"/>
                        </a:lnSpc>
                      </a:pPr>
                      <a:r>
                        <a:rPr sz="830" b="1" i="0">
                          <a:solidFill>
                            <a:srgbClr val="0F1129"/>
                          </a:solidFill>
                          <a:latin typeface="Montserrat"/>
                        </a:rPr>
                        <a:t>Retail borrowers in difficulty (incl. pensioners, benefit recipients)</a:t>
                      </a:r>
                    </a:p>
                  </a:txBody>
                  <a:tcPr marL="64008" marR="64008" anchor="ctr">
                    <a:solidFill>
                      <a:srgbClr val="FFFFFF"/>
                    </a:solidFill>
                  </a:tcPr>
                </a:tc>
                <a:tc>
                  <a:txBody>
                    <a:bodyPr/>
                    <a:lstStyle/>
                    <a:p>
                      <a:pPr>
                        <a:lnSpc>
                          <a:spcPct val="102000"/>
                        </a:lnSpc>
                      </a:pPr>
                      <a:r>
                        <a:rPr sz="830" b="0" i="0">
                          <a:solidFill>
                            <a:srgbClr val="2A2C45"/>
                          </a:solidFill>
                          <a:latin typeface="Montserrat"/>
                        </a:rPr>
                        <a:t>Hold several small loans; feel pressure from frequent collection calls</a:t>
                      </a:r>
                    </a:p>
                  </a:txBody>
                  <a:tcPr marL="64008" marR="64008" anchor="ctr">
                    <a:solidFill>
                      <a:srgbClr val="FFFFFF"/>
                    </a:solidFill>
                  </a:tcPr>
                </a:tc>
                <a:tc>
                  <a:txBody>
                    <a:bodyPr/>
                    <a:lstStyle/>
                    <a:p>
                      <a:pPr>
                        <a:lnSpc>
                          <a:spcPct val="102000"/>
                        </a:lnSpc>
                      </a:pPr>
                      <a:r>
                        <a:rPr sz="830" b="0" i="0" dirty="0">
                          <a:solidFill>
                            <a:srgbClr val="2A2C45"/>
                          </a:solidFill>
                          <a:latin typeface="Montserrat"/>
                        </a:rPr>
                        <a:t>Assess</a:t>
                      </a:r>
                    </a:p>
                  </a:txBody>
                  <a:tcPr marL="64008" marR="64008" anchor="ctr">
                    <a:solidFill>
                      <a:srgbClr val="FFFFFF"/>
                    </a:solidFill>
                  </a:tcPr>
                </a:tc>
                <a:tc>
                  <a:txBody>
                    <a:bodyPr/>
                    <a:lstStyle/>
                    <a:p>
                      <a:pPr>
                        <a:lnSpc>
                          <a:spcPct val="102000"/>
                        </a:lnSpc>
                      </a:pPr>
                      <a:r>
                        <a:rPr sz="830" b="0" i="0">
                          <a:solidFill>
                            <a:srgbClr val="2A2C45"/>
                          </a:solidFill>
                          <a:latin typeface="Montserrat"/>
                        </a:rPr>
                        <a:t>Consult</a:t>
                      </a:r>
                    </a:p>
                  </a:txBody>
                  <a:tcPr marL="64008" marR="64008" anchor="ctr">
                    <a:solidFill>
                      <a:srgbClr val="FFFFFF"/>
                    </a:solidFill>
                  </a:tcPr>
                </a:tc>
                <a:tc>
                  <a:txBody>
                    <a:bodyPr/>
                    <a:lstStyle/>
                    <a:p>
                      <a:pPr>
                        <a:lnSpc>
                          <a:spcPct val="102000"/>
                        </a:lnSpc>
                      </a:pPr>
                      <a:r>
                        <a:rPr sz="830" b="0" i="0">
                          <a:solidFill>
                            <a:srgbClr val="2A2C45"/>
                          </a:solidFill>
                          <a:latin typeface="Montserrat"/>
                        </a:rPr>
                        <a:t>Real drivers of debt stress; how collection contact feels</a:t>
                      </a:r>
                    </a:p>
                  </a:txBody>
                  <a:tcPr marL="64008" marR="64008" anchor="ctr">
                    <a:solidFill>
                      <a:srgbClr val="FFFFFF"/>
                    </a:solidFill>
                  </a:tcPr>
                </a:tc>
                <a:tc>
                  <a:txBody>
                    <a:bodyPr/>
                    <a:lstStyle/>
                    <a:p>
                      <a:pPr>
                        <a:lnSpc>
                          <a:spcPct val="102000"/>
                        </a:lnSpc>
                      </a:pPr>
                      <a:r>
                        <a:rPr sz="830" b="0" i="0">
                          <a:solidFill>
                            <a:srgbClr val="2A2C45"/>
                          </a:solidFill>
                          <a:latin typeface="Montserrat"/>
                        </a:rPr>
                        <a:t>Interviews and focus groups in Baku and regions</a:t>
                      </a:r>
                    </a:p>
                  </a:txBody>
                  <a:tcPr marL="64008" marR="64008" anchor="ctr">
                    <a:solidFill>
                      <a:srgbClr val="FFFFFF"/>
                    </a:solidFill>
                  </a:tcPr>
                </a:tc>
                <a:extLst>
                  <a:ext uri="{0D108BD9-81ED-4DB2-BD59-A6C34878D82A}">
                    <a16:rowId xmlns:a16="http://schemas.microsoft.com/office/drawing/2014/main" val="10001"/>
                  </a:ext>
                </a:extLst>
              </a:tr>
              <a:tr h="585216">
                <a:tc>
                  <a:txBody>
                    <a:bodyPr/>
                    <a:lstStyle/>
                    <a:p>
                      <a:pPr>
                        <a:lnSpc>
                          <a:spcPct val="102000"/>
                        </a:lnSpc>
                      </a:pPr>
                      <a:r>
                        <a:rPr sz="830" b="1" i="0">
                          <a:solidFill>
                            <a:srgbClr val="0F1129"/>
                          </a:solidFill>
                          <a:latin typeface="Montserrat"/>
                        </a:rPr>
                        <a:t>Frontline staff (branches, call centre, collections)</a:t>
                      </a:r>
                    </a:p>
                  </a:txBody>
                  <a:tcPr marL="64008" marR="64008" anchor="ctr">
                    <a:solidFill>
                      <a:srgbClr val="FFFFFF"/>
                    </a:solidFill>
                  </a:tcPr>
                </a:tc>
                <a:tc>
                  <a:txBody>
                    <a:bodyPr/>
                    <a:lstStyle/>
                    <a:p>
                      <a:pPr>
                        <a:lnSpc>
                          <a:spcPct val="102000"/>
                        </a:lnSpc>
                      </a:pPr>
                      <a:r>
                        <a:rPr sz="830" b="0" i="0">
                          <a:solidFill>
                            <a:srgbClr val="2A2C45"/>
                          </a:solidFill>
                          <a:latin typeface="Montserrat"/>
                        </a:rPr>
                        <a:t>See customer distress first; KPIs can conflict with fair treatment</a:t>
                      </a:r>
                    </a:p>
                  </a:txBody>
                  <a:tcPr marL="64008" marR="64008" anchor="ctr">
                    <a:solidFill>
                      <a:srgbClr val="FFFFFF"/>
                    </a:solidFill>
                  </a:tcPr>
                </a:tc>
                <a:tc>
                  <a:txBody>
                    <a:bodyPr/>
                    <a:lstStyle/>
                    <a:p>
                      <a:pPr>
                        <a:lnSpc>
                          <a:spcPct val="102000"/>
                        </a:lnSpc>
                      </a:pPr>
                      <a:r>
                        <a:rPr sz="830" b="0" i="0">
                          <a:solidFill>
                            <a:srgbClr val="2A2C45"/>
                          </a:solidFill>
                          <a:latin typeface="Montserrat"/>
                        </a:rPr>
                        <a:t>Assess / Integrate</a:t>
                      </a:r>
                    </a:p>
                  </a:txBody>
                  <a:tcPr marL="64008" marR="64008" anchor="ctr">
                    <a:solidFill>
                      <a:srgbClr val="FFFFFF"/>
                    </a:solidFill>
                  </a:tcPr>
                </a:tc>
                <a:tc>
                  <a:txBody>
                    <a:bodyPr/>
                    <a:lstStyle/>
                    <a:p>
                      <a:pPr>
                        <a:lnSpc>
                          <a:spcPct val="102000"/>
                        </a:lnSpc>
                      </a:pPr>
                      <a:r>
                        <a:rPr sz="830" b="0" i="0">
                          <a:solidFill>
                            <a:srgbClr val="2A2C45"/>
                          </a:solidFill>
                          <a:latin typeface="Montserrat"/>
                        </a:rPr>
                        <a:t>Consult</a:t>
                      </a:r>
                    </a:p>
                  </a:txBody>
                  <a:tcPr marL="64008" marR="64008" anchor="ctr">
                    <a:solidFill>
                      <a:srgbClr val="FFFFFF"/>
                    </a:solidFill>
                  </a:tcPr>
                </a:tc>
                <a:tc>
                  <a:txBody>
                    <a:bodyPr/>
                    <a:lstStyle/>
                    <a:p>
                      <a:pPr>
                        <a:lnSpc>
                          <a:spcPct val="102000"/>
                        </a:lnSpc>
                      </a:pPr>
                      <a:r>
                        <a:rPr sz="830" b="0" i="0">
                          <a:solidFill>
                            <a:srgbClr val="2A2C45"/>
                          </a:solidFill>
                          <a:latin typeface="Montserrat"/>
                        </a:rPr>
                        <a:t>Which KPIs and scripts create pressure</a:t>
                      </a:r>
                    </a:p>
                  </a:txBody>
                  <a:tcPr marL="64008" marR="64008" anchor="ctr">
                    <a:solidFill>
                      <a:srgbClr val="FFFFFF"/>
                    </a:solidFill>
                  </a:tcPr>
                </a:tc>
                <a:tc>
                  <a:txBody>
                    <a:bodyPr/>
                    <a:lstStyle/>
                    <a:p>
                      <a:pPr>
                        <a:lnSpc>
                          <a:spcPct val="102000"/>
                        </a:lnSpc>
                      </a:pPr>
                      <a:r>
                        <a:rPr sz="830" b="0" i="0">
                          <a:solidFill>
                            <a:srgbClr val="2A2C45"/>
                          </a:solidFill>
                          <a:latin typeface="Montserrat"/>
                        </a:rPr>
                        <a:t>Anonymous survey; workshops</a:t>
                      </a:r>
                    </a:p>
                  </a:txBody>
                  <a:tcPr marL="64008" marR="64008" anchor="ctr">
                    <a:solidFill>
                      <a:srgbClr val="FFFFFF"/>
                    </a:solidFill>
                  </a:tcPr>
                </a:tc>
                <a:extLst>
                  <a:ext uri="{0D108BD9-81ED-4DB2-BD59-A6C34878D82A}">
                    <a16:rowId xmlns:a16="http://schemas.microsoft.com/office/drawing/2014/main" val="10002"/>
                  </a:ext>
                </a:extLst>
              </a:tr>
              <a:tr h="585216">
                <a:tc>
                  <a:txBody>
                    <a:bodyPr/>
                    <a:lstStyle/>
                    <a:p>
                      <a:pPr>
                        <a:lnSpc>
                          <a:spcPct val="102000"/>
                        </a:lnSpc>
                      </a:pPr>
                      <a:r>
                        <a:rPr sz="830" b="1" i="0">
                          <a:solidFill>
                            <a:srgbClr val="0F1129"/>
                          </a:solidFill>
                          <a:latin typeface="Montserrat"/>
                        </a:rPr>
                        <a:t>Product, risk and data teams</a:t>
                      </a:r>
                    </a:p>
                  </a:txBody>
                  <a:tcPr marL="64008" marR="64008" anchor="ctr">
                    <a:solidFill>
                      <a:srgbClr val="FFFFFF"/>
                    </a:solidFill>
                  </a:tcPr>
                </a:tc>
                <a:tc>
                  <a:txBody>
                    <a:bodyPr/>
                    <a:lstStyle/>
                    <a:p>
                      <a:pPr>
                        <a:lnSpc>
                          <a:spcPct val="102000"/>
                        </a:lnSpc>
                      </a:pPr>
                      <a:r>
                        <a:rPr sz="830" b="0" i="0">
                          <a:solidFill>
                            <a:srgbClr val="2A2C45"/>
                          </a:solidFill>
                          <a:latin typeface="Montserrat"/>
                        </a:rPr>
                        <a:t>Own credit design and scoring models</a:t>
                      </a:r>
                    </a:p>
                  </a:txBody>
                  <a:tcPr marL="64008" marR="64008" anchor="ctr">
                    <a:solidFill>
                      <a:srgbClr val="FFFFFF"/>
                    </a:solidFill>
                  </a:tcPr>
                </a:tc>
                <a:tc>
                  <a:txBody>
                    <a:bodyPr/>
                    <a:lstStyle/>
                    <a:p>
                      <a:pPr>
                        <a:lnSpc>
                          <a:spcPct val="102000"/>
                        </a:lnSpc>
                      </a:pPr>
                      <a:r>
                        <a:rPr sz="830" b="0" i="0">
                          <a:solidFill>
                            <a:srgbClr val="2A2C45"/>
                          </a:solidFill>
                          <a:latin typeface="Montserrat"/>
                        </a:rPr>
                        <a:t>Integrate &amp; Act</a:t>
                      </a:r>
                    </a:p>
                  </a:txBody>
                  <a:tcPr marL="64008" marR="64008" anchor="ctr">
                    <a:solidFill>
                      <a:srgbClr val="FFFFFF"/>
                    </a:solidFill>
                  </a:tcPr>
                </a:tc>
                <a:tc>
                  <a:txBody>
                    <a:bodyPr/>
                    <a:lstStyle/>
                    <a:p>
                      <a:pPr>
                        <a:lnSpc>
                          <a:spcPct val="102000"/>
                        </a:lnSpc>
                      </a:pPr>
                      <a:r>
                        <a:rPr sz="830" b="0" i="0">
                          <a:solidFill>
                            <a:srgbClr val="2A2C45"/>
                          </a:solidFill>
                          <a:latin typeface="Montserrat"/>
                        </a:rPr>
                        <a:t>Collaborate</a:t>
                      </a:r>
                    </a:p>
                  </a:txBody>
                  <a:tcPr marL="64008" marR="64008" anchor="ctr">
                    <a:solidFill>
                      <a:srgbClr val="FFFFFF"/>
                    </a:solidFill>
                  </a:tcPr>
                </a:tc>
                <a:tc>
                  <a:txBody>
                    <a:bodyPr/>
                    <a:lstStyle/>
                    <a:p>
                      <a:pPr>
                        <a:lnSpc>
                          <a:spcPct val="102000"/>
                        </a:lnSpc>
                      </a:pPr>
                      <a:r>
                        <a:rPr sz="830" b="0" i="0">
                          <a:solidFill>
                            <a:srgbClr val="2A2C45"/>
                          </a:solidFill>
                          <a:latin typeface="Montserrat"/>
                        </a:rPr>
                        <a:t>Where affordability and bias checks fit in the process</a:t>
                      </a:r>
                    </a:p>
                  </a:txBody>
                  <a:tcPr marL="64008" marR="64008" anchor="ctr">
                    <a:solidFill>
                      <a:srgbClr val="FFFFFF"/>
                    </a:solidFill>
                  </a:tcPr>
                </a:tc>
                <a:tc>
                  <a:txBody>
                    <a:bodyPr/>
                    <a:lstStyle/>
                    <a:p>
                      <a:pPr>
                        <a:lnSpc>
                          <a:spcPct val="102000"/>
                        </a:lnSpc>
                      </a:pPr>
                      <a:r>
                        <a:rPr sz="830" b="0" i="0">
                          <a:solidFill>
                            <a:srgbClr val="2A2C45"/>
                          </a:solidFill>
                          <a:latin typeface="Montserrat"/>
                        </a:rPr>
                        <a:t>Joint design sprints for A1–A2</a:t>
                      </a:r>
                    </a:p>
                  </a:txBody>
                  <a:tcPr marL="64008" marR="64008" anchor="ctr">
                    <a:solidFill>
                      <a:srgbClr val="FFFFFF"/>
                    </a:solidFill>
                  </a:tcPr>
                </a:tc>
                <a:extLst>
                  <a:ext uri="{0D108BD9-81ED-4DB2-BD59-A6C34878D82A}">
                    <a16:rowId xmlns:a16="http://schemas.microsoft.com/office/drawing/2014/main" val="10003"/>
                  </a:ext>
                </a:extLst>
              </a:tr>
              <a:tr h="585216">
                <a:tc>
                  <a:txBody>
                    <a:bodyPr/>
                    <a:lstStyle/>
                    <a:p>
                      <a:pPr>
                        <a:lnSpc>
                          <a:spcPct val="102000"/>
                        </a:lnSpc>
                      </a:pPr>
                      <a:r>
                        <a:rPr sz="830" b="1" i="0">
                          <a:solidFill>
                            <a:srgbClr val="0F1129"/>
                          </a:solidFill>
                          <a:latin typeface="Montserrat"/>
                        </a:rPr>
                        <a:t>External collection agencies</a:t>
                      </a:r>
                    </a:p>
                  </a:txBody>
                  <a:tcPr marL="64008" marR="64008" anchor="ctr">
                    <a:solidFill>
                      <a:srgbClr val="FFFFFF"/>
                    </a:solidFill>
                  </a:tcPr>
                </a:tc>
                <a:tc>
                  <a:txBody>
                    <a:bodyPr/>
                    <a:lstStyle/>
                    <a:p>
                      <a:pPr>
                        <a:lnSpc>
                          <a:spcPct val="102000"/>
                        </a:lnSpc>
                      </a:pPr>
                      <a:r>
                        <a:rPr sz="830" b="0" i="0">
                          <a:solidFill>
                            <a:srgbClr val="2A2C45"/>
                          </a:solidFill>
                          <a:latin typeface="Montserrat"/>
                        </a:rPr>
                        <a:t>Paid on recovery rates, which can encourage aggressive practice</a:t>
                      </a:r>
                    </a:p>
                  </a:txBody>
                  <a:tcPr marL="64008" marR="64008" anchor="ctr">
                    <a:solidFill>
                      <a:srgbClr val="FFFFFF"/>
                    </a:solidFill>
                  </a:tcPr>
                </a:tc>
                <a:tc>
                  <a:txBody>
                    <a:bodyPr/>
                    <a:lstStyle/>
                    <a:p>
                      <a:pPr>
                        <a:lnSpc>
                          <a:spcPct val="102000"/>
                        </a:lnSpc>
                      </a:pPr>
                      <a:r>
                        <a:rPr sz="830" b="0" i="0">
                          <a:solidFill>
                            <a:srgbClr val="2A2C45"/>
                          </a:solidFill>
                          <a:latin typeface="Montserrat"/>
                        </a:rPr>
                        <a:t>Integrate &amp; Act</a:t>
                      </a:r>
                    </a:p>
                  </a:txBody>
                  <a:tcPr marL="64008" marR="64008" anchor="ctr">
                    <a:solidFill>
                      <a:srgbClr val="FFFFFF"/>
                    </a:solidFill>
                  </a:tcPr>
                </a:tc>
                <a:tc>
                  <a:txBody>
                    <a:bodyPr/>
                    <a:lstStyle/>
                    <a:p>
                      <a:pPr>
                        <a:lnSpc>
                          <a:spcPct val="102000"/>
                        </a:lnSpc>
                      </a:pPr>
                      <a:r>
                        <a:rPr sz="830" b="0" i="0">
                          <a:solidFill>
                            <a:srgbClr val="2A2C45"/>
                          </a:solidFill>
                          <a:latin typeface="Montserrat"/>
                        </a:rPr>
                        <a:t>Inform / require</a:t>
                      </a:r>
                    </a:p>
                  </a:txBody>
                  <a:tcPr marL="64008" marR="64008" anchor="ctr">
                    <a:solidFill>
                      <a:srgbClr val="FFFFFF"/>
                    </a:solidFill>
                  </a:tcPr>
                </a:tc>
                <a:tc>
                  <a:txBody>
                    <a:bodyPr/>
                    <a:lstStyle/>
                    <a:p>
                      <a:pPr>
                        <a:lnSpc>
                          <a:spcPct val="102000"/>
                        </a:lnSpc>
                      </a:pPr>
                      <a:r>
                        <a:rPr sz="830" b="0" i="0">
                          <a:solidFill>
                            <a:srgbClr val="2A2C45"/>
                          </a:solidFill>
                          <a:latin typeface="Montserrat"/>
                        </a:rPr>
                        <a:t>Current practices, scripts, complaints</a:t>
                      </a:r>
                    </a:p>
                  </a:txBody>
                  <a:tcPr marL="64008" marR="64008" anchor="ctr">
                    <a:solidFill>
                      <a:srgbClr val="FFFFFF"/>
                    </a:solidFill>
                  </a:tcPr>
                </a:tc>
                <a:tc>
                  <a:txBody>
                    <a:bodyPr/>
                    <a:lstStyle/>
                    <a:p>
                      <a:pPr>
                        <a:lnSpc>
                          <a:spcPct val="102000"/>
                        </a:lnSpc>
                      </a:pPr>
                      <a:r>
                        <a:rPr sz="830" b="0" i="0">
                          <a:solidFill>
                            <a:srgbClr val="2A2C45"/>
                          </a:solidFill>
                          <a:latin typeface="Montserrat"/>
                        </a:rPr>
                        <a:t>Audits; code of conduct in contracts</a:t>
                      </a:r>
                    </a:p>
                  </a:txBody>
                  <a:tcPr marL="64008" marR="64008" anchor="ctr">
                    <a:solidFill>
                      <a:srgbClr val="FFFFFF"/>
                    </a:solidFill>
                  </a:tcPr>
                </a:tc>
                <a:extLst>
                  <a:ext uri="{0D108BD9-81ED-4DB2-BD59-A6C34878D82A}">
                    <a16:rowId xmlns:a16="http://schemas.microsoft.com/office/drawing/2014/main" val="10004"/>
                  </a:ext>
                </a:extLst>
              </a:tr>
              <a:tr h="585216">
                <a:tc>
                  <a:txBody>
                    <a:bodyPr/>
                    <a:lstStyle/>
                    <a:p>
                      <a:pPr>
                        <a:lnSpc>
                          <a:spcPct val="102000"/>
                        </a:lnSpc>
                      </a:pPr>
                      <a:r>
                        <a:rPr sz="830" b="1" i="0" dirty="0">
                          <a:solidFill>
                            <a:srgbClr val="0F1129"/>
                          </a:solidFill>
                          <a:latin typeface="Montserrat"/>
                        </a:rPr>
                        <a:t>CSR partners:</a:t>
                      </a:r>
                      <a:r>
                        <a:rPr lang="az-Latn-AZ" sz="830" b="1" i="0" dirty="0">
                          <a:solidFill>
                            <a:srgbClr val="0F1129"/>
                          </a:solidFill>
                          <a:latin typeface="Montserrat"/>
                        </a:rPr>
                        <a:t> Employees,</a:t>
                      </a:r>
                      <a:r>
                        <a:rPr sz="830" b="1" i="0" dirty="0">
                          <a:solidFill>
                            <a:srgbClr val="0F1129"/>
                          </a:solidFill>
                          <a:latin typeface="Montserrat"/>
                        </a:rPr>
                        <a:t> </a:t>
                      </a:r>
                      <a:r>
                        <a:rPr lang="az-Latn-AZ" sz="830" b="1" i="0" dirty="0">
                          <a:solidFill>
                            <a:srgbClr val="0F1129"/>
                          </a:solidFill>
                          <a:latin typeface="Montserrat"/>
                        </a:rPr>
                        <a:t>NGOs and foundations</a:t>
                      </a:r>
                      <a:r>
                        <a:rPr sz="830" b="1" i="0" dirty="0">
                          <a:solidFill>
                            <a:srgbClr val="0F1129"/>
                          </a:solidFill>
                          <a:latin typeface="Montserrat"/>
                        </a:rPr>
                        <a:t>,</a:t>
                      </a:r>
                      <a:r>
                        <a:rPr lang="az-Latn-AZ" sz="830" b="1" i="0" dirty="0">
                          <a:solidFill>
                            <a:srgbClr val="0F1129"/>
                          </a:solidFill>
                          <a:latin typeface="Montserrat"/>
                        </a:rPr>
                        <a:t> government institutions, local communities</a:t>
                      </a:r>
                      <a:endParaRPr sz="830" b="1" i="0" dirty="0">
                        <a:solidFill>
                          <a:srgbClr val="0F1129"/>
                        </a:solidFill>
                        <a:latin typeface="Montserrat"/>
                      </a:endParaRPr>
                    </a:p>
                  </a:txBody>
                  <a:tcPr marL="64008" marR="64008" anchor="ctr">
                    <a:solidFill>
                      <a:srgbClr val="FFFFFF"/>
                    </a:solidFill>
                  </a:tcPr>
                </a:tc>
                <a:tc>
                  <a:txBody>
                    <a:bodyPr/>
                    <a:lstStyle/>
                    <a:p>
                      <a:pPr>
                        <a:lnSpc>
                          <a:spcPct val="102000"/>
                        </a:lnSpc>
                      </a:pPr>
                      <a:r>
                        <a:rPr sz="830" b="0" i="0" dirty="0">
                          <a:solidFill>
                            <a:srgbClr val="2A2C45"/>
                          </a:solidFill>
                          <a:latin typeface="Montserrat"/>
                        </a:rPr>
                        <a:t>Trusted by pensioners and families</a:t>
                      </a:r>
                    </a:p>
                  </a:txBody>
                  <a:tcPr marL="64008" marR="64008" anchor="ctr">
                    <a:solidFill>
                      <a:srgbClr val="FFFFFF"/>
                    </a:solidFill>
                  </a:tcPr>
                </a:tc>
                <a:tc>
                  <a:txBody>
                    <a:bodyPr/>
                    <a:lstStyle/>
                    <a:p>
                      <a:pPr>
                        <a:lnSpc>
                          <a:spcPct val="102000"/>
                        </a:lnSpc>
                      </a:pPr>
                      <a:r>
                        <a:rPr sz="830" b="0" i="0">
                          <a:solidFill>
                            <a:srgbClr val="2A2C45"/>
                          </a:solidFill>
                          <a:latin typeface="Montserrat"/>
                        </a:rPr>
                        <a:t>Assess / Track</a:t>
                      </a:r>
                    </a:p>
                  </a:txBody>
                  <a:tcPr marL="64008" marR="64008" anchor="ctr">
                    <a:solidFill>
                      <a:srgbClr val="FFFFFF"/>
                    </a:solidFill>
                  </a:tcPr>
                </a:tc>
                <a:tc>
                  <a:txBody>
                    <a:bodyPr/>
                    <a:lstStyle/>
                    <a:p>
                      <a:pPr>
                        <a:lnSpc>
                          <a:spcPct val="102000"/>
                        </a:lnSpc>
                      </a:pPr>
                      <a:r>
                        <a:rPr sz="830" b="0" i="0">
                          <a:solidFill>
                            <a:srgbClr val="2A2C45"/>
                          </a:solidFill>
                          <a:latin typeface="Montserrat"/>
                        </a:rPr>
                        <a:t>Collaborate</a:t>
                      </a:r>
                    </a:p>
                  </a:txBody>
                  <a:tcPr marL="64008" marR="64008" anchor="ctr">
                    <a:solidFill>
                      <a:srgbClr val="FFFFFF"/>
                    </a:solidFill>
                  </a:tcPr>
                </a:tc>
                <a:tc>
                  <a:txBody>
                    <a:bodyPr/>
                    <a:lstStyle/>
                    <a:p>
                      <a:pPr>
                        <a:lnSpc>
                          <a:spcPct val="102000"/>
                        </a:lnSpc>
                      </a:pPr>
                      <a:r>
                        <a:rPr sz="830" b="0" i="0">
                          <a:solidFill>
                            <a:srgbClr val="2A2C45"/>
                          </a:solidFill>
                          <a:latin typeface="Montserrat"/>
                        </a:rPr>
                        <a:t>Credit, scam and access problems in their communities</a:t>
                      </a:r>
                    </a:p>
                  </a:txBody>
                  <a:tcPr marL="64008" marR="64008" anchor="ctr">
                    <a:solidFill>
                      <a:srgbClr val="FFFFFF"/>
                    </a:solidFill>
                  </a:tcPr>
                </a:tc>
                <a:tc>
                  <a:txBody>
                    <a:bodyPr/>
                    <a:lstStyle/>
                    <a:p>
                      <a:pPr>
                        <a:lnSpc>
                          <a:spcPct val="102000"/>
                        </a:lnSpc>
                      </a:pPr>
                      <a:r>
                        <a:rPr sz="830" b="0" i="0">
                          <a:solidFill>
                            <a:srgbClr val="2A2C45"/>
                          </a:solidFill>
                          <a:latin typeface="Montserrat"/>
                        </a:rPr>
                        <a:t>Use their events for consultations</a:t>
                      </a:r>
                    </a:p>
                  </a:txBody>
                  <a:tcPr marL="64008" marR="64008" anchor="ctr">
                    <a:solidFill>
                      <a:srgbClr val="FFFFFF"/>
                    </a:solidFill>
                  </a:tcPr>
                </a:tc>
                <a:extLst>
                  <a:ext uri="{0D108BD9-81ED-4DB2-BD59-A6C34878D82A}">
                    <a16:rowId xmlns:a16="http://schemas.microsoft.com/office/drawing/2014/main" val="10005"/>
                  </a:ext>
                </a:extLst>
              </a:tr>
              <a:tr h="585216">
                <a:tc>
                  <a:txBody>
                    <a:bodyPr/>
                    <a:lstStyle/>
                    <a:p>
                      <a:pPr>
                        <a:lnSpc>
                          <a:spcPct val="102000"/>
                        </a:lnSpc>
                      </a:pPr>
                      <a:r>
                        <a:rPr sz="830" b="1" i="0" dirty="0">
                          <a:solidFill>
                            <a:srgbClr val="0F1129"/>
                          </a:solidFill>
                          <a:latin typeface="Montserrat"/>
                        </a:rPr>
                        <a:t>Central Bank, Credit Bureau, consumer-rights CSOs, UNGC Network Azerbaijan</a:t>
                      </a:r>
                    </a:p>
                  </a:txBody>
                  <a:tcPr marL="64008" marR="64008" anchor="ctr">
                    <a:solidFill>
                      <a:srgbClr val="FFFFFF"/>
                    </a:solidFill>
                  </a:tcPr>
                </a:tc>
                <a:tc>
                  <a:txBody>
                    <a:bodyPr/>
                    <a:lstStyle/>
                    <a:p>
                      <a:pPr>
                        <a:lnSpc>
                          <a:spcPct val="102000"/>
                        </a:lnSpc>
                      </a:pPr>
                      <a:r>
                        <a:rPr sz="830" b="0" i="0">
                          <a:solidFill>
                            <a:srgbClr val="2A2C45"/>
                          </a:solidFill>
                          <a:latin typeface="Montserrat"/>
                        </a:rPr>
                        <a:t>Concerned about household debt; CSOs hear consumer cases</a:t>
                      </a:r>
                    </a:p>
                  </a:txBody>
                  <a:tcPr marL="64008" marR="64008" anchor="ctr">
                    <a:solidFill>
                      <a:srgbClr val="FFFFFF"/>
                    </a:solidFill>
                  </a:tcPr>
                </a:tc>
                <a:tc>
                  <a:txBody>
                    <a:bodyPr/>
                    <a:lstStyle/>
                    <a:p>
                      <a:pPr>
                        <a:lnSpc>
                          <a:spcPct val="102000"/>
                        </a:lnSpc>
                      </a:pPr>
                      <a:r>
                        <a:rPr sz="830" b="0" i="0">
                          <a:solidFill>
                            <a:srgbClr val="2A2C45"/>
                          </a:solidFill>
                          <a:latin typeface="Montserrat"/>
                        </a:rPr>
                        <a:t>Assess / Track</a:t>
                      </a:r>
                    </a:p>
                  </a:txBody>
                  <a:tcPr marL="64008" marR="64008" anchor="ctr">
                    <a:solidFill>
                      <a:srgbClr val="FFFFFF"/>
                    </a:solidFill>
                  </a:tcPr>
                </a:tc>
                <a:tc>
                  <a:txBody>
                    <a:bodyPr/>
                    <a:lstStyle/>
                    <a:p>
                      <a:pPr>
                        <a:lnSpc>
                          <a:spcPct val="102000"/>
                        </a:lnSpc>
                      </a:pPr>
                      <a:r>
                        <a:rPr sz="830" b="0" i="0">
                          <a:solidFill>
                            <a:srgbClr val="2A2C45"/>
                          </a:solidFill>
                          <a:latin typeface="Montserrat"/>
                        </a:rPr>
                        <a:t>Dialogue</a:t>
                      </a:r>
                    </a:p>
                  </a:txBody>
                  <a:tcPr marL="64008" marR="64008" anchor="ctr">
                    <a:solidFill>
                      <a:srgbClr val="FFFFFF"/>
                    </a:solidFill>
                  </a:tcPr>
                </a:tc>
                <a:tc>
                  <a:txBody>
                    <a:bodyPr/>
                    <a:lstStyle/>
                    <a:p>
                      <a:pPr>
                        <a:lnSpc>
                          <a:spcPct val="102000"/>
                        </a:lnSpc>
                      </a:pPr>
                      <a:r>
                        <a:rPr sz="830" b="0" i="0">
                          <a:solidFill>
                            <a:srgbClr val="2A2C45"/>
                          </a:solidFill>
                          <a:latin typeface="Montserrat"/>
                        </a:rPr>
                        <a:t>Regulatory expectations; CSO case evidence</a:t>
                      </a:r>
                    </a:p>
                  </a:txBody>
                  <a:tcPr marL="64008" marR="64008" anchor="ctr">
                    <a:solidFill>
                      <a:srgbClr val="FFFFFF"/>
                    </a:solidFill>
                  </a:tcPr>
                </a:tc>
                <a:tc>
                  <a:txBody>
                    <a:bodyPr/>
                    <a:lstStyle/>
                    <a:p>
                      <a:pPr>
                        <a:lnSpc>
                          <a:spcPct val="102000"/>
                        </a:lnSpc>
                      </a:pPr>
                      <a:r>
                        <a:rPr sz="830" b="0" i="0" dirty="0">
                          <a:solidFill>
                            <a:srgbClr val="2A2C45"/>
                          </a:solidFill>
                          <a:latin typeface="Montserrat"/>
                        </a:rPr>
                        <a:t>Annual roundtable; share KPIs</a:t>
                      </a:r>
                    </a:p>
                  </a:txBody>
                  <a:tcPr marL="64008" marR="64008" anchor="c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16</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Preparing for Remedy</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6949440" cy="4315968"/>
          </a:xfrm>
          <a:prstGeom prst="roundRect">
            <a:avLst>
              <a:gd name="adj" fmla="val 2118"/>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2" name="TextBox 11"/>
          <p:cNvSpPr txBox="1"/>
          <p:nvPr/>
        </p:nvSpPr>
        <p:spPr>
          <a:xfrm>
            <a:off x="822959" y="2176272"/>
            <a:ext cx="6400800" cy="49462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lIns="0" tIns="0" rIns="0" bIns="0" anchor="t">
            <a:spAutoFit/>
          </a:bodyPr>
          <a:lstStyle/>
          <a:p>
            <a:pPr>
              <a:lnSpc>
                <a:spcPct val="106000"/>
              </a:lnSpc>
              <a:spcAft>
                <a:spcPts val="300"/>
              </a:spcAft>
            </a:pPr>
            <a:r>
              <a:rPr sz="1030" b="0" i="0" dirty="0">
                <a:solidFill>
                  <a:srgbClr val="2A2C45"/>
                </a:solidFill>
                <a:latin typeface="Montserrat"/>
              </a:rPr>
              <a:t>Where Kapital Bank causes or contributes to harm – for example a loan it should not have issued, or collection that harasses a customer – it must </a:t>
            </a:r>
            <a:r>
              <a:rPr sz="1030" b="1" i="0" dirty="0">
                <a:solidFill>
                  <a:srgbClr val="2A2C45"/>
                </a:solidFill>
                <a:latin typeface="Montserrat"/>
              </a:rPr>
              <a:t>provide or cooperate in remedy</a:t>
            </a:r>
            <a:r>
              <a:rPr sz="1030" b="0" i="0" dirty="0">
                <a:solidFill>
                  <a:srgbClr val="2A2C45"/>
                </a:solidFill>
                <a:latin typeface="Montserrat"/>
              </a:rPr>
              <a:t>. Where it is only linked, e.g. through a financed client, it will </a:t>
            </a:r>
            <a:r>
              <a:rPr sz="1030" b="1" i="0" dirty="0">
                <a:solidFill>
                  <a:srgbClr val="2A2C45"/>
                </a:solidFill>
                <a:latin typeface="Montserrat"/>
              </a:rPr>
              <a:t>use its leverage</a:t>
            </a:r>
            <a:r>
              <a:rPr sz="1030" b="0" i="0" dirty="0">
                <a:solidFill>
                  <a:srgbClr val="2A2C45"/>
                </a:solidFill>
                <a:latin typeface="Montserrat"/>
              </a:rPr>
              <a:t>. </a:t>
            </a:r>
          </a:p>
        </p:txBody>
      </p:sp>
      <p:sp>
        <p:nvSpPr>
          <p:cNvPr id="13" name="TextBox 12"/>
          <p:cNvSpPr txBox="1"/>
          <p:nvPr/>
        </p:nvSpPr>
        <p:spPr>
          <a:xfrm>
            <a:off x="822959" y="3246120"/>
            <a:ext cx="6400800" cy="256032"/>
          </a:xfrm>
          <a:prstGeom prst="rect">
            <a:avLst/>
          </a:prstGeom>
          <a:noFill/>
        </p:spPr>
        <p:txBody>
          <a:bodyPr wrap="square" lIns="0" tIns="0" rIns="0" bIns="0" anchor="t">
            <a:spAutoFit/>
          </a:bodyPr>
          <a:lstStyle/>
          <a:p>
            <a:pPr>
              <a:lnSpc>
                <a:spcPct val="108000"/>
              </a:lnSpc>
              <a:spcAft>
                <a:spcPts val="300"/>
              </a:spcAft>
            </a:pPr>
            <a:r>
              <a:rPr sz="1100" b="1" i="0">
                <a:solidFill>
                  <a:srgbClr val="0F1129"/>
                </a:solidFill>
                <a:latin typeface="Montserrat"/>
              </a:rPr>
              <a:t>To prepare, the bank will:</a:t>
            </a:r>
          </a:p>
        </p:txBody>
      </p:sp>
      <p:sp>
        <p:nvSpPr>
          <p:cNvPr id="14" name="Rounded Rectangle 13"/>
          <p:cNvSpPr/>
          <p:nvPr/>
        </p:nvSpPr>
        <p:spPr>
          <a:xfrm>
            <a:off x="822959" y="3584448"/>
            <a:ext cx="384048" cy="384048"/>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15" name="Picture 14" descr="LuClipboardList.png"/>
          <p:cNvPicPr>
            <a:picLocks noChangeAspect="1"/>
          </p:cNvPicPr>
          <p:nvPr/>
        </p:nvPicPr>
        <p:blipFill>
          <a:blip r:embed="rId3"/>
          <a:stretch>
            <a:fillRect/>
          </a:stretch>
        </p:blipFill>
        <p:spPr>
          <a:xfrm>
            <a:off x="907450" y="3668938"/>
            <a:ext cx="215066" cy="215066"/>
          </a:xfrm>
          <a:prstGeom prst="rect">
            <a:avLst/>
          </a:prstGeom>
        </p:spPr>
      </p:pic>
      <p:sp>
        <p:nvSpPr>
          <p:cNvPr id="16" name="TextBox 15"/>
          <p:cNvSpPr txBox="1"/>
          <p:nvPr/>
        </p:nvSpPr>
        <p:spPr>
          <a:xfrm>
            <a:off x="1353312" y="3566160"/>
            <a:ext cx="5852160" cy="237744"/>
          </a:xfrm>
          <a:prstGeom prst="rect">
            <a:avLst/>
          </a:prstGeom>
          <a:noFill/>
        </p:spPr>
        <p:txBody>
          <a:bodyPr wrap="square" lIns="0" tIns="0" rIns="0" bIns="0" anchor="t">
            <a:spAutoFit/>
          </a:bodyPr>
          <a:lstStyle/>
          <a:p>
            <a:pPr>
              <a:lnSpc>
                <a:spcPct val="108000"/>
              </a:lnSpc>
              <a:spcAft>
                <a:spcPts val="300"/>
              </a:spcAft>
            </a:pPr>
            <a:r>
              <a:rPr sz="1030" b="1" i="0">
                <a:solidFill>
                  <a:srgbClr val="0F1129"/>
                </a:solidFill>
                <a:latin typeface="Montserrat"/>
              </a:rPr>
              <a:t>Remedy protocol</a:t>
            </a:r>
          </a:p>
        </p:txBody>
      </p:sp>
      <p:sp>
        <p:nvSpPr>
          <p:cNvPr id="17" name="TextBox 16"/>
          <p:cNvSpPr txBox="1"/>
          <p:nvPr/>
        </p:nvSpPr>
        <p:spPr>
          <a:xfrm>
            <a:off x="1353312" y="3813048"/>
            <a:ext cx="5852160" cy="395477"/>
          </a:xfrm>
          <a:prstGeom prst="rect">
            <a:avLst/>
          </a:prstGeom>
          <a:noFill/>
        </p:spPr>
        <p:txBody>
          <a:bodyPr wrap="square" lIns="0" tIns="0" rIns="0" bIns="0" anchor="t">
            <a:spAutoFit/>
          </a:bodyPr>
          <a:lstStyle/>
          <a:p>
            <a:pPr>
              <a:lnSpc>
                <a:spcPct val="104000"/>
              </a:lnSpc>
              <a:spcAft>
                <a:spcPts val="300"/>
              </a:spcAft>
            </a:pPr>
            <a:r>
              <a:rPr sz="930" b="0" i="0" dirty="0">
                <a:solidFill>
                  <a:srgbClr val="2A2C45"/>
                </a:solidFill>
                <a:latin typeface="Montserrat"/>
              </a:rPr>
              <a:t>Builds on the complaints procedure: the independent unit decides, statutory deadlines apply, severe human rights cases escalate to the Management Board.</a:t>
            </a:r>
          </a:p>
        </p:txBody>
      </p:sp>
      <p:sp>
        <p:nvSpPr>
          <p:cNvPr id="18" name="Rounded Rectangle 17"/>
          <p:cNvSpPr/>
          <p:nvPr/>
        </p:nvSpPr>
        <p:spPr>
          <a:xfrm>
            <a:off x="822959" y="4254246"/>
            <a:ext cx="384048" cy="384048"/>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19" name="Picture 18" descr="LuHandCoins.png"/>
          <p:cNvPicPr>
            <a:picLocks noChangeAspect="1"/>
          </p:cNvPicPr>
          <p:nvPr/>
        </p:nvPicPr>
        <p:blipFill>
          <a:blip r:embed="rId4"/>
          <a:stretch>
            <a:fillRect/>
          </a:stretch>
        </p:blipFill>
        <p:spPr>
          <a:xfrm>
            <a:off x="907450" y="4338736"/>
            <a:ext cx="215066" cy="215066"/>
          </a:xfrm>
          <a:prstGeom prst="rect">
            <a:avLst/>
          </a:prstGeom>
        </p:spPr>
      </p:pic>
      <p:sp>
        <p:nvSpPr>
          <p:cNvPr id="20" name="TextBox 19"/>
          <p:cNvSpPr txBox="1"/>
          <p:nvPr/>
        </p:nvSpPr>
        <p:spPr>
          <a:xfrm>
            <a:off x="1353312" y="4235958"/>
            <a:ext cx="5852160" cy="237744"/>
          </a:xfrm>
          <a:prstGeom prst="rect">
            <a:avLst/>
          </a:prstGeom>
          <a:noFill/>
        </p:spPr>
        <p:txBody>
          <a:bodyPr wrap="square" lIns="0" tIns="0" rIns="0" bIns="0" anchor="t">
            <a:spAutoFit/>
          </a:bodyPr>
          <a:lstStyle/>
          <a:p>
            <a:pPr>
              <a:lnSpc>
                <a:spcPct val="108000"/>
              </a:lnSpc>
              <a:spcAft>
                <a:spcPts val="300"/>
              </a:spcAft>
            </a:pPr>
            <a:r>
              <a:rPr sz="1030" b="1" i="0">
                <a:solidFill>
                  <a:srgbClr val="0F1129"/>
                </a:solidFill>
                <a:latin typeface="Montserrat"/>
              </a:rPr>
              <a:t>Remedy options</a:t>
            </a:r>
          </a:p>
        </p:txBody>
      </p:sp>
      <p:sp>
        <p:nvSpPr>
          <p:cNvPr id="21" name="TextBox 20"/>
          <p:cNvSpPr txBox="1"/>
          <p:nvPr/>
        </p:nvSpPr>
        <p:spPr>
          <a:xfrm>
            <a:off x="1353312" y="4482846"/>
            <a:ext cx="5852160" cy="395477"/>
          </a:xfrm>
          <a:prstGeom prst="rect">
            <a:avLst/>
          </a:prstGeom>
          <a:noFill/>
        </p:spPr>
        <p:txBody>
          <a:bodyPr wrap="square" lIns="0" tIns="0" rIns="0" bIns="0" anchor="t">
            <a:spAutoFit/>
          </a:bodyPr>
          <a:lstStyle/>
          <a:p>
            <a:pPr>
              <a:lnSpc>
                <a:spcPct val="104000"/>
              </a:lnSpc>
              <a:spcAft>
                <a:spcPts val="300"/>
              </a:spcAft>
            </a:pPr>
            <a:r>
              <a:rPr sz="930" b="0" i="0">
                <a:solidFill>
                  <a:srgbClr val="2A2C45"/>
                </a:solidFill>
                <a:latin typeface="Montserrat"/>
              </a:rPr>
              <a:t>Beyond today’s refunds and compensation for financial loss: restructuring, fee waivers, credit-bureau corrections, apology and redress for non-financial harms.</a:t>
            </a:r>
          </a:p>
        </p:txBody>
      </p:sp>
      <p:sp>
        <p:nvSpPr>
          <p:cNvPr id="22" name="Rounded Rectangle 21"/>
          <p:cNvSpPr/>
          <p:nvPr/>
        </p:nvSpPr>
        <p:spPr>
          <a:xfrm>
            <a:off x="822959" y="4924044"/>
            <a:ext cx="384048" cy="384048"/>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23" name="Picture 22" descr="LuHandshake.png"/>
          <p:cNvPicPr>
            <a:picLocks noChangeAspect="1"/>
          </p:cNvPicPr>
          <p:nvPr/>
        </p:nvPicPr>
        <p:blipFill>
          <a:blip r:embed="rId5"/>
          <a:stretch>
            <a:fillRect/>
          </a:stretch>
        </p:blipFill>
        <p:spPr>
          <a:xfrm>
            <a:off x="907450" y="5008534"/>
            <a:ext cx="215066" cy="215066"/>
          </a:xfrm>
          <a:prstGeom prst="rect">
            <a:avLst/>
          </a:prstGeom>
        </p:spPr>
      </p:pic>
      <p:sp>
        <p:nvSpPr>
          <p:cNvPr id="24" name="TextBox 23"/>
          <p:cNvSpPr txBox="1"/>
          <p:nvPr/>
        </p:nvSpPr>
        <p:spPr>
          <a:xfrm>
            <a:off x="1353312" y="4905756"/>
            <a:ext cx="5852160" cy="237744"/>
          </a:xfrm>
          <a:prstGeom prst="rect">
            <a:avLst/>
          </a:prstGeom>
          <a:noFill/>
        </p:spPr>
        <p:txBody>
          <a:bodyPr wrap="square" lIns="0" tIns="0" rIns="0" bIns="0" anchor="t">
            <a:spAutoFit/>
          </a:bodyPr>
          <a:lstStyle/>
          <a:p>
            <a:pPr>
              <a:lnSpc>
                <a:spcPct val="108000"/>
              </a:lnSpc>
              <a:spcAft>
                <a:spcPts val="300"/>
              </a:spcAft>
            </a:pPr>
            <a:r>
              <a:rPr sz="1030" b="1" i="0">
                <a:solidFill>
                  <a:srgbClr val="0F1129"/>
                </a:solidFill>
                <a:latin typeface="Montserrat"/>
              </a:rPr>
              <a:t>Same standard for partners</a:t>
            </a:r>
          </a:p>
        </p:txBody>
      </p:sp>
      <p:sp>
        <p:nvSpPr>
          <p:cNvPr id="25" name="TextBox 24"/>
          <p:cNvSpPr txBox="1"/>
          <p:nvPr/>
        </p:nvSpPr>
        <p:spPr>
          <a:xfrm>
            <a:off x="1353312" y="5152644"/>
            <a:ext cx="5852160" cy="395477"/>
          </a:xfrm>
          <a:prstGeom prst="rect">
            <a:avLst/>
          </a:prstGeom>
          <a:noFill/>
        </p:spPr>
        <p:txBody>
          <a:bodyPr wrap="square" lIns="0" tIns="0" rIns="0" bIns="0" anchor="t">
            <a:spAutoFit/>
          </a:bodyPr>
          <a:lstStyle/>
          <a:p>
            <a:pPr>
              <a:lnSpc>
                <a:spcPct val="104000"/>
              </a:lnSpc>
              <a:spcAft>
                <a:spcPts val="300"/>
              </a:spcAft>
            </a:pPr>
            <a:r>
              <a:rPr sz="930" b="0" i="0">
                <a:solidFill>
                  <a:srgbClr val="2A2C45"/>
                </a:solidFill>
                <a:latin typeface="Montserrat"/>
              </a:rPr>
              <a:t>Collection agencies and suppliers bound by contract clauses to cooperate in remedy.</a:t>
            </a:r>
          </a:p>
        </p:txBody>
      </p:sp>
      <p:sp>
        <p:nvSpPr>
          <p:cNvPr id="26" name="Rounded Rectangle 25"/>
          <p:cNvSpPr/>
          <p:nvPr/>
        </p:nvSpPr>
        <p:spPr>
          <a:xfrm>
            <a:off x="822959" y="5593842"/>
            <a:ext cx="384048" cy="384048"/>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27" name="Picture 26" descr="LuUserCheck.png"/>
          <p:cNvPicPr>
            <a:picLocks noChangeAspect="1"/>
          </p:cNvPicPr>
          <p:nvPr/>
        </p:nvPicPr>
        <p:blipFill>
          <a:blip r:embed="rId6"/>
          <a:stretch>
            <a:fillRect/>
          </a:stretch>
        </p:blipFill>
        <p:spPr>
          <a:xfrm>
            <a:off x="907450" y="5678332"/>
            <a:ext cx="215066" cy="215066"/>
          </a:xfrm>
          <a:prstGeom prst="rect">
            <a:avLst/>
          </a:prstGeom>
        </p:spPr>
      </p:pic>
      <p:sp>
        <p:nvSpPr>
          <p:cNvPr id="28" name="TextBox 27"/>
          <p:cNvSpPr txBox="1"/>
          <p:nvPr/>
        </p:nvSpPr>
        <p:spPr>
          <a:xfrm>
            <a:off x="1353312" y="5575554"/>
            <a:ext cx="5852160" cy="237744"/>
          </a:xfrm>
          <a:prstGeom prst="rect">
            <a:avLst/>
          </a:prstGeom>
          <a:noFill/>
        </p:spPr>
        <p:txBody>
          <a:bodyPr wrap="square" lIns="0" tIns="0" rIns="0" bIns="0" anchor="t">
            <a:spAutoFit/>
          </a:bodyPr>
          <a:lstStyle/>
          <a:p>
            <a:pPr>
              <a:lnSpc>
                <a:spcPct val="108000"/>
              </a:lnSpc>
              <a:spcAft>
                <a:spcPts val="300"/>
              </a:spcAft>
            </a:pPr>
            <a:r>
              <a:rPr sz="1030" b="1" i="0">
                <a:solidFill>
                  <a:srgbClr val="0F1129"/>
                </a:solidFill>
                <a:latin typeface="Montserrat"/>
              </a:rPr>
              <a:t>Effective in their eyes</a:t>
            </a:r>
          </a:p>
        </p:txBody>
      </p:sp>
      <p:sp>
        <p:nvSpPr>
          <p:cNvPr id="29" name="TextBox 28"/>
          <p:cNvSpPr txBox="1"/>
          <p:nvPr/>
        </p:nvSpPr>
        <p:spPr>
          <a:xfrm>
            <a:off x="1353312" y="5822442"/>
            <a:ext cx="5852160" cy="395477"/>
          </a:xfrm>
          <a:prstGeom prst="rect">
            <a:avLst/>
          </a:prstGeom>
          <a:noFill/>
        </p:spPr>
        <p:txBody>
          <a:bodyPr wrap="square" lIns="0" tIns="0" rIns="0" bIns="0" anchor="t">
            <a:spAutoFit/>
          </a:bodyPr>
          <a:lstStyle/>
          <a:p>
            <a:pPr>
              <a:lnSpc>
                <a:spcPct val="104000"/>
              </a:lnSpc>
              <a:spcAft>
                <a:spcPts val="300"/>
              </a:spcAft>
            </a:pPr>
            <a:r>
              <a:rPr sz="930" b="0" i="0" dirty="0">
                <a:solidFill>
                  <a:srgbClr val="2A2C45"/>
                </a:solidFill>
                <a:latin typeface="Montserrat"/>
              </a:rPr>
              <a:t>Affected customers are asked whether the remedy actually worked for them.</a:t>
            </a:r>
          </a:p>
        </p:txBody>
      </p:sp>
      <p:sp>
        <p:nvSpPr>
          <p:cNvPr id="30" name="Rounded Rectangle 29"/>
          <p:cNvSpPr/>
          <p:nvPr/>
        </p:nvSpPr>
        <p:spPr>
          <a:xfrm>
            <a:off x="7726679" y="2011680"/>
            <a:ext cx="3913632" cy="4315968"/>
          </a:xfrm>
          <a:prstGeom prst="roundRect">
            <a:avLst>
              <a:gd name="adj" fmla="val 2336"/>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31" name="TextBox 30"/>
          <p:cNvSpPr txBox="1"/>
          <p:nvPr/>
        </p:nvSpPr>
        <p:spPr>
          <a:xfrm>
            <a:off x="7955279" y="2194560"/>
            <a:ext cx="3474720" cy="274320"/>
          </a:xfrm>
          <a:prstGeom prst="rect">
            <a:avLst/>
          </a:prstGeom>
          <a:noFill/>
        </p:spPr>
        <p:txBody>
          <a:bodyPr wrap="square" lIns="0" tIns="0" rIns="0" bIns="0" anchor="t">
            <a:spAutoFit/>
          </a:bodyPr>
          <a:lstStyle/>
          <a:p>
            <a:pPr>
              <a:lnSpc>
                <a:spcPct val="108000"/>
              </a:lnSpc>
              <a:spcAft>
                <a:spcPts val="300"/>
              </a:spcAft>
            </a:pPr>
            <a:r>
              <a:rPr sz="1100" b="1" i="0">
                <a:solidFill>
                  <a:srgbClr val="0F1129"/>
                </a:solidFill>
                <a:latin typeface="Montserrat"/>
              </a:rPr>
              <a:t>Who is involved in remedy</a:t>
            </a:r>
          </a:p>
        </p:txBody>
      </p:sp>
      <p:sp>
        <p:nvSpPr>
          <p:cNvPr id="32" name="Rounded Rectangle 31"/>
          <p:cNvSpPr/>
          <p:nvPr/>
        </p:nvSpPr>
        <p:spPr>
          <a:xfrm>
            <a:off x="7909560" y="2651760"/>
            <a:ext cx="3547872" cy="754380"/>
          </a:xfrm>
          <a:prstGeom prst="roundRect">
            <a:avLst>
              <a:gd name="adj" fmla="val 12000"/>
            </a:avLst>
          </a:prstGeom>
          <a:solidFill>
            <a:srgbClr val="F2F3F8"/>
          </a:solidFill>
          <a:ln>
            <a:noFill/>
          </a:ln>
          <a:effectLst/>
        </p:spPr>
        <p:txBody>
          <a:bodyPr rtlCol="0" anchor="ctr"/>
          <a:lstStyle/>
          <a:p>
            <a:pPr algn="ctr"/>
            <a:endParaRPr/>
          </a:p>
        </p:txBody>
      </p:sp>
      <p:sp>
        <p:nvSpPr>
          <p:cNvPr id="33" name="Rounded Rectangle 32"/>
          <p:cNvSpPr/>
          <p:nvPr/>
        </p:nvSpPr>
        <p:spPr>
          <a:xfrm>
            <a:off x="8065008" y="2827782"/>
            <a:ext cx="402336" cy="402336"/>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34" name="Picture 33" descr="LuUsers.png"/>
          <p:cNvPicPr>
            <a:picLocks noChangeAspect="1"/>
          </p:cNvPicPr>
          <p:nvPr/>
        </p:nvPicPr>
        <p:blipFill>
          <a:blip r:embed="rId7"/>
          <a:stretch>
            <a:fillRect/>
          </a:stretch>
        </p:blipFill>
        <p:spPr>
          <a:xfrm>
            <a:off x="8153521" y="2916295"/>
            <a:ext cx="225308" cy="225308"/>
          </a:xfrm>
          <a:prstGeom prst="rect">
            <a:avLst/>
          </a:prstGeom>
        </p:spPr>
      </p:pic>
      <p:sp>
        <p:nvSpPr>
          <p:cNvPr id="35" name="TextBox 34"/>
          <p:cNvSpPr txBox="1"/>
          <p:nvPr/>
        </p:nvSpPr>
        <p:spPr>
          <a:xfrm>
            <a:off x="8595360" y="2651760"/>
            <a:ext cx="2743200" cy="754380"/>
          </a:xfrm>
          <a:prstGeom prst="rect">
            <a:avLst/>
          </a:prstGeom>
          <a:noFill/>
        </p:spPr>
        <p:txBody>
          <a:bodyPr wrap="square" lIns="0" tIns="0" rIns="0" bIns="0" anchor="ctr">
            <a:spAutoFit/>
          </a:bodyPr>
          <a:lstStyle/>
          <a:p>
            <a:pPr>
              <a:lnSpc>
                <a:spcPct val="103000"/>
              </a:lnSpc>
              <a:spcAft>
                <a:spcPts val="300"/>
              </a:spcAft>
            </a:pPr>
            <a:r>
              <a:rPr sz="1000" b="1" i="0">
                <a:solidFill>
                  <a:srgbClr val="0F1129"/>
                </a:solidFill>
                <a:latin typeface="Montserrat"/>
              </a:rPr>
              <a:t>Affected borrowers and families</a:t>
            </a:r>
          </a:p>
        </p:txBody>
      </p:sp>
      <p:sp>
        <p:nvSpPr>
          <p:cNvPr id="36" name="Rounded Rectangle 35"/>
          <p:cNvSpPr/>
          <p:nvPr/>
        </p:nvSpPr>
        <p:spPr>
          <a:xfrm>
            <a:off x="7909560" y="3543300"/>
            <a:ext cx="3547872" cy="754380"/>
          </a:xfrm>
          <a:prstGeom prst="roundRect">
            <a:avLst>
              <a:gd name="adj" fmla="val 12000"/>
            </a:avLst>
          </a:prstGeom>
          <a:solidFill>
            <a:srgbClr val="F2F3F8"/>
          </a:solidFill>
          <a:ln>
            <a:noFill/>
          </a:ln>
          <a:effectLst/>
        </p:spPr>
        <p:txBody>
          <a:bodyPr rtlCol="0" anchor="ctr"/>
          <a:lstStyle/>
          <a:p>
            <a:pPr algn="ctr"/>
            <a:endParaRPr/>
          </a:p>
        </p:txBody>
      </p:sp>
      <p:sp>
        <p:nvSpPr>
          <p:cNvPr id="37" name="Rounded Rectangle 36"/>
          <p:cNvSpPr/>
          <p:nvPr/>
        </p:nvSpPr>
        <p:spPr>
          <a:xfrm>
            <a:off x="8065008" y="3719322"/>
            <a:ext cx="402336" cy="402336"/>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38" name="Picture 37" descr="LuBuilding2.png"/>
          <p:cNvPicPr>
            <a:picLocks noChangeAspect="1"/>
          </p:cNvPicPr>
          <p:nvPr/>
        </p:nvPicPr>
        <p:blipFill>
          <a:blip r:embed="rId8"/>
          <a:stretch>
            <a:fillRect/>
          </a:stretch>
        </p:blipFill>
        <p:spPr>
          <a:xfrm>
            <a:off x="8153521" y="3807835"/>
            <a:ext cx="225308" cy="225308"/>
          </a:xfrm>
          <a:prstGeom prst="rect">
            <a:avLst/>
          </a:prstGeom>
        </p:spPr>
      </p:pic>
      <p:sp>
        <p:nvSpPr>
          <p:cNvPr id="39" name="TextBox 38"/>
          <p:cNvSpPr txBox="1"/>
          <p:nvPr/>
        </p:nvSpPr>
        <p:spPr>
          <a:xfrm>
            <a:off x="8595360" y="3543300"/>
            <a:ext cx="2743200" cy="754380"/>
          </a:xfrm>
          <a:prstGeom prst="rect">
            <a:avLst/>
          </a:prstGeom>
          <a:noFill/>
        </p:spPr>
        <p:txBody>
          <a:bodyPr wrap="square" lIns="0" tIns="0" rIns="0" bIns="0" anchor="ctr">
            <a:spAutoFit/>
          </a:bodyPr>
          <a:lstStyle/>
          <a:p>
            <a:pPr>
              <a:lnSpc>
                <a:spcPct val="103000"/>
              </a:lnSpc>
              <a:spcAft>
                <a:spcPts val="300"/>
              </a:spcAft>
            </a:pPr>
            <a:r>
              <a:rPr sz="1000" b="1" i="0">
                <a:solidFill>
                  <a:srgbClr val="0F1129"/>
                </a:solidFill>
                <a:latin typeface="Montserrat"/>
              </a:rPr>
              <a:t>Collections, Retail Risk, Legal &amp; Compliance</a:t>
            </a:r>
          </a:p>
        </p:txBody>
      </p:sp>
      <p:sp>
        <p:nvSpPr>
          <p:cNvPr id="40" name="Rounded Rectangle 39"/>
          <p:cNvSpPr/>
          <p:nvPr/>
        </p:nvSpPr>
        <p:spPr>
          <a:xfrm>
            <a:off x="7909560" y="4434840"/>
            <a:ext cx="3547872" cy="754380"/>
          </a:xfrm>
          <a:prstGeom prst="roundRect">
            <a:avLst>
              <a:gd name="adj" fmla="val 12000"/>
            </a:avLst>
          </a:prstGeom>
          <a:solidFill>
            <a:srgbClr val="F2F3F8"/>
          </a:solidFill>
          <a:ln>
            <a:noFill/>
          </a:ln>
          <a:effectLst/>
        </p:spPr>
        <p:txBody>
          <a:bodyPr rtlCol="0" anchor="ctr"/>
          <a:lstStyle/>
          <a:p>
            <a:pPr algn="ctr"/>
            <a:endParaRPr/>
          </a:p>
        </p:txBody>
      </p:sp>
      <p:sp>
        <p:nvSpPr>
          <p:cNvPr id="41" name="Rounded Rectangle 40"/>
          <p:cNvSpPr/>
          <p:nvPr/>
        </p:nvSpPr>
        <p:spPr>
          <a:xfrm>
            <a:off x="8065008" y="4610862"/>
            <a:ext cx="402336" cy="402336"/>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42" name="Picture 41" descr="LuBriefcase.png"/>
          <p:cNvPicPr>
            <a:picLocks noChangeAspect="1"/>
          </p:cNvPicPr>
          <p:nvPr/>
        </p:nvPicPr>
        <p:blipFill>
          <a:blip r:embed="rId9"/>
          <a:stretch>
            <a:fillRect/>
          </a:stretch>
        </p:blipFill>
        <p:spPr>
          <a:xfrm>
            <a:off x="8153521" y="4699375"/>
            <a:ext cx="225308" cy="225308"/>
          </a:xfrm>
          <a:prstGeom prst="rect">
            <a:avLst/>
          </a:prstGeom>
        </p:spPr>
      </p:pic>
      <p:sp>
        <p:nvSpPr>
          <p:cNvPr id="43" name="TextBox 42"/>
          <p:cNvSpPr txBox="1"/>
          <p:nvPr/>
        </p:nvSpPr>
        <p:spPr>
          <a:xfrm>
            <a:off x="8595360" y="4434840"/>
            <a:ext cx="2743200" cy="754380"/>
          </a:xfrm>
          <a:prstGeom prst="rect">
            <a:avLst/>
          </a:prstGeom>
          <a:noFill/>
        </p:spPr>
        <p:txBody>
          <a:bodyPr wrap="square" lIns="0" tIns="0" rIns="0" bIns="0" anchor="ctr">
            <a:spAutoFit/>
          </a:bodyPr>
          <a:lstStyle/>
          <a:p>
            <a:pPr>
              <a:lnSpc>
                <a:spcPct val="103000"/>
              </a:lnSpc>
              <a:spcAft>
                <a:spcPts val="300"/>
              </a:spcAft>
            </a:pPr>
            <a:r>
              <a:rPr sz="1000" b="1" i="0">
                <a:solidFill>
                  <a:srgbClr val="0F1129"/>
                </a:solidFill>
                <a:latin typeface="Montserrat"/>
              </a:rPr>
              <a:t>External collection agencies</a:t>
            </a:r>
          </a:p>
        </p:txBody>
      </p:sp>
      <p:sp>
        <p:nvSpPr>
          <p:cNvPr id="44" name="Rounded Rectangle 43"/>
          <p:cNvSpPr/>
          <p:nvPr/>
        </p:nvSpPr>
        <p:spPr>
          <a:xfrm>
            <a:off x="7909560" y="5326379"/>
            <a:ext cx="3547872" cy="754380"/>
          </a:xfrm>
          <a:prstGeom prst="roundRect">
            <a:avLst>
              <a:gd name="adj" fmla="val 12000"/>
            </a:avLst>
          </a:prstGeom>
          <a:solidFill>
            <a:srgbClr val="F2F3F8"/>
          </a:solidFill>
          <a:ln>
            <a:noFill/>
          </a:ln>
          <a:effectLst/>
        </p:spPr>
        <p:txBody>
          <a:bodyPr rtlCol="0" anchor="ctr"/>
          <a:lstStyle/>
          <a:p>
            <a:pPr algn="ctr"/>
            <a:endParaRPr/>
          </a:p>
        </p:txBody>
      </p:sp>
      <p:sp>
        <p:nvSpPr>
          <p:cNvPr id="45" name="Rounded Rectangle 44"/>
          <p:cNvSpPr/>
          <p:nvPr/>
        </p:nvSpPr>
        <p:spPr>
          <a:xfrm>
            <a:off x="8065008" y="5502401"/>
            <a:ext cx="402336" cy="402336"/>
          </a:xfrm>
          <a:prstGeom prst="roundRect">
            <a:avLst>
              <a:gd name="adj" fmla="val 28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pic>
        <p:nvPicPr>
          <p:cNvPr id="46" name="Picture 45" descr="LuFileCheck.png"/>
          <p:cNvPicPr>
            <a:picLocks noChangeAspect="1"/>
          </p:cNvPicPr>
          <p:nvPr/>
        </p:nvPicPr>
        <p:blipFill>
          <a:blip r:embed="rId10"/>
          <a:stretch>
            <a:fillRect/>
          </a:stretch>
        </p:blipFill>
        <p:spPr>
          <a:xfrm>
            <a:off x="8153521" y="5590915"/>
            <a:ext cx="225308" cy="225308"/>
          </a:xfrm>
          <a:prstGeom prst="rect">
            <a:avLst/>
          </a:prstGeom>
        </p:spPr>
      </p:pic>
      <p:sp>
        <p:nvSpPr>
          <p:cNvPr id="47" name="TextBox 46"/>
          <p:cNvSpPr txBox="1"/>
          <p:nvPr/>
        </p:nvSpPr>
        <p:spPr>
          <a:xfrm>
            <a:off x="8595360" y="5326379"/>
            <a:ext cx="2743200" cy="754380"/>
          </a:xfrm>
          <a:prstGeom prst="rect">
            <a:avLst/>
          </a:prstGeom>
          <a:noFill/>
        </p:spPr>
        <p:txBody>
          <a:bodyPr wrap="square" lIns="0" tIns="0" rIns="0" bIns="0" anchor="ctr">
            <a:spAutoFit/>
          </a:bodyPr>
          <a:lstStyle/>
          <a:p>
            <a:pPr>
              <a:lnSpc>
                <a:spcPct val="103000"/>
              </a:lnSpc>
              <a:spcAft>
                <a:spcPts val="300"/>
              </a:spcAft>
            </a:pPr>
            <a:r>
              <a:rPr sz="1000" b="1" i="0">
                <a:solidFill>
                  <a:srgbClr val="0F1129"/>
                </a:solidFill>
                <a:latin typeface="Montserrat"/>
              </a:rPr>
              <a:t>Credit Bureau (record corrections)</a:t>
            </a:r>
          </a:p>
        </p:txBody>
      </p:sp>
    </p:spTree>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17</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Grievance Mechanisms</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TextBox 10"/>
          <p:cNvSpPr txBox="1"/>
          <p:nvPr/>
        </p:nvSpPr>
        <p:spPr>
          <a:xfrm>
            <a:off x="548640" y="1956816"/>
            <a:ext cx="11091672" cy="237744"/>
          </a:xfrm>
          <a:prstGeom prst="rect">
            <a:avLst/>
          </a:prstGeom>
          <a:noFill/>
        </p:spPr>
        <p:txBody>
          <a:bodyPr wrap="square" lIns="0" tIns="0" rIns="0" bIns="0" anchor="t">
            <a:spAutoFit/>
          </a:bodyPr>
          <a:lstStyle/>
          <a:p>
            <a:pPr>
              <a:lnSpc>
                <a:spcPct val="108000"/>
              </a:lnSpc>
              <a:spcAft>
                <a:spcPts val="300"/>
              </a:spcAft>
            </a:pPr>
            <a:r>
              <a:rPr sz="900" b="1" i="0">
                <a:solidFill>
                  <a:srgbClr val="0F1129"/>
                </a:solidFill>
                <a:latin typeface="Montserrat"/>
              </a:rPr>
              <a:t>Channels in scope</a:t>
            </a:r>
          </a:p>
        </p:txBody>
      </p:sp>
      <p:sp>
        <p:nvSpPr>
          <p:cNvPr id="12" name="Rounded Rectangle 11"/>
          <p:cNvSpPr/>
          <p:nvPr/>
        </p:nvSpPr>
        <p:spPr>
          <a:xfrm>
            <a:off x="548640" y="2212848"/>
            <a:ext cx="2278684" cy="256032"/>
          </a:xfrm>
          <a:prstGeom prst="roundRect">
            <a:avLst>
              <a:gd name="adj" fmla="val 50000"/>
            </a:avLst>
          </a:prstGeom>
          <a:solidFill>
            <a:srgbClr val="FFF1E7"/>
          </a:solidFill>
          <a:ln>
            <a:noFill/>
          </a:ln>
          <a:effectLst/>
        </p:spPr>
        <p:txBody>
          <a:bodyPr rtlCol="0" anchor="ctr"/>
          <a:lstStyle/>
          <a:p>
            <a:pPr algn="ctr"/>
            <a:endParaRPr/>
          </a:p>
        </p:txBody>
      </p:sp>
      <p:sp>
        <p:nvSpPr>
          <p:cNvPr id="13" name="TextBox 12"/>
          <p:cNvSpPr txBox="1"/>
          <p:nvPr/>
        </p:nvSpPr>
        <p:spPr>
          <a:xfrm>
            <a:off x="548640" y="2212848"/>
            <a:ext cx="2278684" cy="256032"/>
          </a:xfrm>
          <a:prstGeom prst="rect">
            <a:avLst/>
          </a:prstGeom>
          <a:noFill/>
        </p:spPr>
        <p:txBody>
          <a:bodyPr wrap="square" lIns="0" tIns="0" rIns="0" bIns="0" anchor="ctr">
            <a:spAutoFit/>
          </a:bodyPr>
          <a:lstStyle/>
          <a:p>
            <a:pPr algn="ctr">
              <a:lnSpc>
                <a:spcPct val="108000"/>
              </a:lnSpc>
              <a:spcAft>
                <a:spcPts val="300"/>
              </a:spcAft>
            </a:pPr>
            <a:r>
              <a:rPr sz="760" b="1" i="0">
                <a:solidFill>
                  <a:srgbClr val="E8590C"/>
                </a:solidFill>
                <a:latin typeface="Montserrat"/>
              </a:rPr>
              <a:t>Branches, complaint boxes &amp; QR codes</a:t>
            </a:r>
          </a:p>
        </p:txBody>
      </p:sp>
      <p:sp>
        <p:nvSpPr>
          <p:cNvPr id="14" name="Rounded Rectangle 13"/>
          <p:cNvSpPr/>
          <p:nvPr/>
        </p:nvSpPr>
        <p:spPr>
          <a:xfrm>
            <a:off x="2900476" y="2212848"/>
            <a:ext cx="1258214" cy="256032"/>
          </a:xfrm>
          <a:prstGeom prst="roundRect">
            <a:avLst>
              <a:gd name="adj" fmla="val 50000"/>
            </a:avLst>
          </a:prstGeom>
          <a:solidFill>
            <a:srgbClr val="FFF1E7"/>
          </a:solidFill>
          <a:ln>
            <a:noFill/>
          </a:ln>
          <a:effectLst/>
        </p:spPr>
        <p:txBody>
          <a:bodyPr rtlCol="0" anchor="ctr"/>
          <a:lstStyle/>
          <a:p>
            <a:pPr algn="ctr"/>
            <a:endParaRPr/>
          </a:p>
        </p:txBody>
      </p:sp>
      <p:sp>
        <p:nvSpPr>
          <p:cNvPr id="15" name="TextBox 14"/>
          <p:cNvSpPr txBox="1"/>
          <p:nvPr/>
        </p:nvSpPr>
        <p:spPr>
          <a:xfrm>
            <a:off x="2900476" y="2212848"/>
            <a:ext cx="1258214" cy="256032"/>
          </a:xfrm>
          <a:prstGeom prst="rect">
            <a:avLst/>
          </a:prstGeom>
          <a:noFill/>
        </p:spPr>
        <p:txBody>
          <a:bodyPr wrap="square" lIns="0" tIns="0" rIns="0" bIns="0" anchor="ctr">
            <a:spAutoFit/>
          </a:bodyPr>
          <a:lstStyle/>
          <a:p>
            <a:pPr algn="ctr">
              <a:lnSpc>
                <a:spcPct val="108000"/>
              </a:lnSpc>
              <a:spcAft>
                <a:spcPts val="300"/>
              </a:spcAft>
            </a:pPr>
            <a:r>
              <a:rPr sz="760" b="1" i="0">
                <a:solidFill>
                  <a:srgbClr val="E8590C"/>
                </a:solidFill>
                <a:latin typeface="Montserrat"/>
              </a:rPr>
              <a:t>Contact centre 196</a:t>
            </a:r>
          </a:p>
        </p:txBody>
      </p:sp>
      <p:sp>
        <p:nvSpPr>
          <p:cNvPr id="16" name="Rounded Rectangle 15"/>
          <p:cNvSpPr/>
          <p:nvPr/>
        </p:nvSpPr>
        <p:spPr>
          <a:xfrm>
            <a:off x="4231843" y="2212848"/>
            <a:ext cx="1371600" cy="256032"/>
          </a:xfrm>
          <a:prstGeom prst="roundRect">
            <a:avLst>
              <a:gd name="adj" fmla="val 50000"/>
            </a:avLst>
          </a:prstGeom>
          <a:solidFill>
            <a:srgbClr val="FFF1E7"/>
          </a:solidFill>
          <a:ln>
            <a:noFill/>
          </a:ln>
          <a:effectLst/>
        </p:spPr>
        <p:txBody>
          <a:bodyPr rtlCol="0" anchor="ctr"/>
          <a:lstStyle/>
          <a:p>
            <a:pPr algn="ctr"/>
            <a:endParaRPr/>
          </a:p>
        </p:txBody>
      </p:sp>
      <p:sp>
        <p:nvSpPr>
          <p:cNvPr id="17" name="TextBox 16"/>
          <p:cNvSpPr txBox="1"/>
          <p:nvPr/>
        </p:nvSpPr>
        <p:spPr>
          <a:xfrm>
            <a:off x="4231843" y="2212848"/>
            <a:ext cx="1371600" cy="256032"/>
          </a:xfrm>
          <a:prstGeom prst="rect">
            <a:avLst/>
          </a:prstGeom>
          <a:noFill/>
        </p:spPr>
        <p:txBody>
          <a:bodyPr wrap="square" lIns="0" tIns="0" rIns="0" bIns="0" anchor="ctr">
            <a:spAutoFit/>
          </a:bodyPr>
          <a:lstStyle/>
          <a:p>
            <a:pPr algn="ctr">
              <a:lnSpc>
                <a:spcPct val="108000"/>
              </a:lnSpc>
              <a:spcAft>
                <a:spcPts val="300"/>
              </a:spcAft>
            </a:pPr>
            <a:r>
              <a:rPr sz="760" b="1" i="0">
                <a:solidFill>
                  <a:srgbClr val="E8590C"/>
                </a:solidFill>
                <a:latin typeface="Montserrat"/>
              </a:rPr>
              <a:t>Business hotline 896</a:t>
            </a:r>
          </a:p>
        </p:txBody>
      </p:sp>
      <p:sp>
        <p:nvSpPr>
          <p:cNvPr id="18" name="Rounded Rectangle 17"/>
          <p:cNvSpPr/>
          <p:nvPr/>
        </p:nvSpPr>
        <p:spPr>
          <a:xfrm>
            <a:off x="5676595" y="2212848"/>
            <a:ext cx="1201521" cy="256032"/>
          </a:xfrm>
          <a:prstGeom prst="roundRect">
            <a:avLst>
              <a:gd name="adj" fmla="val 50000"/>
            </a:avLst>
          </a:prstGeom>
          <a:solidFill>
            <a:srgbClr val="FFF1E7"/>
          </a:solidFill>
          <a:ln>
            <a:noFill/>
          </a:ln>
          <a:effectLst/>
        </p:spPr>
        <p:txBody>
          <a:bodyPr rtlCol="0" anchor="ctr"/>
          <a:lstStyle/>
          <a:p>
            <a:pPr algn="ctr"/>
            <a:endParaRPr/>
          </a:p>
        </p:txBody>
      </p:sp>
      <p:sp>
        <p:nvSpPr>
          <p:cNvPr id="19" name="TextBox 18"/>
          <p:cNvSpPr txBox="1"/>
          <p:nvPr/>
        </p:nvSpPr>
        <p:spPr>
          <a:xfrm>
            <a:off x="5676595" y="2212848"/>
            <a:ext cx="1201521" cy="256032"/>
          </a:xfrm>
          <a:prstGeom prst="rect">
            <a:avLst/>
          </a:prstGeom>
          <a:noFill/>
        </p:spPr>
        <p:txBody>
          <a:bodyPr wrap="square" lIns="0" tIns="0" rIns="0" bIns="0" anchor="ctr">
            <a:spAutoFit/>
          </a:bodyPr>
          <a:lstStyle/>
          <a:p>
            <a:pPr algn="ctr">
              <a:lnSpc>
                <a:spcPct val="108000"/>
              </a:lnSpc>
              <a:spcAft>
                <a:spcPts val="300"/>
              </a:spcAft>
            </a:pPr>
            <a:r>
              <a:rPr sz="760" b="1" i="0">
                <a:solidFill>
                  <a:srgbClr val="E8590C"/>
                </a:solidFill>
                <a:latin typeface="Montserrat"/>
              </a:rPr>
              <a:t>App &amp; online chat</a:t>
            </a:r>
          </a:p>
        </p:txBody>
      </p:sp>
      <p:sp>
        <p:nvSpPr>
          <p:cNvPr id="20" name="Rounded Rectangle 19"/>
          <p:cNvSpPr/>
          <p:nvPr/>
        </p:nvSpPr>
        <p:spPr>
          <a:xfrm>
            <a:off x="6951268" y="2212848"/>
            <a:ext cx="1598371" cy="256032"/>
          </a:xfrm>
          <a:prstGeom prst="roundRect">
            <a:avLst>
              <a:gd name="adj" fmla="val 50000"/>
            </a:avLst>
          </a:prstGeom>
          <a:solidFill>
            <a:srgbClr val="FFF1E7"/>
          </a:solidFill>
          <a:ln>
            <a:noFill/>
          </a:ln>
          <a:effectLst/>
        </p:spPr>
        <p:txBody>
          <a:bodyPr rtlCol="0" anchor="ctr"/>
          <a:lstStyle/>
          <a:p>
            <a:pPr algn="ctr"/>
            <a:endParaRPr/>
          </a:p>
        </p:txBody>
      </p:sp>
      <p:sp>
        <p:nvSpPr>
          <p:cNvPr id="21" name="TextBox 20"/>
          <p:cNvSpPr txBox="1"/>
          <p:nvPr/>
        </p:nvSpPr>
        <p:spPr>
          <a:xfrm>
            <a:off x="6951268" y="2212848"/>
            <a:ext cx="1598371" cy="256032"/>
          </a:xfrm>
          <a:prstGeom prst="rect">
            <a:avLst/>
          </a:prstGeom>
          <a:noFill/>
        </p:spPr>
        <p:txBody>
          <a:bodyPr wrap="square" lIns="0" tIns="0" rIns="0" bIns="0" anchor="ctr">
            <a:spAutoFit/>
          </a:bodyPr>
          <a:lstStyle/>
          <a:p>
            <a:pPr algn="ctr">
              <a:lnSpc>
                <a:spcPct val="108000"/>
              </a:lnSpc>
              <a:spcAft>
                <a:spcPts val="300"/>
              </a:spcAft>
            </a:pPr>
            <a:r>
              <a:rPr sz="760" b="1" i="0">
                <a:solidFill>
                  <a:srgbClr val="E8590C"/>
                </a:solidFill>
                <a:latin typeface="Montserrat"/>
              </a:rPr>
              <a:t>Sign-language video call</a:t>
            </a:r>
          </a:p>
        </p:txBody>
      </p:sp>
      <p:sp>
        <p:nvSpPr>
          <p:cNvPr id="22" name="Rounded Rectangle 21"/>
          <p:cNvSpPr/>
          <p:nvPr/>
        </p:nvSpPr>
        <p:spPr>
          <a:xfrm>
            <a:off x="8622792" y="2212848"/>
            <a:ext cx="1484985" cy="256032"/>
          </a:xfrm>
          <a:prstGeom prst="roundRect">
            <a:avLst>
              <a:gd name="adj" fmla="val 50000"/>
            </a:avLst>
          </a:prstGeom>
          <a:solidFill>
            <a:srgbClr val="FFF1E7"/>
          </a:solidFill>
          <a:ln>
            <a:noFill/>
          </a:ln>
          <a:effectLst/>
        </p:spPr>
        <p:txBody>
          <a:bodyPr rtlCol="0" anchor="ctr"/>
          <a:lstStyle/>
          <a:p>
            <a:pPr algn="ctr"/>
            <a:endParaRPr/>
          </a:p>
        </p:txBody>
      </p:sp>
      <p:sp>
        <p:nvSpPr>
          <p:cNvPr id="23" name="TextBox 22"/>
          <p:cNvSpPr txBox="1"/>
          <p:nvPr/>
        </p:nvSpPr>
        <p:spPr>
          <a:xfrm>
            <a:off x="8622792" y="2212848"/>
            <a:ext cx="1484985" cy="256032"/>
          </a:xfrm>
          <a:prstGeom prst="rect">
            <a:avLst/>
          </a:prstGeom>
          <a:noFill/>
        </p:spPr>
        <p:txBody>
          <a:bodyPr wrap="square" lIns="0" tIns="0" rIns="0" bIns="0" anchor="ctr">
            <a:spAutoFit/>
          </a:bodyPr>
          <a:lstStyle/>
          <a:p>
            <a:pPr algn="ctr">
              <a:lnSpc>
                <a:spcPct val="108000"/>
              </a:lnSpc>
              <a:spcAft>
                <a:spcPts val="300"/>
              </a:spcAft>
            </a:pPr>
            <a:r>
              <a:rPr sz="760" b="1" i="0">
                <a:solidFill>
                  <a:srgbClr val="E8590C"/>
                </a:solidFill>
                <a:latin typeface="Montserrat"/>
              </a:rPr>
              <a:t>Central Bank referrals</a:t>
            </a:r>
          </a:p>
        </p:txBody>
      </p:sp>
      <p:sp>
        <p:nvSpPr>
          <p:cNvPr id="24" name="Rounded Rectangle 23"/>
          <p:cNvSpPr/>
          <p:nvPr/>
        </p:nvSpPr>
        <p:spPr>
          <a:xfrm>
            <a:off x="10180929" y="2212848"/>
            <a:ext cx="1201521" cy="256032"/>
          </a:xfrm>
          <a:prstGeom prst="roundRect">
            <a:avLst>
              <a:gd name="adj" fmla="val 50000"/>
            </a:avLst>
          </a:prstGeom>
          <a:solidFill>
            <a:srgbClr val="FFF1E7"/>
          </a:solidFill>
          <a:ln>
            <a:noFill/>
          </a:ln>
          <a:effectLst/>
        </p:spPr>
        <p:txBody>
          <a:bodyPr rtlCol="0" anchor="ctr"/>
          <a:lstStyle/>
          <a:p>
            <a:pPr algn="ctr"/>
            <a:endParaRPr/>
          </a:p>
        </p:txBody>
      </p:sp>
      <p:sp>
        <p:nvSpPr>
          <p:cNvPr id="25" name="TextBox 24"/>
          <p:cNvSpPr txBox="1"/>
          <p:nvPr/>
        </p:nvSpPr>
        <p:spPr>
          <a:xfrm>
            <a:off x="10180929" y="2212848"/>
            <a:ext cx="1201521" cy="256032"/>
          </a:xfrm>
          <a:prstGeom prst="rect">
            <a:avLst/>
          </a:prstGeom>
          <a:noFill/>
        </p:spPr>
        <p:txBody>
          <a:bodyPr wrap="square" lIns="0" tIns="0" rIns="0" bIns="0" anchor="ctr">
            <a:spAutoFit/>
          </a:bodyPr>
          <a:lstStyle/>
          <a:p>
            <a:pPr algn="ctr">
              <a:lnSpc>
                <a:spcPct val="108000"/>
              </a:lnSpc>
              <a:spcAft>
                <a:spcPts val="300"/>
              </a:spcAft>
            </a:pPr>
            <a:r>
              <a:rPr sz="760" b="1" i="0">
                <a:solidFill>
                  <a:srgbClr val="E8590C"/>
                </a:solidFill>
                <a:latin typeface="Montserrat"/>
              </a:rPr>
              <a:t>NAVEX (employees)</a:t>
            </a:r>
          </a:p>
        </p:txBody>
      </p:sp>
      <p:sp>
        <p:nvSpPr>
          <p:cNvPr id="26" name="Rounded Rectangle 25"/>
          <p:cNvSpPr/>
          <p:nvPr/>
        </p:nvSpPr>
        <p:spPr>
          <a:xfrm>
            <a:off x="548640" y="2596896"/>
            <a:ext cx="11091672" cy="3730752"/>
          </a:xfrm>
          <a:prstGeom prst="roundRect">
            <a:avLst>
              <a:gd name="adj" fmla="val 245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graphicFrame>
        <p:nvGraphicFramePr>
          <p:cNvPr id="27" name="Table 26"/>
          <p:cNvGraphicFramePr>
            <a:graphicFrameLocks noGrp="1"/>
          </p:cNvGraphicFramePr>
          <p:nvPr/>
        </p:nvGraphicFramePr>
        <p:xfrm>
          <a:off x="685800" y="2670048"/>
          <a:ext cx="10817352" cy="3584448"/>
        </p:xfrm>
        <a:graphic>
          <a:graphicData uri="http://schemas.openxmlformats.org/drawingml/2006/table">
            <a:tbl>
              <a:tblPr>
                <a:tableStyleId>{2D5ABB26-0587-4C30-8999-92F81FD0307C}</a:tableStyleId>
              </a:tblPr>
              <a:tblGrid>
                <a:gridCol w="2377440">
                  <a:extLst>
                    <a:ext uri="{9D8B030D-6E8A-4147-A177-3AD203B41FA5}">
                      <a16:colId xmlns:a16="http://schemas.microsoft.com/office/drawing/2014/main" val="20000"/>
                    </a:ext>
                  </a:extLst>
                </a:gridCol>
                <a:gridCol w="8439912">
                  <a:extLst>
                    <a:ext uri="{9D8B030D-6E8A-4147-A177-3AD203B41FA5}">
                      <a16:colId xmlns:a16="http://schemas.microsoft.com/office/drawing/2014/main" val="20001"/>
                    </a:ext>
                  </a:extLst>
                </a:gridCol>
              </a:tblGrid>
              <a:tr h="398272">
                <a:tc>
                  <a:txBody>
                    <a:bodyPr/>
                    <a:lstStyle/>
                    <a:p>
                      <a:pPr>
                        <a:lnSpc>
                          <a:spcPct val="102000"/>
                        </a:lnSpc>
                      </a:pPr>
                      <a:r>
                        <a:rPr sz="850" b="1" i="0">
                          <a:solidFill>
                            <a:srgbClr val="6B6F8A"/>
                          </a:solidFill>
                          <a:latin typeface="Montserrat"/>
                        </a:rPr>
                        <a:t>UNGP 31 criterion</a:t>
                      </a:r>
                    </a:p>
                  </a:txBody>
                  <a:tcPr marL="64008" marR="64008" anchor="ctr">
                    <a:solidFill>
                      <a:srgbClr val="F2F3F8"/>
                    </a:solidFill>
                  </a:tcPr>
                </a:tc>
                <a:tc>
                  <a:txBody>
                    <a:bodyPr/>
                    <a:lstStyle/>
                    <a:p>
                      <a:pPr>
                        <a:lnSpc>
                          <a:spcPct val="102000"/>
                        </a:lnSpc>
                      </a:pPr>
                      <a:r>
                        <a:rPr sz="850" b="1" i="0">
                          <a:solidFill>
                            <a:srgbClr val="6B6F8A"/>
                          </a:solidFill>
                          <a:latin typeface="Montserrat"/>
                        </a:rPr>
                        <a:t>Design feature – building on the existing procedure</a:t>
                      </a:r>
                    </a:p>
                  </a:txBody>
                  <a:tcPr marL="64008" marR="64008" anchor="ctr">
                    <a:solidFill>
                      <a:srgbClr val="F2F3F8"/>
                    </a:solidFill>
                  </a:tcPr>
                </a:tc>
                <a:extLst>
                  <a:ext uri="{0D108BD9-81ED-4DB2-BD59-A6C34878D82A}">
                    <a16:rowId xmlns:a16="http://schemas.microsoft.com/office/drawing/2014/main" val="10000"/>
                  </a:ext>
                </a:extLst>
              </a:tr>
              <a:tr h="398272">
                <a:tc>
                  <a:txBody>
                    <a:bodyPr/>
                    <a:lstStyle/>
                    <a:p>
                      <a:pPr>
                        <a:lnSpc>
                          <a:spcPct val="102000"/>
                        </a:lnSpc>
                      </a:pPr>
                      <a:r>
                        <a:rPr sz="900" b="1" i="0">
                          <a:solidFill>
                            <a:srgbClr val="0F1129"/>
                          </a:solidFill>
                          <a:latin typeface="Montserrat"/>
                        </a:rPr>
                        <a:t>Legitimate</a:t>
                      </a:r>
                    </a:p>
                  </a:txBody>
                  <a:tcPr marL="64008" marR="64008" anchor="ctr">
                    <a:solidFill>
                      <a:srgbClr val="FFFFFF"/>
                    </a:solidFill>
                  </a:tcPr>
                </a:tc>
                <a:tc>
                  <a:txBody>
                    <a:bodyPr/>
                    <a:lstStyle/>
                    <a:p>
                      <a:pPr>
                        <a:lnSpc>
                          <a:spcPct val="102000"/>
                        </a:lnSpc>
                      </a:pPr>
                      <a:r>
                        <a:rPr sz="900" b="0" i="0" dirty="0">
                          <a:solidFill>
                            <a:srgbClr val="2A2C45"/>
                          </a:solidFill>
                          <a:latin typeface="Montserrat"/>
                        </a:rPr>
                        <a:t>Independent complaints unit investigates; staff complained about cannot handle their own case (already in place); ESG committee oversees human rights cases</a:t>
                      </a:r>
                    </a:p>
                  </a:txBody>
                  <a:tcPr marL="64008" marR="64008" anchor="ctr">
                    <a:solidFill>
                      <a:srgbClr val="FFFFFF"/>
                    </a:solidFill>
                  </a:tcPr>
                </a:tc>
                <a:extLst>
                  <a:ext uri="{0D108BD9-81ED-4DB2-BD59-A6C34878D82A}">
                    <a16:rowId xmlns:a16="http://schemas.microsoft.com/office/drawing/2014/main" val="10001"/>
                  </a:ext>
                </a:extLst>
              </a:tr>
              <a:tr h="398272">
                <a:tc>
                  <a:txBody>
                    <a:bodyPr/>
                    <a:lstStyle/>
                    <a:p>
                      <a:pPr>
                        <a:lnSpc>
                          <a:spcPct val="102000"/>
                        </a:lnSpc>
                      </a:pPr>
                      <a:r>
                        <a:rPr sz="900" b="1" i="0">
                          <a:solidFill>
                            <a:srgbClr val="0F1129"/>
                          </a:solidFill>
                          <a:latin typeface="Montserrat"/>
                        </a:rPr>
                        <a:t>Accessible</a:t>
                      </a:r>
                    </a:p>
                  </a:txBody>
                  <a:tcPr marL="64008" marR="64008" anchor="ctr">
                    <a:solidFill>
                      <a:srgbClr val="FFFFFF"/>
                    </a:solidFill>
                  </a:tcPr>
                </a:tc>
                <a:tc>
                  <a:txBody>
                    <a:bodyPr/>
                    <a:lstStyle/>
                    <a:p>
                      <a:pPr>
                        <a:lnSpc>
                          <a:spcPct val="102000"/>
                        </a:lnSpc>
                      </a:pPr>
                      <a:r>
                        <a:rPr sz="900" b="0" i="0" dirty="0">
                          <a:solidFill>
                            <a:srgbClr val="2A2C45"/>
                          </a:solidFill>
                          <a:latin typeface="Montserrat"/>
                        </a:rPr>
                        <a:t>Review anonymous complaints on human rights issues; route speech-impaired callers to the sign-language video call instead of ending the call; open a channel for contractors’ workers</a:t>
                      </a:r>
                    </a:p>
                  </a:txBody>
                  <a:tcPr marL="64008" marR="64008" anchor="ctr">
                    <a:solidFill>
                      <a:srgbClr val="FFFFFF"/>
                    </a:solidFill>
                  </a:tcPr>
                </a:tc>
                <a:extLst>
                  <a:ext uri="{0D108BD9-81ED-4DB2-BD59-A6C34878D82A}">
                    <a16:rowId xmlns:a16="http://schemas.microsoft.com/office/drawing/2014/main" val="10002"/>
                  </a:ext>
                </a:extLst>
              </a:tr>
              <a:tr h="398272">
                <a:tc>
                  <a:txBody>
                    <a:bodyPr/>
                    <a:lstStyle/>
                    <a:p>
                      <a:pPr>
                        <a:lnSpc>
                          <a:spcPct val="102000"/>
                        </a:lnSpc>
                      </a:pPr>
                      <a:r>
                        <a:rPr sz="900" b="1" i="0">
                          <a:solidFill>
                            <a:srgbClr val="0F1129"/>
                          </a:solidFill>
                          <a:latin typeface="Montserrat"/>
                        </a:rPr>
                        <a:t>Predictable</a:t>
                      </a:r>
                    </a:p>
                  </a:txBody>
                  <a:tcPr marL="64008" marR="64008" anchor="ctr">
                    <a:solidFill>
                      <a:srgbClr val="FFFFFF"/>
                    </a:solidFill>
                  </a:tcPr>
                </a:tc>
                <a:tc>
                  <a:txBody>
                    <a:bodyPr/>
                    <a:lstStyle/>
                    <a:p>
                      <a:pPr>
                        <a:lnSpc>
                          <a:spcPct val="102000"/>
                        </a:lnSpc>
                      </a:pPr>
                      <a:r>
                        <a:rPr sz="900" b="0" i="0" dirty="0">
                          <a:solidFill>
                            <a:srgbClr val="2A2C45"/>
                          </a:solidFill>
                          <a:latin typeface="Montserrat"/>
                        </a:rPr>
                        <a:t>Keep statutory 15 / 30 working-day deadlines; add acknowledgement within 1 working day and a published process map</a:t>
                      </a:r>
                    </a:p>
                  </a:txBody>
                  <a:tcPr marL="64008" marR="64008" anchor="ctr">
                    <a:solidFill>
                      <a:srgbClr val="FFFFFF"/>
                    </a:solidFill>
                  </a:tcPr>
                </a:tc>
                <a:extLst>
                  <a:ext uri="{0D108BD9-81ED-4DB2-BD59-A6C34878D82A}">
                    <a16:rowId xmlns:a16="http://schemas.microsoft.com/office/drawing/2014/main" val="10003"/>
                  </a:ext>
                </a:extLst>
              </a:tr>
              <a:tr h="398272">
                <a:tc>
                  <a:txBody>
                    <a:bodyPr/>
                    <a:lstStyle/>
                    <a:p>
                      <a:pPr>
                        <a:lnSpc>
                          <a:spcPct val="102000"/>
                        </a:lnSpc>
                      </a:pPr>
                      <a:r>
                        <a:rPr sz="900" b="1" i="0">
                          <a:solidFill>
                            <a:srgbClr val="0F1129"/>
                          </a:solidFill>
                          <a:latin typeface="Montserrat"/>
                        </a:rPr>
                        <a:t>Equitable</a:t>
                      </a:r>
                    </a:p>
                  </a:txBody>
                  <a:tcPr marL="64008" marR="64008" anchor="ctr">
                    <a:solidFill>
                      <a:srgbClr val="FFFFFF"/>
                    </a:solidFill>
                  </a:tcPr>
                </a:tc>
                <a:tc>
                  <a:txBody>
                    <a:bodyPr/>
                    <a:lstStyle/>
                    <a:p>
                      <a:pPr>
                        <a:lnSpc>
                          <a:spcPct val="102000"/>
                        </a:lnSpc>
                      </a:pPr>
                      <a:r>
                        <a:rPr sz="900" b="0" i="0">
                          <a:solidFill>
                            <a:srgbClr val="2A2C45"/>
                          </a:solidFill>
                          <a:latin typeface="Montserrat"/>
                        </a:rPr>
                        <a:t>Customers can get free advice on their rights and see the information the decision is based on</a:t>
                      </a:r>
                    </a:p>
                  </a:txBody>
                  <a:tcPr marL="64008" marR="64008" anchor="ctr">
                    <a:solidFill>
                      <a:srgbClr val="FFFFFF"/>
                    </a:solidFill>
                  </a:tcPr>
                </a:tc>
                <a:extLst>
                  <a:ext uri="{0D108BD9-81ED-4DB2-BD59-A6C34878D82A}">
                    <a16:rowId xmlns:a16="http://schemas.microsoft.com/office/drawing/2014/main" val="10004"/>
                  </a:ext>
                </a:extLst>
              </a:tr>
              <a:tr h="398272">
                <a:tc>
                  <a:txBody>
                    <a:bodyPr/>
                    <a:lstStyle/>
                    <a:p>
                      <a:pPr>
                        <a:lnSpc>
                          <a:spcPct val="102000"/>
                        </a:lnSpc>
                      </a:pPr>
                      <a:r>
                        <a:rPr sz="900" b="1" i="0">
                          <a:solidFill>
                            <a:srgbClr val="0F1129"/>
                          </a:solidFill>
                          <a:latin typeface="Montserrat"/>
                        </a:rPr>
                        <a:t>Transparent</a:t>
                      </a:r>
                    </a:p>
                  </a:txBody>
                  <a:tcPr marL="64008" marR="64008" anchor="ctr">
                    <a:solidFill>
                      <a:srgbClr val="FFFFFF"/>
                    </a:solidFill>
                  </a:tcPr>
                </a:tc>
                <a:tc>
                  <a:txBody>
                    <a:bodyPr/>
                    <a:lstStyle/>
                    <a:p>
                      <a:pPr>
                        <a:lnSpc>
                          <a:spcPct val="102000"/>
                        </a:lnSpc>
                      </a:pPr>
                      <a:r>
                        <a:rPr sz="900" b="0" i="0" dirty="0">
                          <a:solidFill>
                            <a:srgbClr val="2A2C45"/>
                          </a:solidFill>
                          <a:latin typeface="Montserrat"/>
                        </a:rPr>
                        <a:t>Case status visible in the app; human rights complaint statistics from the monthly Board report included in the annual disclosure</a:t>
                      </a:r>
                    </a:p>
                  </a:txBody>
                  <a:tcPr marL="64008" marR="64008" anchor="ctr">
                    <a:solidFill>
                      <a:srgbClr val="FFFFFF"/>
                    </a:solidFill>
                  </a:tcPr>
                </a:tc>
                <a:extLst>
                  <a:ext uri="{0D108BD9-81ED-4DB2-BD59-A6C34878D82A}">
                    <a16:rowId xmlns:a16="http://schemas.microsoft.com/office/drawing/2014/main" val="10005"/>
                  </a:ext>
                </a:extLst>
              </a:tr>
              <a:tr h="398272">
                <a:tc>
                  <a:txBody>
                    <a:bodyPr/>
                    <a:lstStyle/>
                    <a:p>
                      <a:pPr>
                        <a:lnSpc>
                          <a:spcPct val="102000"/>
                        </a:lnSpc>
                      </a:pPr>
                      <a:r>
                        <a:rPr sz="900" b="1" i="0" dirty="0">
                          <a:solidFill>
                            <a:srgbClr val="0F1129"/>
                          </a:solidFill>
                          <a:latin typeface="Montserrat"/>
                        </a:rPr>
                        <a:t>Rights-compatible</a:t>
                      </a:r>
                    </a:p>
                  </a:txBody>
                  <a:tcPr marL="64008" marR="64008" anchor="ctr">
                    <a:solidFill>
                      <a:srgbClr val="FFFFFF"/>
                    </a:solidFill>
                  </a:tcPr>
                </a:tc>
                <a:tc>
                  <a:txBody>
                    <a:bodyPr/>
                    <a:lstStyle/>
                    <a:p>
                      <a:pPr>
                        <a:lnSpc>
                          <a:spcPct val="102000"/>
                        </a:lnSpc>
                      </a:pPr>
                      <a:r>
                        <a:rPr sz="900" b="0" i="0">
                          <a:solidFill>
                            <a:srgbClr val="2A2C45"/>
                          </a:solidFill>
                          <a:latin typeface="Montserrat"/>
                        </a:rPr>
                        <a:t>New “human rights / unfair treatment” category and severity triage; remedy options for non-financial harms</a:t>
                      </a:r>
                    </a:p>
                  </a:txBody>
                  <a:tcPr marL="64008" marR="64008" anchor="ctr">
                    <a:solidFill>
                      <a:srgbClr val="FFFFFF"/>
                    </a:solidFill>
                  </a:tcPr>
                </a:tc>
                <a:extLst>
                  <a:ext uri="{0D108BD9-81ED-4DB2-BD59-A6C34878D82A}">
                    <a16:rowId xmlns:a16="http://schemas.microsoft.com/office/drawing/2014/main" val="10006"/>
                  </a:ext>
                </a:extLst>
              </a:tr>
              <a:tr h="398272">
                <a:tc>
                  <a:txBody>
                    <a:bodyPr/>
                    <a:lstStyle/>
                    <a:p>
                      <a:pPr>
                        <a:lnSpc>
                          <a:spcPct val="102000"/>
                        </a:lnSpc>
                      </a:pPr>
                      <a:r>
                        <a:rPr sz="900" b="1" i="0">
                          <a:solidFill>
                            <a:srgbClr val="0F1129"/>
                          </a:solidFill>
                          <a:latin typeface="Montserrat"/>
                        </a:rPr>
                        <a:t>Source of continuous learning</a:t>
                      </a:r>
                    </a:p>
                  </a:txBody>
                  <a:tcPr marL="64008" marR="64008" anchor="ctr">
                    <a:solidFill>
                      <a:srgbClr val="FFFFFF"/>
                    </a:solidFill>
                  </a:tcPr>
                </a:tc>
                <a:tc>
                  <a:txBody>
                    <a:bodyPr/>
                    <a:lstStyle/>
                    <a:p>
                      <a:pPr>
                        <a:lnSpc>
                          <a:spcPct val="102000"/>
                        </a:lnSpc>
                      </a:pPr>
                      <a:r>
                        <a:rPr sz="900" b="0" i="0">
                          <a:solidFill>
                            <a:srgbClr val="2A2C45"/>
                          </a:solidFill>
                          <a:latin typeface="Montserrat"/>
                        </a:rPr>
                        <a:t>Extend existing cause coding (technical, employee error) with product, sales-practice and collection causes; quarterly root-cause review</a:t>
                      </a:r>
                    </a:p>
                  </a:txBody>
                  <a:tcPr marL="64008" marR="64008" anchor="ctr">
                    <a:solidFill>
                      <a:srgbClr val="FFFFFF"/>
                    </a:solidFill>
                  </a:tcPr>
                </a:tc>
                <a:extLst>
                  <a:ext uri="{0D108BD9-81ED-4DB2-BD59-A6C34878D82A}">
                    <a16:rowId xmlns:a16="http://schemas.microsoft.com/office/drawing/2014/main" val="10007"/>
                  </a:ext>
                </a:extLst>
              </a:tr>
              <a:tr h="398272">
                <a:tc>
                  <a:txBody>
                    <a:bodyPr/>
                    <a:lstStyle/>
                    <a:p>
                      <a:pPr>
                        <a:lnSpc>
                          <a:spcPct val="102000"/>
                        </a:lnSpc>
                      </a:pPr>
                      <a:r>
                        <a:rPr sz="900" b="1" i="0">
                          <a:solidFill>
                            <a:srgbClr val="0F1129"/>
                          </a:solidFill>
                          <a:latin typeface="Montserrat"/>
                        </a:rPr>
                        <a:t>Engagement &amp; dialogue</a:t>
                      </a:r>
                    </a:p>
                  </a:txBody>
                  <a:tcPr marL="64008" marR="64008" anchor="ctr">
                    <a:solidFill>
                      <a:srgbClr val="FFFFFF"/>
                    </a:solidFill>
                  </a:tcPr>
                </a:tc>
                <a:tc>
                  <a:txBody>
                    <a:bodyPr/>
                    <a:lstStyle/>
                    <a:p>
                      <a:pPr>
                        <a:lnSpc>
                          <a:spcPct val="102000"/>
                        </a:lnSpc>
                      </a:pPr>
                      <a:r>
                        <a:rPr sz="900" b="0" i="0" dirty="0">
                          <a:solidFill>
                            <a:srgbClr val="2A2C45"/>
                          </a:solidFill>
                          <a:latin typeface="Montserrat"/>
                        </a:rPr>
                        <a:t>Design and review of the upgrade with borrowers, staff and consumer-rights CSOs</a:t>
                      </a:r>
                    </a:p>
                  </a:txBody>
                  <a:tcPr marL="64008" marR="64008" anchor="ct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18</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Next Steps</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TextBox 10"/>
          <p:cNvSpPr txBox="1"/>
          <p:nvPr/>
        </p:nvSpPr>
        <p:spPr>
          <a:xfrm>
            <a:off x="1371600" y="1938528"/>
            <a:ext cx="5943600" cy="228600"/>
          </a:xfrm>
          <a:prstGeom prst="rect">
            <a:avLst/>
          </a:prstGeom>
          <a:noFill/>
        </p:spPr>
        <p:txBody>
          <a:bodyPr wrap="square" lIns="0" tIns="0" rIns="0" bIns="0" anchor="t">
            <a:spAutoFit/>
          </a:bodyPr>
          <a:lstStyle/>
          <a:p>
            <a:pPr>
              <a:lnSpc>
                <a:spcPct val="108000"/>
              </a:lnSpc>
              <a:spcAft>
                <a:spcPts val="300"/>
              </a:spcAft>
            </a:pPr>
            <a:r>
              <a:rPr sz="850" b="1" i="0">
                <a:solidFill>
                  <a:srgbClr val="6B6F8A"/>
                </a:solidFill>
                <a:latin typeface="Montserrat"/>
              </a:rPr>
              <a:t>Next step</a:t>
            </a:r>
          </a:p>
        </p:txBody>
      </p:sp>
      <p:sp>
        <p:nvSpPr>
          <p:cNvPr id="12" name="TextBox 11"/>
          <p:cNvSpPr txBox="1"/>
          <p:nvPr/>
        </p:nvSpPr>
        <p:spPr>
          <a:xfrm>
            <a:off x="7360920" y="1938528"/>
            <a:ext cx="2377440" cy="228600"/>
          </a:xfrm>
          <a:prstGeom prst="rect">
            <a:avLst/>
          </a:prstGeom>
          <a:noFill/>
        </p:spPr>
        <p:txBody>
          <a:bodyPr wrap="square" lIns="0" tIns="0" rIns="0" bIns="0" anchor="t">
            <a:spAutoFit/>
          </a:bodyPr>
          <a:lstStyle/>
          <a:p>
            <a:pPr>
              <a:lnSpc>
                <a:spcPct val="108000"/>
              </a:lnSpc>
              <a:spcAft>
                <a:spcPts val="300"/>
              </a:spcAft>
            </a:pPr>
            <a:r>
              <a:rPr sz="850" b="1" i="0">
                <a:solidFill>
                  <a:srgbClr val="6B6F8A"/>
                </a:solidFill>
                <a:latin typeface="Montserrat"/>
              </a:rPr>
              <a:t>Deliverable</a:t>
            </a:r>
          </a:p>
        </p:txBody>
      </p:sp>
      <p:sp>
        <p:nvSpPr>
          <p:cNvPr id="13" name="TextBox 12"/>
          <p:cNvSpPr txBox="1"/>
          <p:nvPr/>
        </p:nvSpPr>
        <p:spPr>
          <a:xfrm>
            <a:off x="9784080" y="1938528"/>
            <a:ext cx="1737360" cy="228600"/>
          </a:xfrm>
          <a:prstGeom prst="rect">
            <a:avLst/>
          </a:prstGeom>
          <a:noFill/>
        </p:spPr>
        <p:txBody>
          <a:bodyPr wrap="square" lIns="0" tIns="0" rIns="0" bIns="0" anchor="t">
            <a:spAutoFit/>
          </a:bodyPr>
          <a:lstStyle/>
          <a:p>
            <a:pPr>
              <a:lnSpc>
                <a:spcPct val="108000"/>
              </a:lnSpc>
              <a:spcAft>
                <a:spcPts val="300"/>
              </a:spcAft>
            </a:pPr>
            <a:r>
              <a:rPr sz="850" b="1" i="0">
                <a:solidFill>
                  <a:srgbClr val="6B6F8A"/>
                </a:solidFill>
                <a:latin typeface="Montserrat"/>
              </a:rPr>
              <a:t>Owner</a:t>
            </a:r>
          </a:p>
        </p:txBody>
      </p:sp>
      <p:sp>
        <p:nvSpPr>
          <p:cNvPr id="14" name="Rounded Rectangle 13"/>
          <p:cNvSpPr/>
          <p:nvPr/>
        </p:nvSpPr>
        <p:spPr>
          <a:xfrm>
            <a:off x="548640" y="2212848"/>
            <a:ext cx="11091672" cy="73152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5" name="Rounded Rectangle 14"/>
          <p:cNvSpPr/>
          <p:nvPr/>
        </p:nvSpPr>
        <p:spPr>
          <a:xfrm>
            <a:off x="777240" y="2395728"/>
            <a:ext cx="365760" cy="365760"/>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16" name="TextBox 15"/>
          <p:cNvSpPr txBox="1"/>
          <p:nvPr/>
        </p:nvSpPr>
        <p:spPr>
          <a:xfrm>
            <a:off x="777240" y="2395728"/>
            <a:ext cx="365760" cy="365760"/>
          </a:xfrm>
          <a:prstGeom prst="rect">
            <a:avLst/>
          </a:prstGeom>
          <a:noFill/>
        </p:spPr>
        <p:txBody>
          <a:bodyPr wrap="square" lIns="0" tIns="0" rIns="0" bIns="0" anchor="ctr">
            <a:spAutoFit/>
          </a:bodyPr>
          <a:lstStyle/>
          <a:p>
            <a:pPr algn="ctr">
              <a:lnSpc>
                <a:spcPct val="108000"/>
              </a:lnSpc>
              <a:spcAft>
                <a:spcPts val="300"/>
              </a:spcAft>
            </a:pPr>
            <a:r>
              <a:rPr sz="1200" b="1" i="0">
                <a:solidFill>
                  <a:srgbClr val="FFFFFF"/>
                </a:solidFill>
                <a:latin typeface="Montserrat"/>
              </a:rPr>
              <a:t>1</a:t>
            </a:r>
          </a:p>
        </p:txBody>
      </p:sp>
      <p:sp>
        <p:nvSpPr>
          <p:cNvPr id="17" name="TextBox 16"/>
          <p:cNvSpPr txBox="1"/>
          <p:nvPr/>
        </p:nvSpPr>
        <p:spPr>
          <a:xfrm>
            <a:off x="1371600" y="2212848"/>
            <a:ext cx="5806440" cy="731520"/>
          </a:xfrm>
          <a:prstGeom prst="rect">
            <a:avLst/>
          </a:prstGeom>
          <a:noFill/>
        </p:spPr>
        <p:txBody>
          <a:bodyPr wrap="square" lIns="0" tIns="0" rIns="0" bIns="0" anchor="ctr">
            <a:spAutoFit/>
          </a:bodyPr>
          <a:lstStyle/>
          <a:p>
            <a:pPr>
              <a:lnSpc>
                <a:spcPct val="108000"/>
              </a:lnSpc>
              <a:spcAft>
                <a:spcPts val="300"/>
              </a:spcAft>
            </a:pPr>
            <a:r>
              <a:rPr sz="1050" b="1" i="0">
                <a:solidFill>
                  <a:srgbClr val="0F1129"/>
                </a:solidFill>
                <a:latin typeface="Montserrat"/>
              </a:rPr>
              <a:t>Present this plan to the Management Board and appoint a human rights owner</a:t>
            </a:r>
          </a:p>
        </p:txBody>
      </p:sp>
      <p:sp>
        <p:nvSpPr>
          <p:cNvPr id="18" name="TextBox 17"/>
          <p:cNvSpPr txBox="1"/>
          <p:nvPr/>
        </p:nvSpPr>
        <p:spPr>
          <a:xfrm>
            <a:off x="7360920" y="2212848"/>
            <a:ext cx="2286000" cy="731520"/>
          </a:xfrm>
          <a:prstGeom prst="rect">
            <a:avLst/>
          </a:prstGeom>
          <a:noFill/>
        </p:spPr>
        <p:txBody>
          <a:bodyPr wrap="square" lIns="0" tIns="0" rIns="0" bIns="0" anchor="ctr">
            <a:spAutoFit/>
          </a:bodyPr>
          <a:lstStyle/>
          <a:p>
            <a:pPr>
              <a:lnSpc>
                <a:spcPct val="102000"/>
              </a:lnSpc>
              <a:spcAft>
                <a:spcPts val="300"/>
              </a:spcAft>
            </a:pPr>
            <a:r>
              <a:rPr sz="880" b="0" i="0" dirty="0">
                <a:solidFill>
                  <a:srgbClr val="2A2C45"/>
                </a:solidFill>
                <a:latin typeface="Montserrat"/>
              </a:rPr>
              <a:t>Mandate, owner, cross-functional working group</a:t>
            </a:r>
          </a:p>
        </p:txBody>
      </p:sp>
      <p:sp>
        <p:nvSpPr>
          <p:cNvPr id="19" name="Rounded Rectangle 18"/>
          <p:cNvSpPr/>
          <p:nvPr/>
        </p:nvSpPr>
        <p:spPr>
          <a:xfrm>
            <a:off x="9784080" y="2395728"/>
            <a:ext cx="1691640" cy="365760"/>
          </a:xfrm>
          <a:prstGeom prst="roundRect">
            <a:avLst>
              <a:gd name="adj" fmla="val 30000"/>
            </a:avLst>
          </a:prstGeom>
          <a:solidFill>
            <a:srgbClr val="FDECEC"/>
          </a:solidFill>
          <a:ln>
            <a:noFill/>
          </a:ln>
          <a:effectLst/>
        </p:spPr>
        <p:txBody>
          <a:bodyPr rtlCol="0" anchor="ctr"/>
          <a:lstStyle/>
          <a:p>
            <a:pPr algn="ctr"/>
            <a:endParaRPr/>
          </a:p>
        </p:txBody>
      </p:sp>
      <p:sp>
        <p:nvSpPr>
          <p:cNvPr id="20" name="TextBox 19"/>
          <p:cNvSpPr txBox="1"/>
          <p:nvPr/>
        </p:nvSpPr>
        <p:spPr>
          <a:xfrm>
            <a:off x="9829800" y="2395728"/>
            <a:ext cx="1600200" cy="365760"/>
          </a:xfrm>
          <a:prstGeom prst="rect">
            <a:avLst/>
          </a:prstGeom>
          <a:noFill/>
        </p:spPr>
        <p:txBody>
          <a:bodyPr wrap="square" lIns="0" tIns="0" rIns="0" bIns="0" anchor="ctr">
            <a:spAutoFit/>
          </a:bodyPr>
          <a:lstStyle/>
          <a:p>
            <a:pPr algn="ctr">
              <a:lnSpc>
                <a:spcPct val="100000"/>
              </a:lnSpc>
              <a:spcAft>
                <a:spcPts val="300"/>
              </a:spcAft>
            </a:pPr>
            <a:r>
              <a:rPr sz="780" b="1" i="0">
                <a:solidFill>
                  <a:srgbClr val="E4202E"/>
                </a:solidFill>
                <a:latin typeface="Montserrat"/>
              </a:rPr>
              <a:t>CEO office, ESG</a:t>
            </a:r>
          </a:p>
        </p:txBody>
      </p:sp>
      <p:sp>
        <p:nvSpPr>
          <p:cNvPr id="21" name="Rounded Rectangle 20"/>
          <p:cNvSpPr/>
          <p:nvPr/>
        </p:nvSpPr>
        <p:spPr>
          <a:xfrm>
            <a:off x="548640" y="3035808"/>
            <a:ext cx="11091672" cy="73152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2" name="Rounded Rectangle 21"/>
          <p:cNvSpPr/>
          <p:nvPr/>
        </p:nvSpPr>
        <p:spPr>
          <a:xfrm>
            <a:off x="777240" y="3218688"/>
            <a:ext cx="365760" cy="365760"/>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23" name="TextBox 22"/>
          <p:cNvSpPr txBox="1"/>
          <p:nvPr/>
        </p:nvSpPr>
        <p:spPr>
          <a:xfrm>
            <a:off x="777240" y="3218688"/>
            <a:ext cx="365760" cy="365760"/>
          </a:xfrm>
          <a:prstGeom prst="rect">
            <a:avLst/>
          </a:prstGeom>
          <a:noFill/>
        </p:spPr>
        <p:txBody>
          <a:bodyPr wrap="square" lIns="0" tIns="0" rIns="0" bIns="0" anchor="ctr">
            <a:spAutoFit/>
          </a:bodyPr>
          <a:lstStyle/>
          <a:p>
            <a:pPr algn="ctr">
              <a:lnSpc>
                <a:spcPct val="108000"/>
              </a:lnSpc>
              <a:spcAft>
                <a:spcPts val="300"/>
              </a:spcAft>
            </a:pPr>
            <a:r>
              <a:rPr sz="1200" b="1" i="0">
                <a:solidFill>
                  <a:srgbClr val="FFFFFF"/>
                </a:solidFill>
                <a:latin typeface="Montserrat"/>
              </a:rPr>
              <a:t>2</a:t>
            </a:r>
          </a:p>
        </p:txBody>
      </p:sp>
      <p:sp>
        <p:nvSpPr>
          <p:cNvPr id="24" name="TextBox 23"/>
          <p:cNvSpPr txBox="1"/>
          <p:nvPr/>
        </p:nvSpPr>
        <p:spPr>
          <a:xfrm>
            <a:off x="1371600" y="3035808"/>
            <a:ext cx="5806440" cy="73152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Run the HRDD Workbook for issues 2–4</a:t>
            </a:r>
          </a:p>
        </p:txBody>
      </p:sp>
      <p:sp>
        <p:nvSpPr>
          <p:cNvPr id="25" name="TextBox 24"/>
          <p:cNvSpPr txBox="1"/>
          <p:nvPr/>
        </p:nvSpPr>
        <p:spPr>
          <a:xfrm>
            <a:off x="7360920" y="3035808"/>
            <a:ext cx="2286000" cy="731520"/>
          </a:xfrm>
          <a:prstGeom prst="rect">
            <a:avLst/>
          </a:prstGeom>
          <a:noFill/>
        </p:spPr>
        <p:txBody>
          <a:bodyPr wrap="square" lIns="0" tIns="0" rIns="0" bIns="0" anchor="ctr">
            <a:spAutoFit/>
          </a:bodyPr>
          <a:lstStyle/>
          <a:p>
            <a:pPr>
              <a:lnSpc>
                <a:spcPct val="102000"/>
              </a:lnSpc>
              <a:spcAft>
                <a:spcPts val="300"/>
              </a:spcAft>
            </a:pPr>
            <a:r>
              <a:rPr sz="880" b="0" i="0" dirty="0">
                <a:solidFill>
                  <a:srgbClr val="2A2C45"/>
                </a:solidFill>
                <a:latin typeface="Montserrat"/>
              </a:rPr>
              <a:t>Action plans for data &amp; fraud, AI scoring, financed clients</a:t>
            </a:r>
          </a:p>
        </p:txBody>
      </p:sp>
      <p:sp>
        <p:nvSpPr>
          <p:cNvPr id="26" name="Rounded Rectangle 25"/>
          <p:cNvSpPr/>
          <p:nvPr/>
        </p:nvSpPr>
        <p:spPr>
          <a:xfrm>
            <a:off x="9784080" y="3218688"/>
            <a:ext cx="1691640" cy="365760"/>
          </a:xfrm>
          <a:prstGeom prst="roundRect">
            <a:avLst>
              <a:gd name="adj" fmla="val 30000"/>
            </a:avLst>
          </a:prstGeom>
          <a:solidFill>
            <a:srgbClr val="FDECEC"/>
          </a:solidFill>
          <a:ln>
            <a:noFill/>
          </a:ln>
          <a:effectLst/>
        </p:spPr>
        <p:txBody>
          <a:bodyPr rtlCol="0" anchor="ctr"/>
          <a:lstStyle/>
          <a:p>
            <a:pPr algn="ctr"/>
            <a:endParaRPr/>
          </a:p>
        </p:txBody>
      </p:sp>
      <p:sp>
        <p:nvSpPr>
          <p:cNvPr id="27" name="TextBox 26"/>
          <p:cNvSpPr txBox="1"/>
          <p:nvPr/>
        </p:nvSpPr>
        <p:spPr>
          <a:xfrm>
            <a:off x="9829800" y="3218688"/>
            <a:ext cx="1600200" cy="365760"/>
          </a:xfrm>
          <a:prstGeom prst="rect">
            <a:avLst/>
          </a:prstGeom>
          <a:noFill/>
        </p:spPr>
        <p:txBody>
          <a:bodyPr wrap="square" lIns="0" tIns="0" rIns="0" bIns="0" anchor="ctr">
            <a:spAutoFit/>
          </a:bodyPr>
          <a:lstStyle/>
          <a:p>
            <a:pPr algn="ctr">
              <a:lnSpc>
                <a:spcPct val="100000"/>
              </a:lnSpc>
              <a:spcAft>
                <a:spcPts val="300"/>
              </a:spcAft>
            </a:pPr>
            <a:r>
              <a:rPr sz="780" b="1" i="0">
                <a:solidFill>
                  <a:srgbClr val="E4202E"/>
                </a:solidFill>
                <a:latin typeface="Montserrat"/>
              </a:rPr>
              <a:t>Risk, Data/AI, Corporate Banking</a:t>
            </a:r>
          </a:p>
        </p:txBody>
      </p:sp>
      <p:sp>
        <p:nvSpPr>
          <p:cNvPr id="28" name="Rounded Rectangle 27"/>
          <p:cNvSpPr/>
          <p:nvPr/>
        </p:nvSpPr>
        <p:spPr>
          <a:xfrm>
            <a:off x="548640" y="3858768"/>
            <a:ext cx="11091672" cy="73152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29" name="Rounded Rectangle 28"/>
          <p:cNvSpPr/>
          <p:nvPr/>
        </p:nvSpPr>
        <p:spPr>
          <a:xfrm>
            <a:off x="777240" y="4041648"/>
            <a:ext cx="365760" cy="365760"/>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0" name="TextBox 29"/>
          <p:cNvSpPr txBox="1"/>
          <p:nvPr/>
        </p:nvSpPr>
        <p:spPr>
          <a:xfrm>
            <a:off x="777240" y="4041648"/>
            <a:ext cx="365760" cy="365760"/>
          </a:xfrm>
          <a:prstGeom prst="rect">
            <a:avLst/>
          </a:prstGeom>
          <a:noFill/>
        </p:spPr>
        <p:txBody>
          <a:bodyPr wrap="square" lIns="0" tIns="0" rIns="0" bIns="0" anchor="ctr">
            <a:spAutoFit/>
          </a:bodyPr>
          <a:lstStyle/>
          <a:p>
            <a:pPr algn="ctr">
              <a:lnSpc>
                <a:spcPct val="108000"/>
              </a:lnSpc>
              <a:spcAft>
                <a:spcPts val="300"/>
              </a:spcAft>
            </a:pPr>
            <a:r>
              <a:rPr sz="1200" b="1" i="0">
                <a:solidFill>
                  <a:srgbClr val="FFFFFF"/>
                </a:solidFill>
                <a:latin typeface="Montserrat"/>
              </a:rPr>
              <a:t>3</a:t>
            </a:r>
          </a:p>
        </p:txBody>
      </p:sp>
      <p:sp>
        <p:nvSpPr>
          <p:cNvPr id="31" name="TextBox 30"/>
          <p:cNvSpPr txBox="1"/>
          <p:nvPr/>
        </p:nvSpPr>
        <p:spPr>
          <a:xfrm>
            <a:off x="1371600" y="3858768"/>
            <a:ext cx="5806440" cy="73152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Start actions A1–A4 on issue 1</a:t>
            </a:r>
          </a:p>
        </p:txBody>
      </p:sp>
      <p:sp>
        <p:nvSpPr>
          <p:cNvPr id="32" name="TextBox 31"/>
          <p:cNvSpPr txBox="1"/>
          <p:nvPr/>
        </p:nvSpPr>
        <p:spPr>
          <a:xfrm>
            <a:off x="7360920" y="3858768"/>
            <a:ext cx="2286000" cy="731520"/>
          </a:xfrm>
          <a:prstGeom prst="rect">
            <a:avLst/>
          </a:prstGeom>
          <a:noFill/>
        </p:spPr>
        <p:txBody>
          <a:bodyPr wrap="square" lIns="0" tIns="0" rIns="0" bIns="0" anchor="ctr">
            <a:spAutoFit/>
          </a:bodyPr>
          <a:lstStyle/>
          <a:p>
            <a:pPr>
              <a:lnSpc>
                <a:spcPct val="102000"/>
              </a:lnSpc>
              <a:spcAft>
                <a:spcPts val="300"/>
              </a:spcAft>
            </a:pPr>
            <a:r>
              <a:rPr sz="880" b="0" i="0" dirty="0">
                <a:solidFill>
                  <a:srgbClr val="2A2C45"/>
                </a:solidFill>
                <a:latin typeface="Montserrat"/>
              </a:rPr>
              <a:t>Standard and code drafts; pilot in selected branches</a:t>
            </a:r>
          </a:p>
        </p:txBody>
      </p:sp>
      <p:sp>
        <p:nvSpPr>
          <p:cNvPr id="33" name="Rounded Rectangle 32"/>
          <p:cNvSpPr/>
          <p:nvPr/>
        </p:nvSpPr>
        <p:spPr>
          <a:xfrm>
            <a:off x="9784080" y="4041648"/>
            <a:ext cx="1691640" cy="365760"/>
          </a:xfrm>
          <a:prstGeom prst="roundRect">
            <a:avLst>
              <a:gd name="adj" fmla="val 30000"/>
            </a:avLst>
          </a:prstGeom>
          <a:solidFill>
            <a:srgbClr val="FDECEC"/>
          </a:solidFill>
          <a:ln>
            <a:noFill/>
          </a:ln>
          <a:effectLst/>
        </p:spPr>
        <p:txBody>
          <a:bodyPr rtlCol="0" anchor="ctr"/>
          <a:lstStyle/>
          <a:p>
            <a:pPr algn="ctr"/>
            <a:endParaRPr/>
          </a:p>
        </p:txBody>
      </p:sp>
      <p:sp>
        <p:nvSpPr>
          <p:cNvPr id="34" name="TextBox 33"/>
          <p:cNvSpPr txBox="1"/>
          <p:nvPr/>
        </p:nvSpPr>
        <p:spPr>
          <a:xfrm>
            <a:off x="9829800" y="4041648"/>
            <a:ext cx="1600200" cy="365760"/>
          </a:xfrm>
          <a:prstGeom prst="rect">
            <a:avLst/>
          </a:prstGeom>
          <a:noFill/>
        </p:spPr>
        <p:txBody>
          <a:bodyPr wrap="square" lIns="0" tIns="0" rIns="0" bIns="0" anchor="ctr">
            <a:spAutoFit/>
          </a:bodyPr>
          <a:lstStyle/>
          <a:p>
            <a:pPr algn="ctr">
              <a:lnSpc>
                <a:spcPct val="100000"/>
              </a:lnSpc>
              <a:spcAft>
                <a:spcPts val="300"/>
              </a:spcAft>
            </a:pPr>
            <a:r>
              <a:rPr sz="780" b="1" i="0">
                <a:solidFill>
                  <a:srgbClr val="E4202E"/>
                </a:solidFill>
                <a:latin typeface="Montserrat"/>
              </a:rPr>
              <a:t>Retail, Collections</a:t>
            </a:r>
          </a:p>
        </p:txBody>
      </p:sp>
      <p:sp>
        <p:nvSpPr>
          <p:cNvPr id="35" name="Rounded Rectangle 34"/>
          <p:cNvSpPr/>
          <p:nvPr/>
        </p:nvSpPr>
        <p:spPr>
          <a:xfrm>
            <a:off x="548640" y="4681728"/>
            <a:ext cx="11091672" cy="73152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36" name="Rounded Rectangle 35"/>
          <p:cNvSpPr/>
          <p:nvPr/>
        </p:nvSpPr>
        <p:spPr>
          <a:xfrm>
            <a:off x="777240" y="4864608"/>
            <a:ext cx="365760" cy="365760"/>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7" name="TextBox 36"/>
          <p:cNvSpPr txBox="1"/>
          <p:nvPr/>
        </p:nvSpPr>
        <p:spPr>
          <a:xfrm>
            <a:off x="777240" y="4864608"/>
            <a:ext cx="365760" cy="365760"/>
          </a:xfrm>
          <a:prstGeom prst="rect">
            <a:avLst/>
          </a:prstGeom>
          <a:noFill/>
        </p:spPr>
        <p:txBody>
          <a:bodyPr wrap="square" lIns="0" tIns="0" rIns="0" bIns="0" anchor="ctr">
            <a:spAutoFit/>
          </a:bodyPr>
          <a:lstStyle/>
          <a:p>
            <a:pPr algn="ctr">
              <a:lnSpc>
                <a:spcPct val="108000"/>
              </a:lnSpc>
              <a:spcAft>
                <a:spcPts val="300"/>
              </a:spcAft>
            </a:pPr>
            <a:r>
              <a:rPr sz="1200" b="1" i="0">
                <a:solidFill>
                  <a:srgbClr val="FFFFFF"/>
                </a:solidFill>
                <a:latin typeface="Montserrat"/>
              </a:rPr>
              <a:t>4</a:t>
            </a:r>
          </a:p>
        </p:txBody>
      </p:sp>
      <p:sp>
        <p:nvSpPr>
          <p:cNvPr id="38" name="TextBox 37"/>
          <p:cNvSpPr txBox="1"/>
          <p:nvPr/>
        </p:nvSpPr>
        <p:spPr>
          <a:xfrm>
            <a:off x="1371600" y="4681728"/>
            <a:ext cx="5806440" cy="73152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Hold the first stakeholder consultations</a:t>
            </a:r>
          </a:p>
        </p:txBody>
      </p:sp>
      <p:sp>
        <p:nvSpPr>
          <p:cNvPr id="39" name="TextBox 38"/>
          <p:cNvSpPr txBox="1"/>
          <p:nvPr/>
        </p:nvSpPr>
        <p:spPr>
          <a:xfrm>
            <a:off x="7360920" y="4681728"/>
            <a:ext cx="2286000" cy="731520"/>
          </a:xfrm>
          <a:prstGeom prst="rect">
            <a:avLst/>
          </a:prstGeom>
          <a:noFill/>
        </p:spPr>
        <p:txBody>
          <a:bodyPr wrap="square" lIns="0" tIns="0" rIns="0" bIns="0" anchor="ctr">
            <a:spAutoFit/>
          </a:bodyPr>
          <a:lstStyle/>
          <a:p>
            <a:pPr>
              <a:lnSpc>
                <a:spcPct val="102000"/>
              </a:lnSpc>
              <a:spcAft>
                <a:spcPts val="300"/>
              </a:spcAft>
            </a:pPr>
            <a:r>
              <a:rPr sz="880" b="0" i="0" dirty="0">
                <a:solidFill>
                  <a:srgbClr val="2A2C45"/>
                </a:solidFill>
                <a:latin typeface="Montserrat"/>
              </a:rPr>
              <a:t>Findings from borrowers, staff and CSR partners</a:t>
            </a:r>
          </a:p>
        </p:txBody>
      </p:sp>
      <p:sp>
        <p:nvSpPr>
          <p:cNvPr id="40" name="Rounded Rectangle 39"/>
          <p:cNvSpPr/>
          <p:nvPr/>
        </p:nvSpPr>
        <p:spPr>
          <a:xfrm>
            <a:off x="9784080" y="4864608"/>
            <a:ext cx="1691640" cy="365760"/>
          </a:xfrm>
          <a:prstGeom prst="roundRect">
            <a:avLst>
              <a:gd name="adj" fmla="val 30000"/>
            </a:avLst>
          </a:prstGeom>
          <a:solidFill>
            <a:srgbClr val="FDECEC"/>
          </a:solidFill>
          <a:ln>
            <a:noFill/>
          </a:ln>
          <a:effectLst/>
        </p:spPr>
        <p:txBody>
          <a:bodyPr rtlCol="0" anchor="ctr"/>
          <a:lstStyle/>
          <a:p>
            <a:pPr algn="ctr"/>
            <a:endParaRPr/>
          </a:p>
        </p:txBody>
      </p:sp>
      <p:sp>
        <p:nvSpPr>
          <p:cNvPr id="41" name="TextBox 40"/>
          <p:cNvSpPr txBox="1"/>
          <p:nvPr/>
        </p:nvSpPr>
        <p:spPr>
          <a:xfrm>
            <a:off x="9829800" y="4864608"/>
            <a:ext cx="1600200" cy="365760"/>
          </a:xfrm>
          <a:prstGeom prst="rect">
            <a:avLst/>
          </a:prstGeom>
          <a:noFill/>
        </p:spPr>
        <p:txBody>
          <a:bodyPr wrap="square" lIns="0" tIns="0" rIns="0" bIns="0" anchor="ctr">
            <a:spAutoFit/>
          </a:bodyPr>
          <a:lstStyle/>
          <a:p>
            <a:pPr algn="ctr">
              <a:lnSpc>
                <a:spcPct val="100000"/>
              </a:lnSpc>
              <a:spcAft>
                <a:spcPts val="300"/>
              </a:spcAft>
            </a:pPr>
            <a:r>
              <a:rPr sz="780" b="1" i="0" dirty="0">
                <a:solidFill>
                  <a:srgbClr val="E4202E"/>
                </a:solidFill>
                <a:latin typeface="Montserrat"/>
              </a:rPr>
              <a:t>Customer Service, CSR team</a:t>
            </a:r>
          </a:p>
        </p:txBody>
      </p:sp>
      <p:sp>
        <p:nvSpPr>
          <p:cNvPr id="42" name="Rounded Rectangle 41"/>
          <p:cNvSpPr/>
          <p:nvPr/>
        </p:nvSpPr>
        <p:spPr>
          <a:xfrm>
            <a:off x="548640" y="5504688"/>
            <a:ext cx="11091672" cy="731520"/>
          </a:xfrm>
          <a:prstGeom prst="roundRect">
            <a:avLst>
              <a:gd name="adj" fmla="val 6000"/>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43" name="Rounded Rectangle 42"/>
          <p:cNvSpPr/>
          <p:nvPr/>
        </p:nvSpPr>
        <p:spPr>
          <a:xfrm>
            <a:off x="777240" y="5687568"/>
            <a:ext cx="365760" cy="365760"/>
          </a:xfrm>
          <a:prstGeom prst="roundRect">
            <a:avLst>
              <a:gd name="adj" fmla="val 25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44" name="TextBox 43"/>
          <p:cNvSpPr txBox="1"/>
          <p:nvPr/>
        </p:nvSpPr>
        <p:spPr>
          <a:xfrm>
            <a:off x="777240" y="5687568"/>
            <a:ext cx="365760" cy="365760"/>
          </a:xfrm>
          <a:prstGeom prst="rect">
            <a:avLst/>
          </a:prstGeom>
          <a:noFill/>
        </p:spPr>
        <p:txBody>
          <a:bodyPr wrap="square" lIns="0" tIns="0" rIns="0" bIns="0" anchor="ctr">
            <a:spAutoFit/>
          </a:bodyPr>
          <a:lstStyle/>
          <a:p>
            <a:pPr algn="ctr">
              <a:lnSpc>
                <a:spcPct val="108000"/>
              </a:lnSpc>
              <a:spcAft>
                <a:spcPts val="300"/>
              </a:spcAft>
            </a:pPr>
            <a:r>
              <a:rPr sz="1200" b="1" i="0">
                <a:solidFill>
                  <a:srgbClr val="FFFFFF"/>
                </a:solidFill>
                <a:latin typeface="Montserrat"/>
              </a:rPr>
              <a:t>5</a:t>
            </a:r>
          </a:p>
        </p:txBody>
      </p:sp>
      <p:sp>
        <p:nvSpPr>
          <p:cNvPr id="45" name="TextBox 44"/>
          <p:cNvSpPr txBox="1"/>
          <p:nvPr/>
        </p:nvSpPr>
        <p:spPr>
          <a:xfrm>
            <a:off x="1371600" y="5504688"/>
            <a:ext cx="5806440" cy="731520"/>
          </a:xfrm>
          <a:prstGeom prst="rect">
            <a:avLst/>
          </a:prstGeom>
          <a:noFill/>
        </p:spPr>
        <p:txBody>
          <a:bodyPr wrap="square" lIns="0" tIns="0" rIns="0" bIns="0" anchor="ctr">
            <a:spAutoFit/>
          </a:bodyPr>
          <a:lstStyle/>
          <a:p>
            <a:pPr>
              <a:lnSpc>
                <a:spcPct val="108000"/>
              </a:lnSpc>
              <a:spcAft>
                <a:spcPts val="300"/>
              </a:spcAft>
            </a:pPr>
            <a:r>
              <a:rPr sz="1050" b="1" i="0" dirty="0">
                <a:solidFill>
                  <a:srgbClr val="0F1129"/>
                </a:solidFill>
                <a:latin typeface="Montserrat"/>
              </a:rPr>
              <a:t>Prepare the first human rights disclosure</a:t>
            </a:r>
          </a:p>
        </p:txBody>
      </p:sp>
      <p:sp>
        <p:nvSpPr>
          <p:cNvPr id="46" name="TextBox 45"/>
          <p:cNvSpPr txBox="1"/>
          <p:nvPr/>
        </p:nvSpPr>
        <p:spPr>
          <a:xfrm>
            <a:off x="7360920" y="5504688"/>
            <a:ext cx="2286000" cy="731520"/>
          </a:xfrm>
          <a:prstGeom prst="rect">
            <a:avLst/>
          </a:prstGeom>
          <a:noFill/>
        </p:spPr>
        <p:txBody>
          <a:bodyPr wrap="square" lIns="0" tIns="0" rIns="0" bIns="0" anchor="ctr">
            <a:spAutoFit/>
          </a:bodyPr>
          <a:lstStyle/>
          <a:p>
            <a:pPr>
              <a:lnSpc>
                <a:spcPct val="102000"/>
              </a:lnSpc>
              <a:spcAft>
                <a:spcPts val="300"/>
              </a:spcAft>
            </a:pPr>
            <a:r>
              <a:rPr sz="880" b="0" i="0">
                <a:solidFill>
                  <a:srgbClr val="2A2C45"/>
                </a:solidFill>
                <a:latin typeface="Montserrat"/>
              </a:rPr>
              <a:t>Human rights section for the UNGC CoP</a:t>
            </a:r>
          </a:p>
        </p:txBody>
      </p:sp>
      <p:sp>
        <p:nvSpPr>
          <p:cNvPr id="47" name="Rounded Rectangle 46"/>
          <p:cNvSpPr/>
          <p:nvPr/>
        </p:nvSpPr>
        <p:spPr>
          <a:xfrm>
            <a:off x="9784080" y="5687568"/>
            <a:ext cx="1691640" cy="365760"/>
          </a:xfrm>
          <a:prstGeom prst="roundRect">
            <a:avLst>
              <a:gd name="adj" fmla="val 30000"/>
            </a:avLst>
          </a:prstGeom>
          <a:solidFill>
            <a:srgbClr val="FDECEC"/>
          </a:solidFill>
          <a:ln>
            <a:noFill/>
          </a:ln>
          <a:effectLst/>
        </p:spPr>
        <p:txBody>
          <a:bodyPr rtlCol="0" anchor="ctr"/>
          <a:lstStyle/>
          <a:p>
            <a:pPr algn="ctr"/>
            <a:endParaRPr/>
          </a:p>
        </p:txBody>
      </p:sp>
      <p:sp>
        <p:nvSpPr>
          <p:cNvPr id="48" name="TextBox 47"/>
          <p:cNvSpPr txBox="1"/>
          <p:nvPr/>
        </p:nvSpPr>
        <p:spPr>
          <a:xfrm>
            <a:off x="9829800" y="5687568"/>
            <a:ext cx="1600200" cy="365760"/>
          </a:xfrm>
          <a:prstGeom prst="rect">
            <a:avLst/>
          </a:prstGeom>
          <a:noFill/>
        </p:spPr>
        <p:txBody>
          <a:bodyPr wrap="square" lIns="0" tIns="0" rIns="0" bIns="0" anchor="ctr">
            <a:spAutoFit/>
          </a:bodyPr>
          <a:lstStyle/>
          <a:p>
            <a:pPr algn="ctr">
              <a:lnSpc>
                <a:spcPct val="100000"/>
              </a:lnSpc>
              <a:spcAft>
                <a:spcPts val="300"/>
              </a:spcAft>
            </a:pPr>
            <a:r>
              <a:rPr sz="780" b="1" i="0" dirty="0">
                <a:solidFill>
                  <a:srgbClr val="E4202E"/>
                </a:solidFill>
                <a:latin typeface="Montserrat"/>
              </a:rPr>
              <a:t>ESG, Communications</a:t>
            </a:r>
          </a:p>
        </p:txBody>
      </p:sp>
    </p:spTree>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Rounded Rectangle 1"/>
          <p:cNvSpPr/>
          <p:nvPr/>
        </p:nvSpPr>
        <p:spPr>
          <a:xfrm>
            <a:off x="548640" y="347472"/>
            <a:ext cx="365760" cy="365760"/>
          </a:xfrm>
          <a:prstGeom prst="roundRect">
            <a:avLst>
              <a:gd name="adj" fmla="val 22000"/>
            </a:avLst>
          </a:prstGeom>
          <a:gradFill rotWithShape="1">
            <a:gsLst>
              <a:gs pos="0">
                <a:srgbClr val="E4202E"/>
              </a:gs>
              <a:gs pos="100000">
                <a:srgbClr val="FF7A1F"/>
              </a:gs>
            </a:gsLst>
            <a:lin ang="2700000" scaled="0"/>
          </a:gradFill>
          <a:ln>
            <a:noFill/>
          </a:ln>
          <a:effectLst/>
        </p:spPr>
        <p:txBody>
          <a:bodyPr rtlCol="0" anchor="ctr"/>
          <a:lstStyle/>
          <a:p>
            <a:pPr algn="ctr"/>
            <a:endParaRPr/>
          </a:p>
        </p:txBody>
      </p:sp>
      <p:sp>
        <p:nvSpPr>
          <p:cNvPr id="3" name="TextBox 2"/>
          <p:cNvSpPr txBox="1"/>
          <p:nvPr/>
        </p:nvSpPr>
        <p:spPr>
          <a:xfrm>
            <a:off x="548640" y="347472"/>
            <a:ext cx="365760" cy="365760"/>
          </a:xfrm>
          <a:prstGeom prst="rect">
            <a:avLst/>
          </a:prstGeom>
          <a:noFill/>
        </p:spPr>
        <p:txBody>
          <a:bodyPr wrap="square" lIns="0" tIns="0" rIns="0" bIns="0" anchor="ctr">
            <a:spAutoFit/>
          </a:bodyPr>
          <a:lstStyle/>
          <a:p>
            <a:pPr algn="ctr">
              <a:lnSpc>
                <a:spcPct val="108000"/>
              </a:lnSpc>
              <a:spcAft>
                <a:spcPts val="300"/>
              </a:spcAft>
            </a:pPr>
            <a:r>
              <a:rPr sz="800" b="1" i="0">
                <a:solidFill>
                  <a:srgbClr val="FFFFFF"/>
                </a:solidFill>
                <a:latin typeface="Montserrat"/>
              </a:rPr>
              <a:t>BHR</a:t>
            </a:r>
          </a:p>
        </p:txBody>
      </p:sp>
      <p:sp>
        <p:nvSpPr>
          <p:cNvPr id="4" name="TextBox 3"/>
          <p:cNvSpPr txBox="1"/>
          <p:nvPr/>
        </p:nvSpPr>
        <p:spPr>
          <a:xfrm>
            <a:off x="1005840" y="347472"/>
            <a:ext cx="4572000" cy="201168"/>
          </a:xfrm>
          <a:prstGeom prst="rect">
            <a:avLst/>
          </a:prstGeom>
          <a:noFill/>
        </p:spPr>
        <p:txBody>
          <a:bodyPr wrap="square" lIns="0" tIns="0" rIns="0" bIns="0" anchor="t">
            <a:spAutoFit/>
          </a:bodyPr>
          <a:lstStyle/>
          <a:p>
            <a:pPr>
              <a:lnSpc>
                <a:spcPct val="108000"/>
              </a:lnSpc>
              <a:spcAft>
                <a:spcPts val="300"/>
              </a:spcAft>
            </a:pPr>
            <a:r>
              <a:rPr sz="1050" b="1" i="0">
                <a:solidFill>
                  <a:srgbClr val="0F1129"/>
                </a:solidFill>
                <a:latin typeface="Montserrat"/>
              </a:rPr>
              <a:t>Human Rights Action Plan</a:t>
            </a:r>
          </a:p>
        </p:txBody>
      </p:sp>
      <p:sp>
        <p:nvSpPr>
          <p:cNvPr id="5" name="TextBox 4"/>
          <p:cNvSpPr txBox="1"/>
          <p:nvPr/>
        </p:nvSpPr>
        <p:spPr>
          <a:xfrm>
            <a:off x="1005840" y="548640"/>
            <a:ext cx="4572000" cy="164592"/>
          </a:xfrm>
          <a:prstGeom prst="rect">
            <a:avLst/>
          </a:prstGeom>
          <a:noFill/>
        </p:spPr>
        <p:txBody>
          <a:bodyPr wrap="square" lIns="0" tIns="0" rIns="0" bIns="0" anchor="t">
            <a:spAutoFit/>
          </a:bodyPr>
          <a:lstStyle/>
          <a:p>
            <a:pPr>
              <a:lnSpc>
                <a:spcPct val="108000"/>
              </a:lnSpc>
              <a:spcAft>
                <a:spcPts val="300"/>
              </a:spcAft>
            </a:pPr>
            <a:r>
              <a:rPr sz="800" b="0" i="0">
                <a:solidFill>
                  <a:srgbClr val="6B6F8A"/>
                </a:solidFill>
                <a:latin typeface="Montserrat"/>
              </a:rPr>
              <a:t>Kapital Bank · BHR Accelerator 2026</a:t>
            </a:r>
          </a:p>
        </p:txBody>
      </p:sp>
      <p:sp>
        <p:nvSpPr>
          <p:cNvPr id="6" name="TextBox 5"/>
          <p:cNvSpPr txBox="1"/>
          <p:nvPr/>
        </p:nvSpPr>
        <p:spPr>
          <a:xfrm>
            <a:off x="548640" y="6473952"/>
            <a:ext cx="9875520" cy="125162"/>
          </a:xfrm>
          <a:prstGeom prst="rect">
            <a:avLst/>
          </a:prstGeom>
          <a:noFill/>
        </p:spPr>
        <p:txBody>
          <a:bodyPr wrap="square" lIns="0" tIns="0" rIns="0" bIns="0" anchor="t">
            <a:spAutoFit/>
          </a:bodyPr>
          <a:lstStyle/>
          <a:p>
            <a:pPr>
              <a:lnSpc>
                <a:spcPct val="108000"/>
              </a:lnSpc>
              <a:spcAft>
                <a:spcPts val="300"/>
              </a:spcAft>
            </a:pPr>
            <a:r>
              <a:rPr sz="800" b="0" i="0" dirty="0">
                <a:solidFill>
                  <a:srgbClr val="6B6F8A"/>
                </a:solidFill>
                <a:latin typeface="Montserrat"/>
              </a:rPr>
              <a:t>Sources: </a:t>
            </a:r>
            <a:r>
              <a:rPr lang="en-US" sz="800" b="0" i="0" dirty="0">
                <a:solidFill>
                  <a:srgbClr val="6B6F8A"/>
                </a:solidFill>
                <a:latin typeface="Montserrat"/>
              </a:rPr>
              <a:t>Kapital Bank CSR Strategy; Complaints Procedure 2024–2025; Sustainability Report 2025</a:t>
            </a:r>
            <a:r>
              <a:rPr sz="800" b="0" i="0" dirty="0">
                <a:solidFill>
                  <a:srgbClr val="6B6F8A"/>
                </a:solidFill>
                <a:latin typeface="Montserrat"/>
              </a:rPr>
              <a:t>; </a:t>
            </a:r>
            <a:r>
              <a:rPr sz="800" b="0" i="0" dirty="0" err="1">
                <a:solidFill>
                  <a:srgbClr val="6B6F8A"/>
                </a:solidFill>
                <a:latin typeface="Montserrat"/>
              </a:rPr>
              <a:t>kapital.bank</a:t>
            </a:r>
            <a:r>
              <a:rPr sz="800" b="0" i="0" dirty="0">
                <a:solidFill>
                  <a:srgbClr val="6B6F8A"/>
                </a:solidFill>
                <a:latin typeface="Montserrat"/>
              </a:rPr>
              <a:t>; UNGC; CBAR; Banker.az</a:t>
            </a:r>
          </a:p>
        </p:txBody>
      </p:sp>
      <p:sp>
        <p:nvSpPr>
          <p:cNvPr id="7" name="TextBox 6"/>
          <p:cNvSpPr txBox="1"/>
          <p:nvPr/>
        </p:nvSpPr>
        <p:spPr>
          <a:xfrm>
            <a:off x="10725912" y="6473952"/>
            <a:ext cx="914400" cy="182880"/>
          </a:xfrm>
          <a:prstGeom prst="rect">
            <a:avLst/>
          </a:prstGeom>
          <a:noFill/>
        </p:spPr>
        <p:txBody>
          <a:bodyPr wrap="square" lIns="0" tIns="0" rIns="0" bIns="0" anchor="t">
            <a:spAutoFit/>
          </a:bodyPr>
          <a:lstStyle/>
          <a:p>
            <a:pPr algn="r">
              <a:lnSpc>
                <a:spcPct val="108000"/>
              </a:lnSpc>
              <a:spcAft>
                <a:spcPts val="300"/>
              </a:spcAft>
            </a:pPr>
            <a:r>
              <a:rPr sz="800" b="0" i="0">
                <a:solidFill>
                  <a:srgbClr val="6B6F8A"/>
                </a:solidFill>
                <a:latin typeface="Montserrat"/>
              </a:rPr>
              <a:t>19</a:t>
            </a:r>
          </a:p>
        </p:txBody>
      </p:sp>
      <p:sp>
        <p:nvSpPr>
          <p:cNvPr id="8" name="TextBox 7"/>
          <p:cNvSpPr txBox="1"/>
          <p:nvPr/>
        </p:nvSpPr>
        <p:spPr>
          <a:xfrm>
            <a:off x="548640" y="914400"/>
            <a:ext cx="11091672" cy="457200"/>
          </a:xfrm>
          <a:prstGeom prst="rect">
            <a:avLst/>
          </a:prstGeom>
          <a:noFill/>
        </p:spPr>
        <p:txBody>
          <a:bodyPr wrap="square" lIns="0" tIns="0" rIns="0" bIns="0" anchor="t">
            <a:spAutoFit/>
          </a:bodyPr>
          <a:lstStyle/>
          <a:p>
            <a:pPr>
              <a:lnSpc>
                <a:spcPct val="108000"/>
              </a:lnSpc>
              <a:spcAft>
                <a:spcPts val="300"/>
              </a:spcAft>
            </a:pPr>
            <a:r>
              <a:rPr sz="2400" b="1" i="0">
                <a:solidFill>
                  <a:srgbClr val="0F1129"/>
                </a:solidFill>
                <a:latin typeface="Montserrat"/>
              </a:rPr>
              <a:t>Timelines</a:t>
            </a:r>
          </a:p>
        </p:txBody>
      </p:sp>
      <p:cxnSp>
        <p:nvCxnSpPr>
          <p:cNvPr id="10" name="Connector 9"/>
          <p:cNvCxnSpPr/>
          <p:nvPr/>
        </p:nvCxnSpPr>
        <p:spPr>
          <a:xfrm>
            <a:off x="548640" y="1847088"/>
            <a:ext cx="11091672" cy="0"/>
          </a:xfrm>
          <a:prstGeom prst="line">
            <a:avLst/>
          </a:prstGeom>
          <a:ln w="9525">
            <a:solidFill>
              <a:srgbClr val="E7E9F2"/>
            </a:solidFill>
          </a:ln>
        </p:spPr>
      </p:cxnSp>
      <p:sp>
        <p:nvSpPr>
          <p:cNvPr id="11" name="Rounded Rectangle 10"/>
          <p:cNvSpPr/>
          <p:nvPr/>
        </p:nvSpPr>
        <p:spPr>
          <a:xfrm>
            <a:off x="548640" y="2011680"/>
            <a:ext cx="11091672" cy="4343400"/>
          </a:xfrm>
          <a:prstGeom prst="roundRect">
            <a:avLst>
              <a:gd name="adj" fmla="val 2105"/>
            </a:avLst>
          </a:prstGeom>
          <a:solidFill>
            <a:srgbClr val="FFFFFF"/>
          </a:solidFill>
          <a:ln w="9525">
            <a:solidFill>
              <a:srgbClr val="E7E9F2"/>
            </a:solidFill>
          </a:ln>
          <a:effectLst>
            <a:outerShdw blurRad="127000" dist="25400" dir="5400000" algn="bl" rotWithShape="0">
              <a:srgbClr val="0F1129">
                <a:alpha val="7000"/>
              </a:srgbClr>
            </a:outerShdw>
          </a:effectLst>
        </p:spPr>
        <p:txBody>
          <a:bodyPr rtlCol="0" anchor="ctr"/>
          <a:lstStyle/>
          <a:p>
            <a:pPr algn="ctr"/>
            <a:endParaRPr/>
          </a:p>
        </p:txBody>
      </p:sp>
      <p:sp>
        <p:nvSpPr>
          <p:cNvPr id="12" name="Rounded Rectangle 11"/>
          <p:cNvSpPr/>
          <p:nvPr/>
        </p:nvSpPr>
        <p:spPr>
          <a:xfrm>
            <a:off x="3950207" y="2194560"/>
            <a:ext cx="1210056" cy="237744"/>
          </a:xfrm>
          <a:prstGeom prst="roundRect">
            <a:avLst>
              <a:gd name="adj" fmla="val 30000"/>
            </a:avLst>
          </a:prstGeom>
          <a:solidFill>
            <a:srgbClr val="F2F3F8"/>
          </a:solidFill>
          <a:ln>
            <a:noFill/>
          </a:ln>
          <a:effectLst/>
        </p:spPr>
        <p:txBody>
          <a:bodyPr rtlCol="0" anchor="ctr"/>
          <a:lstStyle/>
          <a:p>
            <a:pPr algn="ctr"/>
            <a:endParaRPr/>
          </a:p>
        </p:txBody>
      </p:sp>
      <p:sp>
        <p:nvSpPr>
          <p:cNvPr id="13" name="TextBox 12"/>
          <p:cNvSpPr txBox="1"/>
          <p:nvPr/>
        </p:nvSpPr>
        <p:spPr>
          <a:xfrm>
            <a:off x="3931920" y="2194560"/>
            <a:ext cx="1246632" cy="237744"/>
          </a:xfrm>
          <a:prstGeom prst="rect">
            <a:avLst/>
          </a:prstGeom>
          <a:noFill/>
        </p:spPr>
        <p:txBody>
          <a:bodyPr wrap="square" lIns="0" tIns="0" rIns="0" bIns="0" anchor="ctr">
            <a:spAutoFit/>
          </a:bodyPr>
          <a:lstStyle/>
          <a:p>
            <a:pPr algn="ctr">
              <a:lnSpc>
                <a:spcPct val="108000"/>
              </a:lnSpc>
              <a:spcAft>
                <a:spcPts val="300"/>
              </a:spcAft>
            </a:pPr>
            <a:r>
              <a:rPr sz="850" b="1" i="0">
                <a:solidFill>
                  <a:srgbClr val="0F1129"/>
                </a:solidFill>
                <a:latin typeface="Montserrat"/>
              </a:rPr>
              <a:t>2026</a:t>
            </a:r>
          </a:p>
        </p:txBody>
      </p:sp>
      <p:sp>
        <p:nvSpPr>
          <p:cNvPr id="14" name="Rounded Rectangle 13"/>
          <p:cNvSpPr/>
          <p:nvPr/>
        </p:nvSpPr>
        <p:spPr>
          <a:xfrm>
            <a:off x="5196839" y="2194560"/>
            <a:ext cx="4949952" cy="237744"/>
          </a:xfrm>
          <a:prstGeom prst="roundRect">
            <a:avLst>
              <a:gd name="adj" fmla="val 30000"/>
            </a:avLst>
          </a:prstGeom>
          <a:solidFill>
            <a:srgbClr val="F2F3F8"/>
          </a:solidFill>
          <a:ln>
            <a:noFill/>
          </a:ln>
          <a:effectLst/>
        </p:spPr>
        <p:txBody>
          <a:bodyPr rtlCol="0" anchor="ctr"/>
          <a:lstStyle/>
          <a:p>
            <a:pPr algn="ctr"/>
            <a:endParaRPr/>
          </a:p>
        </p:txBody>
      </p:sp>
      <p:sp>
        <p:nvSpPr>
          <p:cNvPr id="15" name="TextBox 14"/>
          <p:cNvSpPr txBox="1"/>
          <p:nvPr/>
        </p:nvSpPr>
        <p:spPr>
          <a:xfrm>
            <a:off x="5178552" y="2194560"/>
            <a:ext cx="4986528" cy="237744"/>
          </a:xfrm>
          <a:prstGeom prst="rect">
            <a:avLst/>
          </a:prstGeom>
          <a:noFill/>
        </p:spPr>
        <p:txBody>
          <a:bodyPr wrap="square" lIns="0" tIns="0" rIns="0" bIns="0" anchor="ctr">
            <a:spAutoFit/>
          </a:bodyPr>
          <a:lstStyle/>
          <a:p>
            <a:pPr algn="ctr">
              <a:lnSpc>
                <a:spcPct val="108000"/>
              </a:lnSpc>
              <a:spcAft>
                <a:spcPts val="300"/>
              </a:spcAft>
            </a:pPr>
            <a:r>
              <a:rPr sz="850" b="1" i="0">
                <a:solidFill>
                  <a:srgbClr val="0F1129"/>
                </a:solidFill>
                <a:latin typeface="Montserrat"/>
              </a:rPr>
              <a:t>2027</a:t>
            </a:r>
          </a:p>
        </p:txBody>
      </p:sp>
      <p:sp>
        <p:nvSpPr>
          <p:cNvPr id="16" name="Rounded Rectangle 15"/>
          <p:cNvSpPr/>
          <p:nvPr/>
        </p:nvSpPr>
        <p:spPr>
          <a:xfrm>
            <a:off x="10183368" y="2194560"/>
            <a:ext cx="1210056" cy="237744"/>
          </a:xfrm>
          <a:prstGeom prst="roundRect">
            <a:avLst>
              <a:gd name="adj" fmla="val 30000"/>
            </a:avLst>
          </a:prstGeom>
          <a:solidFill>
            <a:srgbClr val="F2F3F8"/>
          </a:solidFill>
          <a:ln>
            <a:noFill/>
          </a:ln>
          <a:effectLst/>
        </p:spPr>
        <p:txBody>
          <a:bodyPr rtlCol="0" anchor="ctr"/>
          <a:lstStyle/>
          <a:p>
            <a:pPr algn="ctr"/>
            <a:endParaRPr/>
          </a:p>
        </p:txBody>
      </p:sp>
      <p:sp>
        <p:nvSpPr>
          <p:cNvPr id="17" name="TextBox 16"/>
          <p:cNvSpPr txBox="1"/>
          <p:nvPr/>
        </p:nvSpPr>
        <p:spPr>
          <a:xfrm>
            <a:off x="10165080" y="2194560"/>
            <a:ext cx="1246632" cy="237744"/>
          </a:xfrm>
          <a:prstGeom prst="rect">
            <a:avLst/>
          </a:prstGeom>
          <a:noFill/>
        </p:spPr>
        <p:txBody>
          <a:bodyPr wrap="square" lIns="0" tIns="0" rIns="0" bIns="0" anchor="ctr">
            <a:spAutoFit/>
          </a:bodyPr>
          <a:lstStyle/>
          <a:p>
            <a:pPr algn="ctr">
              <a:lnSpc>
                <a:spcPct val="108000"/>
              </a:lnSpc>
              <a:spcAft>
                <a:spcPts val="300"/>
              </a:spcAft>
            </a:pPr>
            <a:r>
              <a:rPr sz="850" b="1" i="0">
                <a:solidFill>
                  <a:srgbClr val="0F1129"/>
                </a:solidFill>
                <a:latin typeface="Montserrat"/>
              </a:rPr>
              <a:t>2028</a:t>
            </a:r>
          </a:p>
        </p:txBody>
      </p:sp>
      <p:sp>
        <p:nvSpPr>
          <p:cNvPr id="18" name="TextBox 17"/>
          <p:cNvSpPr txBox="1"/>
          <p:nvPr/>
        </p:nvSpPr>
        <p:spPr>
          <a:xfrm>
            <a:off x="3931920"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O</a:t>
            </a:r>
          </a:p>
        </p:txBody>
      </p:sp>
      <p:sp>
        <p:nvSpPr>
          <p:cNvPr id="19" name="TextBox 18"/>
          <p:cNvSpPr txBox="1"/>
          <p:nvPr/>
        </p:nvSpPr>
        <p:spPr>
          <a:xfrm>
            <a:off x="4347464"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N</a:t>
            </a:r>
          </a:p>
        </p:txBody>
      </p:sp>
      <p:sp>
        <p:nvSpPr>
          <p:cNvPr id="20" name="TextBox 19"/>
          <p:cNvSpPr txBox="1"/>
          <p:nvPr/>
        </p:nvSpPr>
        <p:spPr>
          <a:xfrm>
            <a:off x="4763008"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D</a:t>
            </a:r>
          </a:p>
        </p:txBody>
      </p:sp>
      <p:sp>
        <p:nvSpPr>
          <p:cNvPr id="21" name="TextBox 20"/>
          <p:cNvSpPr txBox="1"/>
          <p:nvPr/>
        </p:nvSpPr>
        <p:spPr>
          <a:xfrm>
            <a:off x="5178552"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J</a:t>
            </a:r>
          </a:p>
        </p:txBody>
      </p:sp>
      <p:sp>
        <p:nvSpPr>
          <p:cNvPr id="22" name="TextBox 21"/>
          <p:cNvSpPr txBox="1"/>
          <p:nvPr/>
        </p:nvSpPr>
        <p:spPr>
          <a:xfrm>
            <a:off x="5594096"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F</a:t>
            </a:r>
          </a:p>
        </p:txBody>
      </p:sp>
      <p:sp>
        <p:nvSpPr>
          <p:cNvPr id="23" name="TextBox 22"/>
          <p:cNvSpPr txBox="1"/>
          <p:nvPr/>
        </p:nvSpPr>
        <p:spPr>
          <a:xfrm>
            <a:off x="6009640"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M</a:t>
            </a:r>
          </a:p>
        </p:txBody>
      </p:sp>
      <p:sp>
        <p:nvSpPr>
          <p:cNvPr id="24" name="TextBox 23"/>
          <p:cNvSpPr txBox="1"/>
          <p:nvPr/>
        </p:nvSpPr>
        <p:spPr>
          <a:xfrm>
            <a:off x="6425184"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A</a:t>
            </a:r>
          </a:p>
        </p:txBody>
      </p:sp>
      <p:sp>
        <p:nvSpPr>
          <p:cNvPr id="25" name="TextBox 24"/>
          <p:cNvSpPr txBox="1"/>
          <p:nvPr/>
        </p:nvSpPr>
        <p:spPr>
          <a:xfrm>
            <a:off x="6840728"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M</a:t>
            </a:r>
          </a:p>
        </p:txBody>
      </p:sp>
      <p:sp>
        <p:nvSpPr>
          <p:cNvPr id="26" name="TextBox 25"/>
          <p:cNvSpPr txBox="1"/>
          <p:nvPr/>
        </p:nvSpPr>
        <p:spPr>
          <a:xfrm>
            <a:off x="7256272"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J</a:t>
            </a:r>
          </a:p>
        </p:txBody>
      </p:sp>
      <p:sp>
        <p:nvSpPr>
          <p:cNvPr id="27" name="TextBox 26"/>
          <p:cNvSpPr txBox="1"/>
          <p:nvPr/>
        </p:nvSpPr>
        <p:spPr>
          <a:xfrm>
            <a:off x="7671816"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J</a:t>
            </a:r>
          </a:p>
        </p:txBody>
      </p:sp>
      <p:sp>
        <p:nvSpPr>
          <p:cNvPr id="28" name="TextBox 27"/>
          <p:cNvSpPr txBox="1"/>
          <p:nvPr/>
        </p:nvSpPr>
        <p:spPr>
          <a:xfrm>
            <a:off x="8087360"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A</a:t>
            </a:r>
          </a:p>
        </p:txBody>
      </p:sp>
      <p:sp>
        <p:nvSpPr>
          <p:cNvPr id="29" name="TextBox 28"/>
          <p:cNvSpPr txBox="1"/>
          <p:nvPr/>
        </p:nvSpPr>
        <p:spPr>
          <a:xfrm>
            <a:off x="8502904"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S</a:t>
            </a:r>
          </a:p>
        </p:txBody>
      </p:sp>
      <p:sp>
        <p:nvSpPr>
          <p:cNvPr id="30" name="TextBox 29"/>
          <p:cNvSpPr txBox="1"/>
          <p:nvPr/>
        </p:nvSpPr>
        <p:spPr>
          <a:xfrm>
            <a:off x="8918448"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O</a:t>
            </a:r>
          </a:p>
        </p:txBody>
      </p:sp>
      <p:sp>
        <p:nvSpPr>
          <p:cNvPr id="31" name="TextBox 30"/>
          <p:cNvSpPr txBox="1"/>
          <p:nvPr/>
        </p:nvSpPr>
        <p:spPr>
          <a:xfrm>
            <a:off x="9333992"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N</a:t>
            </a:r>
          </a:p>
        </p:txBody>
      </p:sp>
      <p:sp>
        <p:nvSpPr>
          <p:cNvPr id="32" name="TextBox 31"/>
          <p:cNvSpPr txBox="1"/>
          <p:nvPr/>
        </p:nvSpPr>
        <p:spPr>
          <a:xfrm>
            <a:off x="9749536"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D</a:t>
            </a:r>
          </a:p>
        </p:txBody>
      </p:sp>
      <p:sp>
        <p:nvSpPr>
          <p:cNvPr id="33" name="TextBox 32"/>
          <p:cNvSpPr txBox="1"/>
          <p:nvPr/>
        </p:nvSpPr>
        <p:spPr>
          <a:xfrm>
            <a:off x="10165080"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J</a:t>
            </a:r>
          </a:p>
        </p:txBody>
      </p:sp>
      <p:sp>
        <p:nvSpPr>
          <p:cNvPr id="34" name="TextBox 33"/>
          <p:cNvSpPr txBox="1"/>
          <p:nvPr/>
        </p:nvSpPr>
        <p:spPr>
          <a:xfrm>
            <a:off x="10580624"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F</a:t>
            </a:r>
          </a:p>
        </p:txBody>
      </p:sp>
      <p:sp>
        <p:nvSpPr>
          <p:cNvPr id="35" name="TextBox 34"/>
          <p:cNvSpPr txBox="1"/>
          <p:nvPr/>
        </p:nvSpPr>
        <p:spPr>
          <a:xfrm>
            <a:off x="10996168" y="2487168"/>
            <a:ext cx="415544" cy="182880"/>
          </a:xfrm>
          <a:prstGeom prst="rect">
            <a:avLst/>
          </a:prstGeom>
          <a:noFill/>
        </p:spPr>
        <p:txBody>
          <a:bodyPr wrap="square" lIns="0" tIns="0" rIns="0" bIns="0" anchor="t">
            <a:spAutoFit/>
          </a:bodyPr>
          <a:lstStyle/>
          <a:p>
            <a:pPr algn="ctr">
              <a:lnSpc>
                <a:spcPct val="108000"/>
              </a:lnSpc>
              <a:spcAft>
                <a:spcPts val="300"/>
              </a:spcAft>
            </a:pPr>
            <a:r>
              <a:rPr sz="750" b="0" i="0">
                <a:solidFill>
                  <a:srgbClr val="6B6F8A"/>
                </a:solidFill>
                <a:latin typeface="Montserrat"/>
              </a:rPr>
              <a:t>M</a:t>
            </a:r>
          </a:p>
        </p:txBody>
      </p:sp>
      <p:cxnSp>
        <p:nvCxnSpPr>
          <p:cNvPr id="36" name="Connector 35"/>
          <p:cNvCxnSpPr/>
          <p:nvPr/>
        </p:nvCxnSpPr>
        <p:spPr>
          <a:xfrm>
            <a:off x="3931920" y="2761488"/>
            <a:ext cx="0" cy="3072384"/>
          </a:xfrm>
          <a:prstGeom prst="line">
            <a:avLst/>
          </a:prstGeom>
          <a:ln w="6350">
            <a:solidFill>
              <a:srgbClr val="EEF0F6"/>
            </a:solidFill>
          </a:ln>
        </p:spPr>
      </p:cxnSp>
      <p:cxnSp>
        <p:nvCxnSpPr>
          <p:cNvPr id="37" name="Connector 36"/>
          <p:cNvCxnSpPr/>
          <p:nvPr/>
        </p:nvCxnSpPr>
        <p:spPr>
          <a:xfrm>
            <a:off x="4347464" y="2761488"/>
            <a:ext cx="0" cy="3072384"/>
          </a:xfrm>
          <a:prstGeom prst="line">
            <a:avLst/>
          </a:prstGeom>
          <a:ln w="6350">
            <a:solidFill>
              <a:srgbClr val="EEF0F6"/>
            </a:solidFill>
          </a:ln>
        </p:spPr>
      </p:cxnSp>
      <p:cxnSp>
        <p:nvCxnSpPr>
          <p:cNvPr id="38" name="Connector 37"/>
          <p:cNvCxnSpPr/>
          <p:nvPr/>
        </p:nvCxnSpPr>
        <p:spPr>
          <a:xfrm>
            <a:off x="4763008" y="2761488"/>
            <a:ext cx="0" cy="3072384"/>
          </a:xfrm>
          <a:prstGeom prst="line">
            <a:avLst/>
          </a:prstGeom>
          <a:ln w="6350">
            <a:solidFill>
              <a:srgbClr val="EEF0F6"/>
            </a:solidFill>
          </a:ln>
        </p:spPr>
      </p:cxnSp>
      <p:cxnSp>
        <p:nvCxnSpPr>
          <p:cNvPr id="39" name="Connector 38"/>
          <p:cNvCxnSpPr/>
          <p:nvPr/>
        </p:nvCxnSpPr>
        <p:spPr>
          <a:xfrm>
            <a:off x="5178552" y="2761488"/>
            <a:ext cx="0" cy="3072384"/>
          </a:xfrm>
          <a:prstGeom prst="line">
            <a:avLst/>
          </a:prstGeom>
          <a:ln w="6350">
            <a:solidFill>
              <a:srgbClr val="EEF0F6"/>
            </a:solidFill>
          </a:ln>
        </p:spPr>
      </p:cxnSp>
      <p:cxnSp>
        <p:nvCxnSpPr>
          <p:cNvPr id="40" name="Connector 39"/>
          <p:cNvCxnSpPr/>
          <p:nvPr/>
        </p:nvCxnSpPr>
        <p:spPr>
          <a:xfrm>
            <a:off x="5594096" y="2761488"/>
            <a:ext cx="0" cy="3072384"/>
          </a:xfrm>
          <a:prstGeom prst="line">
            <a:avLst/>
          </a:prstGeom>
          <a:ln w="6350">
            <a:solidFill>
              <a:srgbClr val="EEF0F6"/>
            </a:solidFill>
          </a:ln>
        </p:spPr>
      </p:cxnSp>
      <p:cxnSp>
        <p:nvCxnSpPr>
          <p:cNvPr id="41" name="Connector 40"/>
          <p:cNvCxnSpPr/>
          <p:nvPr/>
        </p:nvCxnSpPr>
        <p:spPr>
          <a:xfrm>
            <a:off x="6009640" y="2761488"/>
            <a:ext cx="0" cy="3072384"/>
          </a:xfrm>
          <a:prstGeom prst="line">
            <a:avLst/>
          </a:prstGeom>
          <a:ln w="6350">
            <a:solidFill>
              <a:srgbClr val="EEF0F6"/>
            </a:solidFill>
          </a:ln>
        </p:spPr>
      </p:cxnSp>
      <p:cxnSp>
        <p:nvCxnSpPr>
          <p:cNvPr id="42" name="Connector 41"/>
          <p:cNvCxnSpPr/>
          <p:nvPr/>
        </p:nvCxnSpPr>
        <p:spPr>
          <a:xfrm>
            <a:off x="6425184" y="2761488"/>
            <a:ext cx="0" cy="3072384"/>
          </a:xfrm>
          <a:prstGeom prst="line">
            <a:avLst/>
          </a:prstGeom>
          <a:ln w="6350">
            <a:solidFill>
              <a:srgbClr val="EEF0F6"/>
            </a:solidFill>
          </a:ln>
        </p:spPr>
      </p:cxnSp>
      <p:cxnSp>
        <p:nvCxnSpPr>
          <p:cNvPr id="43" name="Connector 42"/>
          <p:cNvCxnSpPr/>
          <p:nvPr/>
        </p:nvCxnSpPr>
        <p:spPr>
          <a:xfrm>
            <a:off x="6840728" y="2761488"/>
            <a:ext cx="0" cy="3072384"/>
          </a:xfrm>
          <a:prstGeom prst="line">
            <a:avLst/>
          </a:prstGeom>
          <a:ln w="6350">
            <a:solidFill>
              <a:srgbClr val="EEF0F6"/>
            </a:solidFill>
          </a:ln>
        </p:spPr>
      </p:cxnSp>
      <p:cxnSp>
        <p:nvCxnSpPr>
          <p:cNvPr id="44" name="Connector 43"/>
          <p:cNvCxnSpPr/>
          <p:nvPr/>
        </p:nvCxnSpPr>
        <p:spPr>
          <a:xfrm>
            <a:off x="7256272" y="2761488"/>
            <a:ext cx="0" cy="3072384"/>
          </a:xfrm>
          <a:prstGeom prst="line">
            <a:avLst/>
          </a:prstGeom>
          <a:ln w="6350">
            <a:solidFill>
              <a:srgbClr val="EEF0F6"/>
            </a:solidFill>
          </a:ln>
        </p:spPr>
      </p:cxnSp>
      <p:cxnSp>
        <p:nvCxnSpPr>
          <p:cNvPr id="45" name="Connector 44"/>
          <p:cNvCxnSpPr/>
          <p:nvPr/>
        </p:nvCxnSpPr>
        <p:spPr>
          <a:xfrm>
            <a:off x="7671816" y="2761488"/>
            <a:ext cx="0" cy="3072384"/>
          </a:xfrm>
          <a:prstGeom prst="line">
            <a:avLst/>
          </a:prstGeom>
          <a:ln w="6350">
            <a:solidFill>
              <a:srgbClr val="EEF0F6"/>
            </a:solidFill>
          </a:ln>
        </p:spPr>
      </p:cxnSp>
      <p:cxnSp>
        <p:nvCxnSpPr>
          <p:cNvPr id="46" name="Connector 45"/>
          <p:cNvCxnSpPr/>
          <p:nvPr/>
        </p:nvCxnSpPr>
        <p:spPr>
          <a:xfrm>
            <a:off x="8087360" y="2761488"/>
            <a:ext cx="0" cy="3072384"/>
          </a:xfrm>
          <a:prstGeom prst="line">
            <a:avLst/>
          </a:prstGeom>
          <a:ln w="6350">
            <a:solidFill>
              <a:srgbClr val="EEF0F6"/>
            </a:solidFill>
          </a:ln>
        </p:spPr>
      </p:cxnSp>
      <p:cxnSp>
        <p:nvCxnSpPr>
          <p:cNvPr id="47" name="Connector 46"/>
          <p:cNvCxnSpPr/>
          <p:nvPr/>
        </p:nvCxnSpPr>
        <p:spPr>
          <a:xfrm>
            <a:off x="8502904" y="2761488"/>
            <a:ext cx="0" cy="3072384"/>
          </a:xfrm>
          <a:prstGeom prst="line">
            <a:avLst/>
          </a:prstGeom>
          <a:ln w="6350">
            <a:solidFill>
              <a:srgbClr val="EEF0F6"/>
            </a:solidFill>
          </a:ln>
        </p:spPr>
      </p:cxnSp>
      <p:cxnSp>
        <p:nvCxnSpPr>
          <p:cNvPr id="48" name="Connector 47"/>
          <p:cNvCxnSpPr/>
          <p:nvPr/>
        </p:nvCxnSpPr>
        <p:spPr>
          <a:xfrm>
            <a:off x="8918448" y="2761488"/>
            <a:ext cx="0" cy="3072384"/>
          </a:xfrm>
          <a:prstGeom prst="line">
            <a:avLst/>
          </a:prstGeom>
          <a:ln w="6350">
            <a:solidFill>
              <a:srgbClr val="EEF0F6"/>
            </a:solidFill>
          </a:ln>
        </p:spPr>
      </p:cxnSp>
      <p:cxnSp>
        <p:nvCxnSpPr>
          <p:cNvPr id="49" name="Connector 48"/>
          <p:cNvCxnSpPr/>
          <p:nvPr/>
        </p:nvCxnSpPr>
        <p:spPr>
          <a:xfrm>
            <a:off x="9333992" y="2761488"/>
            <a:ext cx="0" cy="3072384"/>
          </a:xfrm>
          <a:prstGeom prst="line">
            <a:avLst/>
          </a:prstGeom>
          <a:ln w="6350">
            <a:solidFill>
              <a:srgbClr val="EEF0F6"/>
            </a:solidFill>
          </a:ln>
        </p:spPr>
      </p:cxnSp>
      <p:cxnSp>
        <p:nvCxnSpPr>
          <p:cNvPr id="50" name="Connector 49"/>
          <p:cNvCxnSpPr/>
          <p:nvPr/>
        </p:nvCxnSpPr>
        <p:spPr>
          <a:xfrm>
            <a:off x="9749536" y="2761488"/>
            <a:ext cx="0" cy="3072384"/>
          </a:xfrm>
          <a:prstGeom prst="line">
            <a:avLst/>
          </a:prstGeom>
          <a:ln w="6350">
            <a:solidFill>
              <a:srgbClr val="EEF0F6"/>
            </a:solidFill>
          </a:ln>
        </p:spPr>
      </p:cxnSp>
      <p:cxnSp>
        <p:nvCxnSpPr>
          <p:cNvPr id="51" name="Connector 50"/>
          <p:cNvCxnSpPr/>
          <p:nvPr/>
        </p:nvCxnSpPr>
        <p:spPr>
          <a:xfrm>
            <a:off x="10165080" y="2761488"/>
            <a:ext cx="0" cy="3072384"/>
          </a:xfrm>
          <a:prstGeom prst="line">
            <a:avLst/>
          </a:prstGeom>
          <a:ln w="6350">
            <a:solidFill>
              <a:srgbClr val="EEF0F6"/>
            </a:solidFill>
          </a:ln>
        </p:spPr>
      </p:cxnSp>
      <p:cxnSp>
        <p:nvCxnSpPr>
          <p:cNvPr id="52" name="Connector 51"/>
          <p:cNvCxnSpPr/>
          <p:nvPr/>
        </p:nvCxnSpPr>
        <p:spPr>
          <a:xfrm>
            <a:off x="10580624" y="2761488"/>
            <a:ext cx="0" cy="3072384"/>
          </a:xfrm>
          <a:prstGeom prst="line">
            <a:avLst/>
          </a:prstGeom>
          <a:ln w="6350">
            <a:solidFill>
              <a:srgbClr val="EEF0F6"/>
            </a:solidFill>
          </a:ln>
        </p:spPr>
      </p:cxnSp>
      <p:cxnSp>
        <p:nvCxnSpPr>
          <p:cNvPr id="53" name="Connector 52"/>
          <p:cNvCxnSpPr/>
          <p:nvPr/>
        </p:nvCxnSpPr>
        <p:spPr>
          <a:xfrm>
            <a:off x="10996168" y="2761488"/>
            <a:ext cx="0" cy="3072384"/>
          </a:xfrm>
          <a:prstGeom prst="line">
            <a:avLst/>
          </a:prstGeom>
          <a:ln w="6350">
            <a:solidFill>
              <a:srgbClr val="EEF0F6"/>
            </a:solidFill>
          </a:ln>
        </p:spPr>
      </p:cxnSp>
      <p:cxnSp>
        <p:nvCxnSpPr>
          <p:cNvPr id="54" name="Connector 53"/>
          <p:cNvCxnSpPr/>
          <p:nvPr/>
        </p:nvCxnSpPr>
        <p:spPr>
          <a:xfrm>
            <a:off x="11411712" y="2761488"/>
            <a:ext cx="0" cy="3072384"/>
          </a:xfrm>
          <a:prstGeom prst="line">
            <a:avLst/>
          </a:prstGeom>
          <a:ln w="6350">
            <a:solidFill>
              <a:srgbClr val="EEF0F6"/>
            </a:solidFill>
          </a:ln>
        </p:spPr>
      </p:cxnSp>
      <p:sp>
        <p:nvSpPr>
          <p:cNvPr id="55" name="TextBox 54"/>
          <p:cNvSpPr txBox="1"/>
          <p:nvPr/>
        </p:nvSpPr>
        <p:spPr>
          <a:xfrm>
            <a:off x="777240" y="2761488"/>
            <a:ext cx="3063240" cy="384048"/>
          </a:xfrm>
          <a:prstGeom prst="rect">
            <a:avLst/>
          </a:prstGeom>
          <a:noFill/>
        </p:spPr>
        <p:txBody>
          <a:bodyPr wrap="square" lIns="0" tIns="0" rIns="0" bIns="0" anchor="ctr">
            <a:spAutoFit/>
          </a:bodyPr>
          <a:lstStyle/>
          <a:p>
            <a:pPr>
              <a:lnSpc>
                <a:spcPct val="100000"/>
              </a:lnSpc>
              <a:spcAft>
                <a:spcPts val="300"/>
              </a:spcAft>
            </a:pPr>
            <a:r>
              <a:rPr sz="880" b="1" i="0">
                <a:solidFill>
                  <a:srgbClr val="0F1129"/>
                </a:solidFill>
                <a:latin typeface="Montserrat"/>
              </a:rPr>
              <a:t>Governance: owner &amp; working group</a:t>
            </a:r>
          </a:p>
        </p:txBody>
      </p:sp>
      <p:sp>
        <p:nvSpPr>
          <p:cNvPr id="56" name="Rounded Rectangle 55"/>
          <p:cNvSpPr/>
          <p:nvPr/>
        </p:nvSpPr>
        <p:spPr>
          <a:xfrm>
            <a:off x="3959352" y="2852928"/>
            <a:ext cx="1191768" cy="201167"/>
          </a:xfrm>
          <a:prstGeom prst="roundRect">
            <a:avLst>
              <a:gd name="adj" fmla="val 50000"/>
            </a:avLst>
          </a:prstGeom>
          <a:solidFill>
            <a:srgbClr val="E4202E"/>
          </a:solidFill>
          <a:ln>
            <a:noFill/>
          </a:ln>
          <a:effectLst/>
        </p:spPr>
        <p:txBody>
          <a:bodyPr rtlCol="0" anchor="ctr"/>
          <a:lstStyle/>
          <a:p>
            <a:pPr algn="ctr"/>
            <a:endParaRPr/>
          </a:p>
        </p:txBody>
      </p:sp>
      <p:sp>
        <p:nvSpPr>
          <p:cNvPr id="57" name="TextBox 56"/>
          <p:cNvSpPr txBox="1"/>
          <p:nvPr/>
        </p:nvSpPr>
        <p:spPr>
          <a:xfrm>
            <a:off x="777240" y="3145536"/>
            <a:ext cx="3063240" cy="384048"/>
          </a:xfrm>
          <a:prstGeom prst="rect">
            <a:avLst/>
          </a:prstGeom>
          <a:noFill/>
        </p:spPr>
        <p:txBody>
          <a:bodyPr wrap="square" lIns="0" tIns="0" rIns="0" bIns="0" anchor="ctr">
            <a:spAutoFit/>
          </a:bodyPr>
          <a:lstStyle/>
          <a:p>
            <a:pPr>
              <a:lnSpc>
                <a:spcPct val="100000"/>
              </a:lnSpc>
              <a:spcAft>
                <a:spcPts val="300"/>
              </a:spcAft>
            </a:pPr>
            <a:r>
              <a:rPr sz="880" b="1" i="0" dirty="0">
                <a:solidFill>
                  <a:srgbClr val="0F1129"/>
                </a:solidFill>
                <a:latin typeface="Montserrat"/>
              </a:rPr>
              <a:t>Human Rights Policy: draft → approval</a:t>
            </a:r>
          </a:p>
        </p:txBody>
      </p:sp>
      <p:sp>
        <p:nvSpPr>
          <p:cNvPr id="58" name="Rounded Rectangle 57"/>
          <p:cNvSpPr/>
          <p:nvPr/>
        </p:nvSpPr>
        <p:spPr>
          <a:xfrm>
            <a:off x="4374896" y="3236976"/>
            <a:ext cx="2022855" cy="201167"/>
          </a:xfrm>
          <a:prstGeom prst="roundRect">
            <a:avLst>
              <a:gd name="adj" fmla="val 50000"/>
            </a:avLst>
          </a:prstGeom>
          <a:solidFill>
            <a:srgbClr val="E4202E"/>
          </a:solidFill>
          <a:ln>
            <a:noFill/>
          </a:ln>
          <a:effectLst/>
        </p:spPr>
        <p:txBody>
          <a:bodyPr rtlCol="0" anchor="ctr"/>
          <a:lstStyle/>
          <a:p>
            <a:pPr algn="ctr"/>
            <a:endParaRPr/>
          </a:p>
        </p:txBody>
      </p:sp>
      <p:sp>
        <p:nvSpPr>
          <p:cNvPr id="59" name="TextBox 58"/>
          <p:cNvSpPr txBox="1"/>
          <p:nvPr/>
        </p:nvSpPr>
        <p:spPr>
          <a:xfrm>
            <a:off x="777240" y="3529584"/>
            <a:ext cx="3063240" cy="384048"/>
          </a:xfrm>
          <a:prstGeom prst="rect">
            <a:avLst/>
          </a:prstGeom>
          <a:noFill/>
        </p:spPr>
        <p:txBody>
          <a:bodyPr wrap="square" lIns="0" tIns="0" rIns="0" bIns="0" anchor="ctr">
            <a:spAutoFit/>
          </a:bodyPr>
          <a:lstStyle/>
          <a:p>
            <a:pPr>
              <a:lnSpc>
                <a:spcPct val="100000"/>
              </a:lnSpc>
              <a:spcAft>
                <a:spcPts val="300"/>
              </a:spcAft>
            </a:pPr>
            <a:r>
              <a:rPr sz="880" b="1" i="0" dirty="0">
                <a:solidFill>
                  <a:srgbClr val="0F1129"/>
                </a:solidFill>
                <a:latin typeface="Montserrat"/>
              </a:rPr>
              <a:t>Responsible Lending Standard &amp; collection code</a:t>
            </a:r>
          </a:p>
        </p:txBody>
      </p:sp>
      <p:sp>
        <p:nvSpPr>
          <p:cNvPr id="60" name="Rounded Rectangle 59"/>
          <p:cNvSpPr/>
          <p:nvPr/>
        </p:nvSpPr>
        <p:spPr>
          <a:xfrm>
            <a:off x="4790440" y="3621024"/>
            <a:ext cx="2853944" cy="201167"/>
          </a:xfrm>
          <a:prstGeom prst="roundRect">
            <a:avLst>
              <a:gd name="adj" fmla="val 50000"/>
            </a:avLst>
          </a:prstGeom>
          <a:solidFill>
            <a:srgbClr val="E4202E"/>
          </a:solidFill>
          <a:ln>
            <a:noFill/>
          </a:ln>
          <a:effectLst/>
        </p:spPr>
        <p:txBody>
          <a:bodyPr rtlCol="0" anchor="ctr"/>
          <a:lstStyle/>
          <a:p>
            <a:pPr algn="ctr"/>
            <a:endParaRPr/>
          </a:p>
        </p:txBody>
      </p:sp>
      <p:sp>
        <p:nvSpPr>
          <p:cNvPr id="61" name="TextBox 60"/>
          <p:cNvSpPr txBox="1"/>
          <p:nvPr/>
        </p:nvSpPr>
        <p:spPr>
          <a:xfrm>
            <a:off x="777240" y="3913632"/>
            <a:ext cx="3063240" cy="384048"/>
          </a:xfrm>
          <a:prstGeom prst="rect">
            <a:avLst/>
          </a:prstGeom>
          <a:noFill/>
        </p:spPr>
        <p:txBody>
          <a:bodyPr wrap="square" lIns="0" tIns="0" rIns="0" bIns="0" anchor="ctr">
            <a:spAutoFit/>
          </a:bodyPr>
          <a:lstStyle/>
          <a:p>
            <a:pPr>
              <a:lnSpc>
                <a:spcPct val="100000"/>
              </a:lnSpc>
              <a:spcAft>
                <a:spcPts val="300"/>
              </a:spcAft>
            </a:pPr>
            <a:r>
              <a:rPr sz="880" b="1" i="0">
                <a:solidFill>
                  <a:srgbClr val="0F1129"/>
                </a:solidFill>
                <a:latin typeface="Montserrat"/>
              </a:rPr>
              <a:t>Stakeholder consultations</a:t>
            </a:r>
          </a:p>
        </p:txBody>
      </p:sp>
      <p:sp>
        <p:nvSpPr>
          <p:cNvPr id="62" name="Rounded Rectangle 61"/>
          <p:cNvSpPr/>
          <p:nvPr/>
        </p:nvSpPr>
        <p:spPr>
          <a:xfrm>
            <a:off x="5205984" y="4005072"/>
            <a:ext cx="1607312" cy="201167"/>
          </a:xfrm>
          <a:prstGeom prst="roundRect">
            <a:avLst>
              <a:gd name="adj" fmla="val 50000"/>
            </a:avLst>
          </a:prstGeom>
          <a:solidFill>
            <a:srgbClr val="E8590C"/>
          </a:solidFill>
          <a:ln>
            <a:noFill/>
          </a:ln>
          <a:effectLst/>
        </p:spPr>
        <p:txBody>
          <a:bodyPr rtlCol="0" anchor="ctr"/>
          <a:lstStyle/>
          <a:p>
            <a:pPr algn="ctr"/>
            <a:endParaRPr/>
          </a:p>
        </p:txBody>
      </p:sp>
      <p:sp>
        <p:nvSpPr>
          <p:cNvPr id="63" name="TextBox 62"/>
          <p:cNvSpPr txBox="1"/>
          <p:nvPr/>
        </p:nvSpPr>
        <p:spPr>
          <a:xfrm>
            <a:off x="777240" y="4297680"/>
            <a:ext cx="3063240" cy="384048"/>
          </a:xfrm>
          <a:prstGeom prst="rect">
            <a:avLst/>
          </a:prstGeom>
          <a:noFill/>
        </p:spPr>
        <p:txBody>
          <a:bodyPr wrap="square" lIns="0" tIns="0" rIns="0" bIns="0" anchor="ctr">
            <a:spAutoFit/>
          </a:bodyPr>
          <a:lstStyle/>
          <a:p>
            <a:pPr>
              <a:lnSpc>
                <a:spcPct val="100000"/>
              </a:lnSpc>
              <a:spcAft>
                <a:spcPts val="300"/>
              </a:spcAft>
            </a:pPr>
            <a:r>
              <a:rPr sz="880" b="1" i="0">
                <a:solidFill>
                  <a:srgbClr val="0F1129"/>
                </a:solidFill>
                <a:latin typeface="Montserrat"/>
              </a:rPr>
              <a:t>Affordability checks &amp; hardship programme</a:t>
            </a:r>
          </a:p>
        </p:txBody>
      </p:sp>
      <p:sp>
        <p:nvSpPr>
          <p:cNvPr id="64" name="Rounded Rectangle 63"/>
          <p:cNvSpPr/>
          <p:nvPr/>
        </p:nvSpPr>
        <p:spPr>
          <a:xfrm>
            <a:off x="6452616" y="4389120"/>
            <a:ext cx="3685032" cy="201167"/>
          </a:xfrm>
          <a:prstGeom prst="roundRect">
            <a:avLst>
              <a:gd name="adj" fmla="val 50000"/>
            </a:avLst>
          </a:prstGeom>
          <a:solidFill>
            <a:srgbClr val="E4202E"/>
          </a:solidFill>
          <a:ln>
            <a:noFill/>
          </a:ln>
          <a:effectLst/>
        </p:spPr>
        <p:txBody>
          <a:bodyPr rtlCol="0" anchor="ctr"/>
          <a:lstStyle/>
          <a:p>
            <a:pPr algn="ctr"/>
            <a:endParaRPr/>
          </a:p>
        </p:txBody>
      </p:sp>
      <p:sp>
        <p:nvSpPr>
          <p:cNvPr id="65" name="TextBox 64"/>
          <p:cNvSpPr txBox="1"/>
          <p:nvPr/>
        </p:nvSpPr>
        <p:spPr>
          <a:xfrm>
            <a:off x="777240" y="4681728"/>
            <a:ext cx="3063240" cy="384048"/>
          </a:xfrm>
          <a:prstGeom prst="rect">
            <a:avLst/>
          </a:prstGeom>
          <a:noFill/>
        </p:spPr>
        <p:txBody>
          <a:bodyPr wrap="square" lIns="0" tIns="0" rIns="0" bIns="0" anchor="ctr">
            <a:spAutoFit/>
          </a:bodyPr>
          <a:lstStyle/>
          <a:p>
            <a:pPr>
              <a:lnSpc>
                <a:spcPct val="100000"/>
              </a:lnSpc>
              <a:spcAft>
                <a:spcPts val="300"/>
              </a:spcAft>
            </a:pPr>
            <a:r>
              <a:rPr sz="880" b="1" i="0">
                <a:solidFill>
                  <a:srgbClr val="0F1129"/>
                </a:solidFill>
                <a:latin typeface="Montserrat"/>
              </a:rPr>
              <a:t>Grievance mechanism upgrade</a:t>
            </a:r>
          </a:p>
        </p:txBody>
      </p:sp>
      <p:sp>
        <p:nvSpPr>
          <p:cNvPr id="66" name="Rounded Rectangle 65"/>
          <p:cNvSpPr/>
          <p:nvPr/>
        </p:nvSpPr>
        <p:spPr>
          <a:xfrm>
            <a:off x="7699248" y="4773168"/>
            <a:ext cx="2438400" cy="201167"/>
          </a:xfrm>
          <a:prstGeom prst="roundRect">
            <a:avLst>
              <a:gd name="adj" fmla="val 50000"/>
            </a:avLst>
          </a:prstGeom>
          <a:solidFill>
            <a:srgbClr val="E4202E"/>
          </a:solidFill>
          <a:ln>
            <a:noFill/>
          </a:ln>
          <a:effectLst/>
        </p:spPr>
        <p:txBody>
          <a:bodyPr rtlCol="0" anchor="ctr"/>
          <a:lstStyle/>
          <a:p>
            <a:pPr algn="ctr"/>
            <a:endParaRPr/>
          </a:p>
        </p:txBody>
      </p:sp>
      <p:sp>
        <p:nvSpPr>
          <p:cNvPr id="67" name="TextBox 66"/>
          <p:cNvSpPr txBox="1"/>
          <p:nvPr/>
        </p:nvSpPr>
        <p:spPr>
          <a:xfrm>
            <a:off x="777240" y="5065776"/>
            <a:ext cx="3063240" cy="384048"/>
          </a:xfrm>
          <a:prstGeom prst="rect">
            <a:avLst/>
          </a:prstGeom>
          <a:noFill/>
        </p:spPr>
        <p:txBody>
          <a:bodyPr wrap="square" lIns="0" tIns="0" rIns="0" bIns="0" anchor="ctr">
            <a:spAutoFit/>
          </a:bodyPr>
          <a:lstStyle/>
          <a:p>
            <a:pPr>
              <a:lnSpc>
                <a:spcPct val="100000"/>
              </a:lnSpc>
              <a:spcAft>
                <a:spcPts val="300"/>
              </a:spcAft>
            </a:pPr>
            <a:r>
              <a:rPr sz="880" b="1" i="0">
                <a:solidFill>
                  <a:srgbClr val="0F1129"/>
                </a:solidFill>
                <a:latin typeface="Montserrat"/>
              </a:rPr>
              <a:t>HRDD for issues 2–4</a:t>
            </a:r>
          </a:p>
        </p:txBody>
      </p:sp>
      <p:sp>
        <p:nvSpPr>
          <p:cNvPr id="68" name="Rounded Rectangle 67"/>
          <p:cNvSpPr/>
          <p:nvPr/>
        </p:nvSpPr>
        <p:spPr>
          <a:xfrm>
            <a:off x="8530336" y="5157216"/>
            <a:ext cx="2853944" cy="201167"/>
          </a:xfrm>
          <a:prstGeom prst="roundRect">
            <a:avLst>
              <a:gd name="adj" fmla="val 50000"/>
            </a:avLst>
          </a:prstGeom>
          <a:solidFill>
            <a:srgbClr val="E8590C"/>
          </a:solidFill>
          <a:ln>
            <a:noFill/>
          </a:ln>
          <a:effectLst/>
        </p:spPr>
        <p:txBody>
          <a:bodyPr rtlCol="0" anchor="ctr"/>
          <a:lstStyle/>
          <a:p>
            <a:pPr algn="ctr"/>
            <a:endParaRPr/>
          </a:p>
        </p:txBody>
      </p:sp>
      <p:sp>
        <p:nvSpPr>
          <p:cNvPr id="69" name="TextBox 68"/>
          <p:cNvSpPr txBox="1"/>
          <p:nvPr/>
        </p:nvSpPr>
        <p:spPr>
          <a:xfrm>
            <a:off x="777240" y="5449824"/>
            <a:ext cx="3063240" cy="384048"/>
          </a:xfrm>
          <a:prstGeom prst="rect">
            <a:avLst/>
          </a:prstGeom>
          <a:noFill/>
        </p:spPr>
        <p:txBody>
          <a:bodyPr wrap="square" lIns="0" tIns="0" rIns="0" bIns="0" anchor="ctr">
            <a:spAutoFit/>
          </a:bodyPr>
          <a:lstStyle/>
          <a:p>
            <a:pPr>
              <a:lnSpc>
                <a:spcPct val="100000"/>
              </a:lnSpc>
              <a:spcAft>
                <a:spcPts val="300"/>
              </a:spcAft>
            </a:pPr>
            <a:r>
              <a:rPr sz="880" b="1" i="0">
                <a:solidFill>
                  <a:srgbClr val="0F1129"/>
                </a:solidFill>
                <a:latin typeface="Montserrat"/>
              </a:rPr>
              <a:t>KPI dashboard (quarterly)</a:t>
            </a:r>
          </a:p>
        </p:txBody>
      </p:sp>
      <p:sp>
        <p:nvSpPr>
          <p:cNvPr id="70" name="Rounded Rectangle 69"/>
          <p:cNvSpPr/>
          <p:nvPr/>
        </p:nvSpPr>
        <p:spPr>
          <a:xfrm>
            <a:off x="6452616" y="5541264"/>
            <a:ext cx="4931664" cy="201167"/>
          </a:xfrm>
          <a:prstGeom prst="roundRect">
            <a:avLst>
              <a:gd name="adj" fmla="val 50000"/>
            </a:avLst>
          </a:prstGeom>
          <a:solidFill>
            <a:srgbClr val="9A9DB5"/>
          </a:solidFill>
          <a:ln>
            <a:noFill/>
          </a:ln>
          <a:effectLst/>
        </p:spPr>
        <p:txBody>
          <a:bodyPr rtlCol="0" anchor="ctr"/>
          <a:lstStyle/>
          <a:p>
            <a:pPr algn="ctr"/>
            <a:endParaRPr/>
          </a:p>
        </p:txBody>
      </p:sp>
      <p:cxnSp>
        <p:nvCxnSpPr>
          <p:cNvPr id="71" name="Connector 70"/>
          <p:cNvCxnSpPr/>
          <p:nvPr/>
        </p:nvCxnSpPr>
        <p:spPr>
          <a:xfrm>
            <a:off x="8074893" y="2697480"/>
            <a:ext cx="0" cy="3182112"/>
          </a:xfrm>
          <a:prstGeom prst="line">
            <a:avLst/>
          </a:prstGeom>
          <a:ln w="19050">
            <a:solidFill>
              <a:srgbClr val="C8102E"/>
            </a:solidFill>
            <a:prstDash val="dash"/>
          </a:ln>
        </p:spPr>
      </p:cxnSp>
      <p:sp>
        <p:nvSpPr>
          <p:cNvPr id="72" name="Diamond 71"/>
          <p:cNvSpPr/>
          <p:nvPr/>
        </p:nvSpPr>
        <p:spPr>
          <a:xfrm>
            <a:off x="7983453" y="5879592"/>
            <a:ext cx="182880" cy="182880"/>
          </a:xfrm>
          <a:prstGeom prst="diamond">
            <a:avLst/>
          </a:prstGeom>
          <a:solidFill>
            <a:srgbClr val="C8102E"/>
          </a:solidFill>
          <a:ln>
            <a:noFill/>
          </a:ln>
          <a:effectLst/>
        </p:spPr>
        <p:txBody>
          <a:bodyPr rtlCol="0" anchor="ctr"/>
          <a:lstStyle/>
          <a:p>
            <a:pPr algn="ctr"/>
            <a:endParaRPr/>
          </a:p>
        </p:txBody>
      </p:sp>
      <p:sp>
        <p:nvSpPr>
          <p:cNvPr id="73" name="TextBox 72"/>
          <p:cNvSpPr txBox="1"/>
          <p:nvPr/>
        </p:nvSpPr>
        <p:spPr>
          <a:xfrm>
            <a:off x="6703293" y="6089904"/>
            <a:ext cx="2743200" cy="228600"/>
          </a:xfrm>
          <a:prstGeom prst="rect">
            <a:avLst/>
          </a:prstGeom>
          <a:noFill/>
        </p:spPr>
        <p:txBody>
          <a:bodyPr wrap="square" lIns="0" tIns="0" rIns="0" bIns="0" anchor="t">
            <a:spAutoFit/>
          </a:bodyPr>
          <a:lstStyle/>
          <a:p>
            <a:pPr algn="ctr">
              <a:lnSpc>
                <a:spcPct val="108000"/>
              </a:lnSpc>
              <a:spcAft>
                <a:spcPts val="300"/>
              </a:spcAft>
            </a:pPr>
            <a:r>
              <a:rPr sz="850" b="1" i="0">
                <a:solidFill>
                  <a:srgbClr val="C8102E"/>
                </a:solidFill>
                <a:latin typeface="Montserrat"/>
              </a:rPr>
              <a:t>First UNGC CoP · 31.07.2027</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VDOCID" val="d00286a4-5ee1-4229-9c77-95c4fad85e80"/>
  <p:tag name="CLASSIFICATIONTAGSETID" val="e16409a7-1700-4153-9090-3955bc2f0ae8"/>
  <p:tag name="COMPLIANCETAGSETID" val="f14fc1f1-8950-40d5-8a29-45909da947d6"/>
  <p:tag name="FILEID" val="d00286a4-5ee1-4229-9c77-95c4fad85e80"/>
  <p:tag name="USERID" val="Nigar R. Imanova"/>
  <p:tag name="TAGDATETIME" val="12-10-2026"/>
  <p:tag name="GVDATA" val="eyJPUyI6IldpbmRvd3MiLCJkb2NJRCI6ImQwMDI4NmE0LTVlZTEtNDIyOS05Yzc3LTk1YzRmYWQ4NWU4MCIsImRvY1N0YXRlIjoie30iLCJwYXJlbnRMaW5lSWRzIjoiW1wiNGRjNGJhNjMtYWRjMC00ZDkwLTk5YTAtODRjOTE0MzFkMGY1XCJdIiwid3JpdHRlbktl"/>
  <p:tag name="GVDATA0" val="eXMiOiJbXCJDbGFzc2lmaWNhdGlvblRhZ1NldElkXCIsXCJDb21wbGlhbmNlVGFnU2V0SWRcIixcIkZpbGVJZFwiLFwiZ3Zkb2NpZFwiLFwiVGFnRGF0ZVRpbWVcIixcIlVzZXJJZFwiXSIsIm5vT2ZHdkRhdGFFbnRyaWVzIjoiMyIsImxpbmVJZCI6ImRlNGQxMzJi"/>
  <p:tag name="GVDATA1" val="LTNjMTUtNGY0YS04NmM3LTFiMDgwYzc4N2E3OSJ9"/>
  <p:tag name="GVDATA2" val="(end)"/>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456</TotalTime>
  <Words>4393</Words>
  <Application>Microsoft Office PowerPoint</Application>
  <PresentationFormat>Widescreen</PresentationFormat>
  <Paragraphs>585</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Nigar R. Imanova</cp:lastModifiedBy>
  <cp:revision>5</cp:revision>
  <dcterms:created xsi:type="dcterms:W3CDTF">2013-01-27T09:14:16Z</dcterms:created>
  <dcterms:modified xsi:type="dcterms:W3CDTF">2026-10-12T14:09:47Z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vdocid">
    <vt:lpwstr>d00286a4-5ee1-4229-9c77-95c4fad85e80</vt:lpwstr>
  </property>
  <property fmtid="{D5CDD505-2E9C-101B-9397-08002B2CF9AE}" pid="3" name="ClassificationTagSetId">
    <vt:lpwstr>e16409a7-1700-4153-9090-3955bc2f0ae8</vt:lpwstr>
  </property>
  <property fmtid="{D5CDD505-2E9C-101B-9397-08002B2CF9AE}" pid="4" name="ComplianceTagSetId">
    <vt:lpwstr>f14fc1f1-8950-40d5-8a29-45909da947d6</vt:lpwstr>
  </property>
  <property fmtid="{D5CDD505-2E9C-101B-9397-08002B2CF9AE}" pid="5" name="FileId">
    <vt:lpwstr>d00286a4-5ee1-4229-9c77-95c4fad85e80</vt:lpwstr>
  </property>
  <property fmtid="{D5CDD505-2E9C-101B-9397-08002B2CF9AE}" pid="6" name="UserId">
    <vt:lpwstr>Nigar R. Imanova</vt:lpwstr>
  </property>
  <property fmtid="{D5CDD505-2E9C-101B-9397-08002B2CF9AE}" pid="7" name="TagDateTime">
    <vt:lpwstr>12-10-2026</vt:lpwstr>
  </property>
  <property fmtid="{D5CDD505-2E9C-101B-9397-08002B2CF9AE}" pid="8" name="GVData">
    <vt:lpwstr>eyJPUyI6IldpbmRvd3MiLCJkb2NJRCI6ImQwMDI4NmE0LTVlZTEtNDIyOS05Yzc3LTk1YzRmYWQ4NWU4MCIsImRvY1N0YXRlIjoie30iLCJwYXJlbnRMaW5lSWRzIjoiW1wiNGRjNGJhNjMtYWRjMC00ZDkwLTk5YTAtODRjOTE0MzFkMGY1XCJdIiwid3JpdHRlbktl</vt:lpwstr>
  </property>
  <property fmtid="{D5CDD505-2E9C-101B-9397-08002B2CF9AE}" pid="9" name="GVData0">
    <vt:lpwstr>eXMiOiJbXCJDbGFzc2lmaWNhdGlvblRhZ1NldElkXCIsXCJDb21wbGlhbmNlVGFnU2V0SWRcIixcIkZpbGVJZFwiLFwiZ3Zkb2NpZFwiLFwiVGFnRGF0ZVRpbWVcIixcIlVzZXJJZFwiXSIsIm5vT2ZHdkRhdGFFbnRyaWVzIjoiMyIsImxpbmVJZCI6ImRlNGQxMzJi</vt:lpwstr>
  </property>
  <property fmtid="{D5CDD505-2E9C-101B-9397-08002B2CF9AE}" pid="10" name="GVData1">
    <vt:lpwstr>LTNjMTUtNGY0YS04NmM3LTFiMDgwYzc4N2E3OSJ9</vt:lpwstr>
  </property>
  <property fmtid="{D5CDD505-2E9C-101B-9397-08002B2CF9AE}" pid="11" name="GVData2">
    <vt:lpwstr>(end)</vt:lpwstr>
  </property>
</Properties>
</file>