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custDataLst>
    <p:tags r:id="rId1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ipIz9QHDG/qMR1mQoZcAnw/k1F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a:spLocks noGrp="1"/>
          </p:cNvSpPr>
          <p:nvPr>
            <p:ph type="pic" idx="2"/>
          </p:nvPr>
        </p:nvSpPr>
        <p:spPr>
          <a:xfrm>
            <a:off x="5183188" y="987425"/>
            <a:ext cx="6172200" cy="4873625"/>
          </a:xfrm>
          <a:prstGeom prst="rect">
            <a:avLst/>
          </a:prstGeom>
          <a:noFill/>
          <a:ln>
            <a:noFill/>
          </a:ln>
        </p:spPr>
      </p:sp>
      <p:sp>
        <p:nvSpPr>
          <p:cNvPr id="64" name="Google Shape;64;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latin typeface="Verdana"/>
                <a:ea typeface="Verdana"/>
                <a:cs typeface="Verdana"/>
                <a:sym typeface="Verdana"/>
              </a:rPr>
              <a:t>Business and Human Rights Action Plan</a:t>
            </a:r>
            <a:endParaRPr>
              <a:latin typeface="Verdana"/>
              <a:ea typeface="Verdana"/>
              <a:cs typeface="Verdana"/>
              <a:sym typeface="Verdana"/>
            </a:endParaRPr>
          </a:p>
        </p:txBody>
      </p:sp>
      <p:sp>
        <p:nvSpPr>
          <p:cNvPr id="85" name="Google Shape;85;p1"/>
          <p:cNvSpPr txBox="1">
            <a:spLocks noGrp="1"/>
          </p:cNvSpPr>
          <p:nvPr>
            <p:ph type="subTitle" idx="1"/>
          </p:nvPr>
        </p:nvSpPr>
        <p:spPr>
          <a:xfrm>
            <a:off x="1524000" y="4145125"/>
            <a:ext cx="9144000" cy="1112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latin typeface="Verdana"/>
                <a:ea typeface="Verdana"/>
                <a:cs typeface="Verdana"/>
                <a:sym typeface="Verdana"/>
              </a:rPr>
              <a:t>Managing the most severe risks to people</a:t>
            </a:r>
            <a:endParaRPr>
              <a:latin typeface="Verdana"/>
              <a:ea typeface="Verdana"/>
              <a:cs typeface="Verdana"/>
              <a:sym typeface="Verdana"/>
            </a:endParaRPr>
          </a:p>
        </p:txBody>
      </p:sp>
      <p:sp>
        <p:nvSpPr>
          <p:cNvPr id="86" name="Google Shape;86;p1"/>
          <p:cNvSpPr txBox="1"/>
          <p:nvPr/>
        </p:nvSpPr>
        <p:spPr>
          <a:xfrm>
            <a:off x="2111828" y="5474380"/>
            <a:ext cx="796834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COMPANY NAME:………………………………………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PARTICIPANT 1 NAME:…………………………………….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PARTICIPANT 2 NAME:……………………………………..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AMBASSADOR NAME:……………………………………..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12994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Verdana"/>
                <a:ea typeface="Verdana"/>
                <a:cs typeface="Verdana"/>
                <a:sym typeface="Verdana"/>
              </a:rPr>
              <a:t>Content</a:t>
            </a:r>
            <a:endParaRPr>
              <a:latin typeface="Verdana"/>
              <a:ea typeface="Verdana"/>
              <a:cs typeface="Verdana"/>
              <a:sym typeface="Verdana"/>
            </a:endParaRPr>
          </a:p>
        </p:txBody>
      </p:sp>
      <p:sp>
        <p:nvSpPr>
          <p:cNvPr id="92" name="Google Shape;92;p2"/>
          <p:cNvSpPr txBox="1">
            <a:spLocks noGrp="1"/>
          </p:cNvSpPr>
          <p:nvPr>
            <p:ph type="body" idx="1"/>
          </p:nvPr>
        </p:nvSpPr>
        <p:spPr>
          <a:xfrm>
            <a:off x="696686" y="1253331"/>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2000"/>
              <a:buFont typeface="Verdana"/>
              <a:buChar char="•"/>
            </a:pPr>
            <a:r>
              <a:rPr lang="en-US" sz="2000">
                <a:latin typeface="Verdana"/>
                <a:ea typeface="Verdana"/>
                <a:cs typeface="Verdana"/>
                <a:sym typeface="Verdana"/>
              </a:rPr>
              <a:t>Company introduction</a:t>
            </a:r>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BHR journey self-assessment insights</a:t>
            </a:r>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Human Rights Journey Gap Assessment – future focus</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HRDD Step 1: Salient human rights issues</a:t>
            </a:r>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HRDD Step 1: Salient human rights issues prioritization</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HRDD Step 2: Taking action</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HRDD Step 3: Tracking</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HRDD Step 4: Communicating</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Stakeholder Engagement</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Preparing for Remedy</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Grievance Mechanisms</a:t>
            </a:r>
            <a:endParaRPr sz="200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Next Steps </a:t>
            </a:r>
            <a:endParaRPr/>
          </a:p>
          <a:p>
            <a:pPr marL="228600" lvl="0" indent="-228600" algn="l" rtl="0">
              <a:lnSpc>
                <a:spcPct val="90000"/>
              </a:lnSpc>
              <a:spcBef>
                <a:spcPts val="1000"/>
              </a:spcBef>
              <a:spcAft>
                <a:spcPts val="0"/>
              </a:spcAft>
              <a:buClr>
                <a:schemeClr val="dk1"/>
              </a:buClr>
              <a:buSzPts val="2000"/>
              <a:buFont typeface="Verdana"/>
              <a:buChar char="•"/>
            </a:pPr>
            <a:r>
              <a:rPr lang="en-US" sz="2000">
                <a:latin typeface="Verdana"/>
                <a:ea typeface="Verdana"/>
                <a:cs typeface="Verdana"/>
                <a:sym typeface="Verdana"/>
              </a:rPr>
              <a:t>Timelines</a:t>
            </a:r>
            <a:endParaRPr sz="2000">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4"/>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Company introduction</a:t>
            </a:r>
            <a:endParaRPr sz="3600">
              <a:latin typeface="Verdana"/>
              <a:ea typeface="Verdana"/>
              <a:cs typeface="Verdana"/>
              <a:sym typeface="Verdana"/>
            </a:endParaRPr>
          </a:p>
        </p:txBody>
      </p:sp>
      <p:sp>
        <p:nvSpPr>
          <p:cNvPr id="98" name="Google Shape;98;p4"/>
          <p:cNvSpPr txBox="1">
            <a:spLocks noGrp="1"/>
          </p:cNvSpPr>
          <p:nvPr>
            <p:ph type="body" idx="1"/>
          </p:nvPr>
        </p:nvSpPr>
        <p:spPr>
          <a:xfrm>
            <a:off x="838200" y="2464419"/>
            <a:ext cx="10515600" cy="3712543"/>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99" name="Google Shape;99;p4"/>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company description</a:t>
            </a:r>
            <a:endParaRPr sz="1400" b="0" i="0" u="none" strike="noStrike" cap="none">
              <a:solidFill>
                <a:srgbClr val="00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5"/>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1000"/>
              </a:spcBef>
              <a:spcAft>
                <a:spcPts val="0"/>
              </a:spcAft>
              <a:buClr>
                <a:schemeClr val="dk1"/>
              </a:buClr>
              <a:buSzPts val="3600"/>
              <a:buNone/>
            </a:pPr>
            <a:r>
              <a:rPr lang="en-US" sz="3600">
                <a:latin typeface="Verdana"/>
                <a:ea typeface="Verdana"/>
                <a:cs typeface="Verdana"/>
                <a:sym typeface="Verdana"/>
              </a:rPr>
              <a:t>BHR journey self-assessment insights</a:t>
            </a:r>
            <a:endParaRPr/>
          </a:p>
        </p:txBody>
      </p:sp>
      <p:sp>
        <p:nvSpPr>
          <p:cNvPr id="105" name="Google Shape;105;p25"/>
          <p:cNvSpPr txBox="1">
            <a:spLocks noGrp="1"/>
          </p:cNvSpPr>
          <p:nvPr>
            <p:ph type="body" idx="1"/>
          </p:nvPr>
        </p:nvSpPr>
        <p:spPr>
          <a:xfrm>
            <a:off x="838200" y="2464419"/>
            <a:ext cx="10515600" cy="3712543"/>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06" name="Google Shape;106;p25"/>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identified good practice and areas of improvement/ gaps from BHR journey self-assessment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6"/>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Human Rights Journey Gap Assessment – future focus</a:t>
            </a:r>
            <a:endParaRPr sz="3600">
              <a:latin typeface="Verdana"/>
              <a:ea typeface="Verdana"/>
              <a:cs typeface="Verdana"/>
              <a:sym typeface="Verdana"/>
            </a:endParaRPr>
          </a:p>
        </p:txBody>
      </p:sp>
      <p:sp>
        <p:nvSpPr>
          <p:cNvPr id="112" name="Google Shape;112;p26"/>
          <p:cNvSpPr txBox="1">
            <a:spLocks noGrp="1"/>
          </p:cNvSpPr>
          <p:nvPr>
            <p:ph type="body" idx="1"/>
          </p:nvPr>
        </p:nvSpPr>
        <p:spPr>
          <a:xfrm>
            <a:off x="838200" y="2464419"/>
            <a:ext cx="10515600" cy="3712543"/>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13" name="Google Shape;113;p26"/>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details about areas of future focus based on the BHR Journey self-assessment</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838200" y="365126"/>
            <a:ext cx="10515600" cy="593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60"/>
              <a:buFont typeface="Calibri"/>
              <a:buNone/>
            </a:pPr>
            <a:r>
              <a:rPr lang="en-US" sz="3600">
                <a:latin typeface="Verdana"/>
                <a:ea typeface="Verdana"/>
                <a:cs typeface="Verdana"/>
                <a:sym typeface="Verdana"/>
              </a:rPr>
              <a:t>HRDD Step 1: Salient human rights issues </a:t>
            </a:r>
            <a:endParaRPr sz="3600">
              <a:latin typeface="Verdana"/>
              <a:ea typeface="Verdana"/>
              <a:cs typeface="Verdana"/>
              <a:sym typeface="Verdana"/>
            </a:endParaRPr>
          </a:p>
        </p:txBody>
      </p:sp>
      <p:sp>
        <p:nvSpPr>
          <p:cNvPr id="119" name="Google Shape;119;p5"/>
          <p:cNvSpPr txBox="1">
            <a:spLocks noGrp="1"/>
          </p:cNvSpPr>
          <p:nvPr>
            <p:ph type="body" idx="1"/>
          </p:nvPr>
        </p:nvSpPr>
        <p:spPr>
          <a:xfrm>
            <a:off x="838200" y="2810107"/>
            <a:ext cx="10515600" cy="3366856"/>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20" name="Google Shape;120;p5"/>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Highlight your company’s salient human rights issues</a:t>
            </a:r>
            <a:endParaRPr sz="1400" b="0" i="0" u="none" strike="noStrike" cap="none">
              <a:solidFill>
                <a:srgbClr val="000000"/>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7"/>
          <p:cNvSpPr txBox="1">
            <a:spLocks noGrp="1"/>
          </p:cNvSpPr>
          <p:nvPr>
            <p:ph type="title"/>
          </p:nvPr>
        </p:nvSpPr>
        <p:spPr>
          <a:xfrm>
            <a:off x="838200" y="365126"/>
            <a:ext cx="10515600" cy="593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60"/>
              <a:buFont typeface="Calibri"/>
              <a:buNone/>
            </a:pPr>
            <a:r>
              <a:rPr lang="en-US" sz="3600">
                <a:latin typeface="Verdana"/>
                <a:ea typeface="Verdana"/>
                <a:cs typeface="Verdana"/>
                <a:sym typeface="Verdana"/>
              </a:rPr>
              <a:t>HRDD Step 1: Salient human rights issues prioritization</a:t>
            </a:r>
            <a:endParaRPr sz="3600">
              <a:latin typeface="Verdana"/>
              <a:ea typeface="Verdana"/>
              <a:cs typeface="Verdana"/>
              <a:sym typeface="Verdana"/>
            </a:endParaRPr>
          </a:p>
        </p:txBody>
      </p:sp>
      <p:sp>
        <p:nvSpPr>
          <p:cNvPr id="126" name="Google Shape;126;p27"/>
          <p:cNvSpPr txBox="1">
            <a:spLocks noGrp="1"/>
          </p:cNvSpPr>
          <p:nvPr>
            <p:ph type="body" idx="1"/>
          </p:nvPr>
        </p:nvSpPr>
        <p:spPr>
          <a:xfrm>
            <a:off x="838200" y="2810107"/>
            <a:ext cx="10515600" cy="3366856"/>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27" name="Google Shape;127;p27"/>
          <p:cNvSpPr/>
          <p:nvPr/>
        </p:nvSpPr>
        <p:spPr>
          <a:xfrm>
            <a:off x="947854" y="1287701"/>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prioritization points, data and/or heatmap from the HRDD workbook</a:t>
            </a:r>
            <a:endParaRPr sz="1400" b="0" i="0" u="none" strike="noStrike" cap="none">
              <a:solidFill>
                <a:srgbClr val="000000"/>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838200" y="365126"/>
            <a:ext cx="10515600" cy="62733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2: Taking Action</a:t>
            </a:r>
            <a:endParaRPr sz="3600">
              <a:latin typeface="Verdana"/>
              <a:ea typeface="Verdana"/>
              <a:cs typeface="Verdana"/>
              <a:sym typeface="Verdana"/>
            </a:endParaRPr>
          </a:p>
        </p:txBody>
      </p:sp>
      <p:sp>
        <p:nvSpPr>
          <p:cNvPr id="133" name="Google Shape;133;p6"/>
          <p:cNvSpPr txBox="1">
            <a:spLocks noGrp="1"/>
          </p:cNvSpPr>
          <p:nvPr>
            <p:ph type="body" idx="1"/>
          </p:nvPr>
        </p:nvSpPr>
        <p:spPr>
          <a:xfrm>
            <a:off x="838200" y="2364059"/>
            <a:ext cx="10515600" cy="3812904"/>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34" name="Google Shape;134;p6"/>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points, data or tables from the taking Action tab of HRDD workbook, relating to the salient issue</a:t>
            </a:r>
            <a:r>
              <a:rPr lang="en-US" sz="1800">
                <a:solidFill>
                  <a:schemeClr val="lt1"/>
                </a:solidFill>
                <a:latin typeface="Verdana"/>
                <a:ea typeface="Verdana"/>
                <a:cs typeface="Verdana"/>
                <a:sym typeface="Verdana"/>
              </a:rPr>
              <a:t>/</a:t>
            </a:r>
            <a:r>
              <a:rPr lang="en-US" sz="1800" b="0" i="0" u="none" strike="noStrike" cap="none">
                <a:solidFill>
                  <a:schemeClr val="lt1"/>
                </a:solidFill>
                <a:latin typeface="Verdana"/>
                <a:ea typeface="Verdana"/>
                <a:cs typeface="Verdana"/>
                <a:sym typeface="Verdana"/>
              </a:rPr>
              <a:t>s that you cont</a:t>
            </a:r>
            <a:r>
              <a:rPr lang="en-US" sz="1800">
                <a:solidFill>
                  <a:schemeClr val="lt1"/>
                </a:solidFill>
                <a:latin typeface="Verdana"/>
                <a:ea typeface="Verdana"/>
                <a:cs typeface="Verdana"/>
                <a:sym typeface="Verdana"/>
              </a:rPr>
              <a:t>inue to work on throughout the programme</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838200" y="365126"/>
            <a:ext cx="10515600" cy="7053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3: Tracking</a:t>
            </a:r>
            <a:endParaRPr sz="3600">
              <a:latin typeface="Verdana"/>
              <a:ea typeface="Verdana"/>
              <a:cs typeface="Verdana"/>
              <a:sym typeface="Verdana"/>
            </a:endParaRPr>
          </a:p>
        </p:txBody>
      </p:sp>
      <p:sp>
        <p:nvSpPr>
          <p:cNvPr id="140" name="Google Shape;140;p7"/>
          <p:cNvSpPr txBox="1">
            <a:spLocks noGrp="1"/>
          </p:cNvSpPr>
          <p:nvPr>
            <p:ph type="body" idx="1"/>
          </p:nvPr>
        </p:nvSpPr>
        <p:spPr>
          <a:xfrm>
            <a:off x="838200" y="2888165"/>
            <a:ext cx="10515600" cy="3288797"/>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41" name="Google Shape;141;p7"/>
          <p:cNvSpPr/>
          <p:nvPr/>
        </p:nvSpPr>
        <p:spPr>
          <a:xfrm>
            <a:off x="838200" y="1293542"/>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below key indicators that you have identified will help track effectiveness of actions taken to address your salient human rights issue</a:t>
            </a:r>
            <a:r>
              <a:rPr lang="en-US" sz="1800">
                <a:solidFill>
                  <a:schemeClr val="lt1"/>
                </a:solidFill>
                <a:latin typeface="Verdana"/>
                <a:ea typeface="Verdana"/>
                <a:cs typeface="Verdana"/>
                <a:sym typeface="Verdana"/>
              </a:rPr>
              <a:t>/s</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365126"/>
            <a:ext cx="10515600" cy="671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4: Communicating</a:t>
            </a:r>
            <a:endParaRPr sz="3600">
              <a:latin typeface="Verdana"/>
              <a:ea typeface="Verdana"/>
              <a:cs typeface="Verdana"/>
              <a:sym typeface="Verdana"/>
            </a:endParaRPr>
          </a:p>
        </p:txBody>
      </p:sp>
      <p:sp>
        <p:nvSpPr>
          <p:cNvPr id="147" name="Google Shape;147;p8"/>
          <p:cNvSpPr txBox="1">
            <a:spLocks noGrp="1"/>
          </p:cNvSpPr>
          <p:nvPr>
            <p:ph type="body" idx="1"/>
          </p:nvPr>
        </p:nvSpPr>
        <p:spPr>
          <a:xfrm>
            <a:off x="838200" y="2520175"/>
            <a:ext cx="10515600" cy="3656787"/>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48" name="Google Shape;148;p8"/>
          <p:cNvSpPr/>
          <p:nvPr/>
        </p:nvSpPr>
        <p:spPr>
          <a:xfrm>
            <a:off x="838200" y="1293542"/>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below information on how you will communicate internally and externally about managing your salient human rights issues</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838200" y="365126"/>
            <a:ext cx="10515600" cy="671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Stakeholder Engagement</a:t>
            </a:r>
            <a:endParaRPr sz="3600">
              <a:latin typeface="Verdana"/>
              <a:ea typeface="Verdana"/>
              <a:cs typeface="Verdana"/>
              <a:sym typeface="Verdana"/>
            </a:endParaRPr>
          </a:p>
        </p:txBody>
      </p:sp>
      <p:sp>
        <p:nvSpPr>
          <p:cNvPr id="154" name="Google Shape;154;p9"/>
          <p:cNvSpPr txBox="1">
            <a:spLocks noGrp="1"/>
          </p:cNvSpPr>
          <p:nvPr>
            <p:ph type="body" idx="1"/>
          </p:nvPr>
        </p:nvSpPr>
        <p:spPr>
          <a:xfrm>
            <a:off x="838200" y="2285999"/>
            <a:ext cx="10515600" cy="3890963"/>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55" name="Google Shape;155;p9"/>
          <p:cNvSpPr/>
          <p:nvPr/>
        </p:nvSpPr>
        <p:spPr>
          <a:xfrm>
            <a:off x="838200" y="1126276"/>
            <a:ext cx="10406100" cy="10785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details and/or data that articulate your future stakeholder engagement approach</a:t>
            </a:r>
            <a:r>
              <a:rPr lang="en-US" sz="1800">
                <a:solidFill>
                  <a:schemeClr val="lt1"/>
                </a:solidFill>
                <a:latin typeface="Verdana"/>
                <a:ea typeface="Verdana"/>
                <a:cs typeface="Verdana"/>
                <a:sym typeface="Verdana"/>
              </a:rPr>
              <a:t> for example, which stakeholders do you wish to engage in relation to your salient human rights issue(s)? how do you plan to engage? with whose help?</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838200" y="365125"/>
            <a:ext cx="10515600" cy="51582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Preparing for Remedy</a:t>
            </a:r>
            <a:endParaRPr sz="3600">
              <a:latin typeface="Verdana"/>
              <a:ea typeface="Verdana"/>
              <a:cs typeface="Verdana"/>
              <a:sym typeface="Verdana"/>
            </a:endParaRPr>
          </a:p>
        </p:txBody>
      </p:sp>
      <p:sp>
        <p:nvSpPr>
          <p:cNvPr id="161" name="Google Shape;161;p10"/>
          <p:cNvSpPr txBox="1">
            <a:spLocks noGrp="1"/>
          </p:cNvSpPr>
          <p:nvPr>
            <p:ph type="body" idx="1"/>
          </p:nvPr>
        </p:nvSpPr>
        <p:spPr>
          <a:xfrm>
            <a:off x="838200" y="2219093"/>
            <a:ext cx="10515600" cy="395787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62" name="Google Shape;162;p10"/>
          <p:cNvSpPr/>
          <p:nvPr/>
        </p:nvSpPr>
        <p:spPr>
          <a:xfrm>
            <a:off x="838200" y="1048225"/>
            <a:ext cx="10515600" cy="8487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chemeClr val="lt1"/>
                </a:solidFill>
                <a:latin typeface="Verdana"/>
                <a:ea typeface="Verdana"/>
                <a:cs typeface="Verdana"/>
                <a:sym typeface="Verdana"/>
              </a:rPr>
              <a:t>Share </a:t>
            </a:r>
            <a:r>
              <a:rPr lang="en-US" sz="1800" b="0" i="0" u="none" strike="noStrike" cap="none">
                <a:solidFill>
                  <a:schemeClr val="lt1"/>
                </a:solidFill>
                <a:latin typeface="Verdana"/>
                <a:ea typeface="Verdana"/>
                <a:cs typeface="Verdana"/>
                <a:sym typeface="Verdana"/>
              </a:rPr>
              <a:t>some reflections below </a:t>
            </a:r>
            <a:r>
              <a:rPr lang="en-US" sz="1800">
                <a:solidFill>
                  <a:schemeClr val="lt1"/>
                </a:solidFill>
                <a:latin typeface="Verdana"/>
                <a:ea typeface="Verdana"/>
                <a:cs typeface="Verdana"/>
                <a:sym typeface="Verdana"/>
              </a:rPr>
              <a:t>on</a:t>
            </a:r>
            <a:r>
              <a:rPr lang="en-US" sz="1800" b="0" i="0" u="none" strike="noStrike" cap="none">
                <a:solidFill>
                  <a:schemeClr val="lt1"/>
                </a:solidFill>
                <a:latin typeface="Verdana"/>
                <a:ea typeface="Verdana"/>
                <a:cs typeface="Verdana"/>
                <a:sym typeface="Verdana"/>
              </a:rPr>
              <a:t> how you will prepare the organization for providing and/or enabling remedy in relation to your salient human rights issue</a:t>
            </a:r>
            <a:r>
              <a:rPr lang="en-US" sz="1800">
                <a:solidFill>
                  <a:schemeClr val="lt1"/>
                </a:solidFill>
                <a:latin typeface="Verdana"/>
                <a:ea typeface="Verdana"/>
                <a:cs typeface="Verdana"/>
                <a:sym typeface="Verdana"/>
              </a:rPr>
              <a:t>/s</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838200" y="365126"/>
            <a:ext cx="10515600" cy="62733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Grievance Mechanisms</a:t>
            </a:r>
            <a:endParaRPr sz="3600">
              <a:latin typeface="Verdana"/>
              <a:ea typeface="Verdana"/>
              <a:cs typeface="Verdana"/>
              <a:sym typeface="Verdana"/>
            </a:endParaRPr>
          </a:p>
        </p:txBody>
      </p:sp>
      <p:sp>
        <p:nvSpPr>
          <p:cNvPr id="168" name="Google Shape;168;p11"/>
          <p:cNvSpPr txBox="1">
            <a:spLocks noGrp="1"/>
          </p:cNvSpPr>
          <p:nvPr>
            <p:ph type="body" idx="1"/>
          </p:nvPr>
        </p:nvSpPr>
        <p:spPr>
          <a:xfrm>
            <a:off x="838200" y="2408663"/>
            <a:ext cx="10515600" cy="37683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69" name="Google Shape;169;p11"/>
          <p:cNvSpPr/>
          <p:nvPr/>
        </p:nvSpPr>
        <p:spPr>
          <a:xfrm>
            <a:off x="838200" y="907075"/>
            <a:ext cx="10406100" cy="14346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reflections below on your gap assessment of company grievance mechanisms and initial thoughts on how you can strengthen it. If your company does not yet have one, please share reflections on what kind of future mechanism(s) seems most appropriate for your organization.</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2"/>
          <p:cNvSpPr txBox="1">
            <a:spLocks noGrp="1"/>
          </p:cNvSpPr>
          <p:nvPr>
            <p:ph type="title"/>
          </p:nvPr>
        </p:nvSpPr>
        <p:spPr>
          <a:xfrm>
            <a:off x="838200" y="365125"/>
            <a:ext cx="10515600" cy="839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Next Steps</a:t>
            </a:r>
            <a:endParaRPr sz="3600">
              <a:latin typeface="Verdana"/>
              <a:ea typeface="Verdana"/>
              <a:cs typeface="Verdana"/>
              <a:sym typeface="Verdana"/>
            </a:endParaRPr>
          </a:p>
        </p:txBody>
      </p:sp>
      <p:sp>
        <p:nvSpPr>
          <p:cNvPr id="175" name="Google Shape;175;p12"/>
          <p:cNvSpPr txBox="1">
            <a:spLocks noGrp="1"/>
          </p:cNvSpPr>
          <p:nvPr>
            <p:ph type="body" idx="1"/>
          </p:nvPr>
        </p:nvSpPr>
        <p:spPr>
          <a:xfrm>
            <a:off x="838200" y="2571348"/>
            <a:ext cx="10515600" cy="36057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76" name="Google Shape;176;p12"/>
          <p:cNvSpPr/>
          <p:nvPr/>
        </p:nvSpPr>
        <p:spPr>
          <a:xfrm>
            <a:off x="892950" y="1204324"/>
            <a:ext cx="10406100" cy="8391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chemeClr val="lt1"/>
                </a:solidFill>
                <a:latin typeface="Verdana"/>
                <a:ea typeface="Verdana"/>
                <a:cs typeface="Verdana"/>
                <a:sym typeface="Verdana"/>
              </a:rPr>
              <a:t>Share what the next steps you will take after this program to strengthen the implementation of human rights due diligence across your organization?</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838200" y="365125"/>
            <a:ext cx="10515600" cy="839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Timelines</a:t>
            </a:r>
            <a:endParaRPr sz="3600">
              <a:latin typeface="Verdana"/>
              <a:ea typeface="Verdana"/>
              <a:cs typeface="Verdana"/>
              <a:sym typeface="Verdana"/>
            </a:endParaRPr>
          </a:p>
        </p:txBody>
      </p:sp>
      <p:sp>
        <p:nvSpPr>
          <p:cNvPr id="182" name="Google Shape;182;p28"/>
          <p:cNvSpPr txBox="1">
            <a:spLocks noGrp="1"/>
          </p:cNvSpPr>
          <p:nvPr>
            <p:ph type="body" idx="1"/>
          </p:nvPr>
        </p:nvSpPr>
        <p:spPr>
          <a:xfrm>
            <a:off x="838200" y="2270049"/>
            <a:ext cx="10515600" cy="39069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83" name="Google Shape;183;p28"/>
          <p:cNvSpPr/>
          <p:nvPr/>
        </p:nvSpPr>
        <p:spPr>
          <a:xfrm>
            <a:off x="892950" y="1204324"/>
            <a:ext cx="10406100" cy="8391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chemeClr val="lt1"/>
                </a:solidFill>
                <a:latin typeface="Verdana"/>
                <a:ea typeface="Verdana"/>
                <a:cs typeface="Verdana"/>
                <a:sym typeface="Verdana"/>
              </a:rPr>
              <a:t>Share what next steps you will take after this program to strengthen the implementation of human rights due diligence across your organization?</a:t>
            </a:r>
            <a:endParaRPr sz="1800" b="0" i="0" u="none" strike="noStrike" cap="none">
              <a:solidFill>
                <a:srgbClr val="000000"/>
              </a:solidFill>
              <a:latin typeface="Verdana"/>
              <a:ea typeface="Verdana"/>
              <a:cs typeface="Verdana"/>
              <a:sym typeface="Verdan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OCID" val="520c9112-a40c-4dba-aa9b-f7e68e60eced"/>
  <p:tag name="CLASSIFICATIONTAGSETID" val="e16409a7-1700-4153-9090-3955bc2f0ae8"/>
  <p:tag name="COMPLIANCETAGSETID" val="f14fc1f1-8950-40d5-8a29-45909da947d6"/>
  <p:tag name="FILEID" val="520c9112-a40c-4dba-aa9b-f7e68e60eced"/>
  <p:tag name="USERID" val="Nizami B. Tahirov"/>
  <p:tag name="TAGDATETIME" val="29-09-2026"/>
  <p:tag name="GVDATA" val="eyJPUyI6IldpbmRvd3MiLCJkb2NJRCI6IjUyMGM5MTEyLWE0MGMtNGRiYS1hYTliLWY3ZTY4ZTYwZWNlZCIsImRvY1N0YXRlIjoie30iLCJwYXJlbnRMaW5lSWRzIjoiW10iLCJ3cml0dGVuS2V5cyI6IltcIkNsYXNzaWZpY2F0aW9uVGFnU2V0SWRcIixcIkNvbXBs"/>
  <p:tag name="GVDATA0" val="aWFuY2VUYWdTZXRJZFwiLFwiRmlsZUlkXCIsXCJndmRvY2lkXCIsXCJUYWdEYXRlVGltZVwiLFwiVXNlcklkXCJdIiwibm9PZkd2RGF0YUVudHJpZXMiOiIyIiwibGluZUlkIjoiZGU2Zjg4MmYtMDQ1OC00NzQ4LWJiNWEtODcxMGQ0ZDYxZWQxIn0="/>
  <p:tag name="GVDATA1" val="(end)"/>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438</Words>
  <Application>Microsoft Office PowerPoint</Application>
  <PresentationFormat>Widescreen</PresentationFormat>
  <Paragraphs>46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Verdana</vt:lpstr>
      <vt:lpstr>Office Theme</vt:lpstr>
      <vt:lpstr>Business and Human Rights Action Plan</vt:lpstr>
      <vt:lpstr>Content</vt:lpstr>
      <vt:lpstr>Company introduction</vt:lpstr>
      <vt:lpstr>BHR journey self-assessment insights</vt:lpstr>
      <vt:lpstr>Human Rights Journey Gap Assessment – future focus</vt:lpstr>
      <vt:lpstr>HRDD Step 1: Salient human rights issues </vt:lpstr>
      <vt:lpstr>HRDD Step 1: Salient human rights issues prioritization</vt:lpstr>
      <vt:lpstr>HRDD Step 2: Taking Action</vt:lpstr>
      <vt:lpstr>HRDD Step 3: Tracking</vt:lpstr>
      <vt:lpstr>HRDD Step 4: Communicating</vt:lpstr>
      <vt:lpstr>Stakeholder Engagement</vt:lpstr>
      <vt:lpstr>Preparing for Remedy</vt:lpstr>
      <vt:lpstr>Grievance Mechanisms</vt:lpstr>
      <vt:lpstr>Next Steps</vt:lpstr>
      <vt:lpstr>Timelines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Mairead Keigher</dc:creator>
  <cp:lastModifiedBy>Nizami B. Tahirov</cp:lastModifiedBy>
  <cp:revision>1</cp:revision>
  <dcterms:created xsi:type="dcterms:W3CDTF">2022-11-22T16:13:22Z</dcterms:created>
  <dcterms:modified xsi:type="dcterms:W3CDTF">2026-09-29T07:13:19Z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ocid">
    <vt:lpwstr>520c9112-a40c-4dba-aa9b-f7e68e60eced</vt:lpwstr>
  </property>
  <property fmtid="{D5CDD505-2E9C-101B-9397-08002B2CF9AE}" pid="3" name="ClassificationTagSetId">
    <vt:lpwstr>e16409a7-1700-4153-9090-3955bc2f0ae8</vt:lpwstr>
  </property>
  <property fmtid="{D5CDD505-2E9C-101B-9397-08002B2CF9AE}" pid="4" name="ComplianceTagSetId">
    <vt:lpwstr>f14fc1f1-8950-40d5-8a29-45909da947d6</vt:lpwstr>
  </property>
  <property fmtid="{D5CDD505-2E9C-101B-9397-08002B2CF9AE}" pid="5" name="FileId">
    <vt:lpwstr>520c9112-a40c-4dba-aa9b-f7e68e60eced</vt:lpwstr>
  </property>
  <property fmtid="{D5CDD505-2E9C-101B-9397-08002B2CF9AE}" pid="6" name="UserId">
    <vt:lpwstr>Nizami B. Tahirov</vt:lpwstr>
  </property>
  <property fmtid="{D5CDD505-2E9C-101B-9397-08002B2CF9AE}" pid="7" name="TagDateTime">
    <vt:lpwstr>29-09-2026</vt:lpwstr>
  </property>
  <property fmtid="{D5CDD505-2E9C-101B-9397-08002B2CF9AE}" pid="8" name="GVData">
    <vt:lpwstr>eyJPUyI6IldpbmRvd3MiLCJkb2NJRCI6IjUyMGM5MTEyLWE0MGMtNGRiYS1hYTliLWY3ZTY4ZTYwZWNlZCIsImRvY1N0YXRlIjoie30iLCJwYXJlbnRMaW5lSWRzIjoiW10iLCJ3cml0dGVuS2V5cyI6IltcIkNsYXNzaWZpY2F0aW9uVGFnU2V0SWRcIixcIkNvbXBs</vt:lpwstr>
  </property>
  <property fmtid="{D5CDD505-2E9C-101B-9397-08002B2CF9AE}" pid="9" name="GVData0">
    <vt:lpwstr>aWFuY2VUYWdTZXRJZFwiLFwiRmlsZUlkXCIsXCJndmRvY2lkXCIsXCJUYWdEYXRlVGltZVwiLFwiVXNlcklkXCJdIiwibm9PZkd2RGF0YUVudHJpZXMiOiIyIiwibGluZUlkIjoiZGU2Zjg4MmYtMDQ1OC00NzQ4LWJiNWEtODcxMGQ0ZDYxZWQxIn0=</vt:lpwstr>
  </property>
  <property fmtid="{D5CDD505-2E9C-101B-9397-08002B2CF9AE}" pid="10" name="GVData1">
    <vt:lpwstr>(end)</vt:lpwstr>
  </property>
</Properties>
</file>