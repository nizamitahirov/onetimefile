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custDataLst>
    <p:tags r:id="rId1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jg6RIEG3MbrG70z7mV8sUa4XRw8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992486-5E52-47C3-89AC-99C0690D696B}" v="4" dt="2025-02-21T14:29:22.648"/>
  </p1510:revLst>
</p1510:revInfo>
</file>

<file path=ppt/tableStyles.xml><?xml version="1.0" encoding="utf-8"?>
<a:tblStyleLst xmlns:a="http://schemas.openxmlformats.org/drawingml/2006/main" def="{FC2ED185-7669-4AB0-987E-49E665EB03B7}">
  <a:tblStyle styleId="{FC2ED185-7669-4AB0-987E-49E665EB03B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859DD1B-E565-4BAC-9FFE-939C086D947F}" styleName="Table_1">
    <a:wholeTbl>
      <a:tcTxStyle b="off" i="off">
        <a:font>
          <a:latin typeface="Arial"/>
          <a:ea typeface="Arial"/>
          <a:cs typeface="Arial"/>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26" Type="http://schemas.microsoft.com/office/2015/10/relationships/revisionInfo" Target="revisionInfo.xml"/><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0" name="Google Shape;12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8" name="Google Shape;128;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7" name="Google Shape;137;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5" name="Google Shape;145;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1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1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2"/>
          <p:cNvSpPr>
            <a:spLocks noGrp="1"/>
          </p:cNvSpPr>
          <p:nvPr>
            <p:ph type="pic" idx="2"/>
          </p:nvPr>
        </p:nvSpPr>
        <p:spPr>
          <a:xfrm>
            <a:off x="5183188" y="987425"/>
            <a:ext cx="6172200" cy="4873625"/>
          </a:xfrm>
          <a:prstGeom prst="rect">
            <a:avLst/>
          </a:prstGeom>
          <a:noFill/>
          <a:ln>
            <a:noFill/>
          </a:ln>
        </p:spPr>
      </p:sp>
      <p:sp>
        <p:nvSpPr>
          <p:cNvPr id="64" name="Google Shape;64;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latin typeface="Verdana"/>
                <a:ea typeface="Verdana"/>
                <a:cs typeface="Verdana"/>
                <a:sym typeface="Verdana"/>
              </a:rPr>
              <a:t>Business and Human Rights Action Plan</a:t>
            </a:r>
            <a:endParaRPr>
              <a:latin typeface="Verdana"/>
              <a:ea typeface="Verdana"/>
              <a:cs typeface="Verdana"/>
              <a:sym typeface="Verdana"/>
            </a:endParaRPr>
          </a:p>
        </p:txBody>
      </p:sp>
      <p:sp>
        <p:nvSpPr>
          <p:cNvPr id="85" name="Google Shape;85;p1"/>
          <p:cNvSpPr txBox="1">
            <a:spLocks noGrp="1"/>
          </p:cNvSpPr>
          <p:nvPr>
            <p:ph type="subTitle" idx="1"/>
          </p:nvPr>
        </p:nvSpPr>
        <p:spPr>
          <a:xfrm>
            <a:off x="1524000" y="4145125"/>
            <a:ext cx="9144000" cy="1112700"/>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latin typeface="Verdana"/>
                <a:ea typeface="Verdana"/>
                <a:cs typeface="Verdana"/>
                <a:sym typeface="Verdana"/>
              </a:rPr>
              <a:t>Managing the most severe risks to people</a:t>
            </a:r>
            <a:endParaRPr>
              <a:latin typeface="Verdana"/>
              <a:ea typeface="Verdana"/>
              <a:cs typeface="Verdana"/>
              <a:sym typeface="Verdana"/>
            </a:endParaRPr>
          </a:p>
        </p:txBody>
      </p:sp>
      <p:sp>
        <p:nvSpPr>
          <p:cNvPr id="86" name="Google Shape;86;p1"/>
          <p:cNvSpPr txBox="1"/>
          <p:nvPr/>
        </p:nvSpPr>
        <p:spPr>
          <a:xfrm>
            <a:off x="2111828" y="5474380"/>
            <a:ext cx="7968343" cy="95410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COMPANY NAME: GoodCorp</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PARTICIPANT 1 NAME: Nichole Solomons</a:t>
            </a:r>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PARTICIPANT 2 NAME: Mairead Keigher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0" i="0" u="none" strike="noStrike" cap="none">
                <a:solidFill>
                  <a:srgbClr val="000000"/>
                </a:solidFill>
                <a:latin typeface="Arial"/>
                <a:ea typeface="Arial"/>
                <a:cs typeface="Arial"/>
                <a:sym typeface="Arial"/>
              </a:rPr>
              <a:t>AMBASSADOR NAME: Jane Example</a:t>
            </a:r>
            <a:endParaRPr/>
          </a:p>
        </p:txBody>
      </p:sp>
      <p:sp>
        <p:nvSpPr>
          <p:cNvPr id="87" name="Google Shape;87;p1"/>
          <p:cNvSpPr txBox="1"/>
          <p:nvPr/>
        </p:nvSpPr>
        <p:spPr>
          <a:xfrm rot="-591567">
            <a:off x="476119" y="5875222"/>
            <a:ext cx="1273712" cy="3078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a:spLocks noGrp="1"/>
          </p:cNvSpPr>
          <p:nvPr>
            <p:ph type="title"/>
          </p:nvPr>
        </p:nvSpPr>
        <p:spPr>
          <a:xfrm>
            <a:off x="838200" y="12994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latin typeface="Verdana"/>
                <a:ea typeface="Verdana"/>
                <a:cs typeface="Verdana"/>
                <a:sym typeface="Verdana"/>
              </a:rPr>
              <a:t>Content</a:t>
            </a:r>
            <a:endParaRPr>
              <a:latin typeface="Verdana"/>
              <a:ea typeface="Verdana"/>
              <a:cs typeface="Verdana"/>
              <a:sym typeface="Verdana"/>
            </a:endParaRPr>
          </a:p>
        </p:txBody>
      </p:sp>
      <p:sp>
        <p:nvSpPr>
          <p:cNvPr id="93" name="Google Shape;93;p2"/>
          <p:cNvSpPr txBox="1">
            <a:spLocks noGrp="1"/>
          </p:cNvSpPr>
          <p:nvPr>
            <p:ph type="body" idx="1"/>
          </p:nvPr>
        </p:nvSpPr>
        <p:spPr>
          <a:xfrm>
            <a:off x="696686" y="1253331"/>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100000"/>
              </a:lnSpc>
              <a:spcBef>
                <a:spcPts val="0"/>
              </a:spcBef>
              <a:spcAft>
                <a:spcPts val="0"/>
              </a:spcAft>
              <a:buClr>
                <a:schemeClr val="dk1"/>
              </a:buClr>
              <a:buSzPts val="2000"/>
              <a:buFont typeface="Verdana"/>
              <a:buChar char="•"/>
            </a:pPr>
            <a:r>
              <a:rPr lang="en-US" sz="2000" dirty="0">
                <a:latin typeface="Verdana"/>
                <a:ea typeface="Verdana"/>
                <a:cs typeface="Verdana"/>
                <a:sym typeface="Verdana"/>
              </a:rPr>
              <a:t>Company introduction</a:t>
            </a:r>
            <a:endParaRPr dirty="0"/>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BHR journey self-assessment insights</a:t>
            </a:r>
            <a:endParaRPr dirty="0"/>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Human Rights Journey Gap Assessment – future focus</a:t>
            </a:r>
            <a:endParaRPr sz="2000" dirty="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HRDD Step 1: Salient human rights issues</a:t>
            </a:r>
            <a:endParaRPr dirty="0"/>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HRDD Step 1: Salient human rights issues prioritized</a:t>
            </a:r>
            <a:endParaRPr sz="2000" dirty="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HRDD Step 2: Taking action</a:t>
            </a:r>
            <a:endParaRPr sz="2000" dirty="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HRDD Step 3: Tracking</a:t>
            </a:r>
            <a:endParaRPr sz="2000" dirty="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HRDD Step 4: Communicating</a:t>
            </a:r>
            <a:endParaRPr sz="2000" dirty="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Stakeholder Engagement</a:t>
            </a:r>
            <a:endParaRPr sz="2000" dirty="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Preparing for Remedy</a:t>
            </a:r>
            <a:endParaRPr sz="2000" dirty="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Grievance Mechanisms</a:t>
            </a:r>
            <a:endParaRPr sz="2000" dirty="0">
              <a:latin typeface="Verdana"/>
              <a:ea typeface="Verdana"/>
              <a:cs typeface="Verdana"/>
              <a:sym typeface="Verdana"/>
            </a:endParaRPr>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Next Steps </a:t>
            </a:r>
            <a:endParaRPr dirty="0"/>
          </a:p>
          <a:p>
            <a:pPr marL="228600" lvl="0" indent="-228600" algn="l" rtl="0">
              <a:lnSpc>
                <a:spcPct val="90000"/>
              </a:lnSpc>
              <a:spcBef>
                <a:spcPts val="1000"/>
              </a:spcBef>
              <a:spcAft>
                <a:spcPts val="0"/>
              </a:spcAft>
              <a:buClr>
                <a:schemeClr val="dk1"/>
              </a:buClr>
              <a:buSzPts val="2000"/>
              <a:buFont typeface="Verdana"/>
              <a:buChar char="•"/>
            </a:pPr>
            <a:r>
              <a:rPr lang="en-US" sz="2000" dirty="0">
                <a:latin typeface="Verdana"/>
                <a:ea typeface="Verdana"/>
                <a:cs typeface="Verdana"/>
                <a:sym typeface="Verdana"/>
              </a:rPr>
              <a:t>Timelines</a:t>
            </a:r>
            <a:endParaRPr sz="2000" dirty="0">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4"/>
          <p:cNvSpPr txBox="1">
            <a:spLocks noGrp="1"/>
          </p:cNvSpPr>
          <p:nvPr>
            <p:ph type="title"/>
          </p:nvPr>
        </p:nvSpPr>
        <p:spPr>
          <a:xfrm>
            <a:off x="838200" y="287067"/>
            <a:ext cx="10515600" cy="5604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Company introduction</a:t>
            </a:r>
            <a:endParaRPr sz="3600">
              <a:latin typeface="Verdana"/>
              <a:ea typeface="Verdana"/>
              <a:cs typeface="Verdana"/>
              <a:sym typeface="Verdana"/>
            </a:endParaRPr>
          </a:p>
        </p:txBody>
      </p:sp>
      <p:sp>
        <p:nvSpPr>
          <p:cNvPr id="99" name="Google Shape;99;p4"/>
          <p:cNvSpPr txBox="1">
            <a:spLocks noGrp="1"/>
          </p:cNvSpPr>
          <p:nvPr>
            <p:ph type="body" idx="1"/>
          </p:nvPr>
        </p:nvSpPr>
        <p:spPr>
          <a:xfrm>
            <a:off x="838200" y="2464419"/>
            <a:ext cx="10515600" cy="3712543"/>
          </a:xfrm>
          <a:prstGeom prst="rect">
            <a:avLst/>
          </a:prstGeom>
          <a:noFill/>
          <a:ln>
            <a:noFill/>
          </a:ln>
        </p:spPr>
        <p:txBody>
          <a:bodyPr spcFirstLastPara="1" wrap="square" lIns="91425" tIns="45700" rIns="91425" bIns="45700" anchor="t" anchorCtr="0">
            <a:normAutofit fontScale="77500" lnSpcReduction="20000"/>
          </a:bodyPr>
          <a:lstStyle/>
          <a:p>
            <a:pPr marL="228600" lvl="0" indent="-50800" algn="l" rtl="0">
              <a:lnSpc>
                <a:spcPct val="90000"/>
              </a:lnSpc>
              <a:spcBef>
                <a:spcPts val="0"/>
              </a:spcBef>
              <a:spcAft>
                <a:spcPts val="0"/>
              </a:spcAft>
              <a:buClr>
                <a:schemeClr val="dk1"/>
              </a:buClr>
              <a:buSzPct val="129032"/>
              <a:buNone/>
            </a:pPr>
            <a:r>
              <a:rPr lang="en-US"/>
              <a:t>GoodCorp is a global, publicly-listed, consumer goods company headquartered in Europe. GoodCorp was launched 10 years ago with a focus on healthy packaged snacks, and a strong company narrative around the power of business to contribute to social and economic development through fair partnerships with supply chain partners and doing business in environmentally sustainable ways. </a:t>
            </a:r>
            <a:endParaRPr/>
          </a:p>
          <a:p>
            <a:pPr marL="228600" lvl="0" indent="-50800" algn="l" rtl="0">
              <a:lnSpc>
                <a:spcPct val="90000"/>
              </a:lnSpc>
              <a:spcBef>
                <a:spcPts val="0"/>
              </a:spcBef>
              <a:spcAft>
                <a:spcPts val="0"/>
              </a:spcAft>
              <a:buClr>
                <a:schemeClr val="dk1"/>
              </a:buClr>
              <a:buSzPct val="129032"/>
              <a:buNone/>
            </a:pPr>
            <a:endParaRPr/>
          </a:p>
          <a:p>
            <a:pPr marL="228600" lvl="0" indent="-50800" algn="l" rtl="0">
              <a:lnSpc>
                <a:spcPct val="90000"/>
              </a:lnSpc>
              <a:spcBef>
                <a:spcPts val="0"/>
              </a:spcBef>
              <a:spcAft>
                <a:spcPts val="0"/>
              </a:spcAft>
              <a:buClr>
                <a:schemeClr val="dk1"/>
              </a:buClr>
              <a:buSzPct val="129032"/>
              <a:buNone/>
            </a:pPr>
            <a:r>
              <a:rPr lang="en-US"/>
              <a:t>GoodCorp has experienced rapid growth as a lifestyle brand, expanding into new and diverse product lines, including additional food products and essential items for the complete kitchen (cooking utensils, pots and pans, and even small appliances).</a:t>
            </a:r>
            <a:endParaRPr/>
          </a:p>
          <a:p>
            <a:pPr marL="228600" lvl="0" indent="-50800" algn="l" rtl="0">
              <a:lnSpc>
                <a:spcPct val="90000"/>
              </a:lnSpc>
              <a:spcBef>
                <a:spcPts val="0"/>
              </a:spcBef>
              <a:spcAft>
                <a:spcPts val="0"/>
              </a:spcAft>
              <a:buClr>
                <a:schemeClr val="dk1"/>
              </a:buClr>
              <a:buSzPct val="129032"/>
              <a:buNone/>
            </a:pPr>
            <a:endParaRPr/>
          </a:p>
          <a:p>
            <a:pPr marL="228600" lvl="0" indent="-50800" algn="l" rtl="0">
              <a:lnSpc>
                <a:spcPct val="90000"/>
              </a:lnSpc>
              <a:spcBef>
                <a:spcPts val="0"/>
              </a:spcBef>
              <a:spcAft>
                <a:spcPts val="0"/>
              </a:spcAft>
              <a:buClr>
                <a:schemeClr val="dk1"/>
              </a:buClr>
              <a:buSzPct val="129032"/>
              <a:buNone/>
            </a:pPr>
            <a:r>
              <a:rPr lang="en-US"/>
              <a:t>GoodCorp is expanding its production and looking at entry into new emerging markets, with the intention of maintaining its low cost, high-quality products, while promoting economic development through job creation and economic activity in the new markets it enters.</a:t>
            </a:r>
            <a:endParaRPr/>
          </a:p>
          <a:p>
            <a:pPr marL="228600" lvl="0" indent="-50800" algn="l" rtl="0">
              <a:lnSpc>
                <a:spcPct val="90000"/>
              </a:lnSpc>
              <a:spcBef>
                <a:spcPts val="0"/>
              </a:spcBef>
              <a:spcAft>
                <a:spcPts val="0"/>
              </a:spcAft>
              <a:buClr>
                <a:schemeClr val="dk1"/>
              </a:buClr>
              <a:buSzPct val="129032"/>
              <a:buNone/>
            </a:pPr>
            <a:endParaRPr/>
          </a:p>
        </p:txBody>
      </p:sp>
      <p:sp>
        <p:nvSpPr>
          <p:cNvPr id="100" name="Google Shape;100;p4"/>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company description - GoodCorp</a:t>
            </a:r>
            <a:endParaRPr sz="1400" b="0" i="0" u="none" strike="noStrike" cap="none">
              <a:solidFill>
                <a:srgbClr val="000000"/>
              </a:solidFill>
              <a:latin typeface="Verdana"/>
              <a:ea typeface="Verdana"/>
              <a:cs typeface="Verdana"/>
              <a:sym typeface="Verdana"/>
            </a:endParaRPr>
          </a:p>
        </p:txBody>
      </p:sp>
      <p:sp>
        <p:nvSpPr>
          <p:cNvPr id="101" name="Google Shape;101;p4"/>
          <p:cNvSpPr txBox="1"/>
          <p:nvPr/>
        </p:nvSpPr>
        <p:spPr>
          <a:xfrm rot="-591868">
            <a:off x="16949" y="3608305"/>
            <a:ext cx="12736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5"/>
          <p:cNvSpPr txBox="1">
            <a:spLocks noGrp="1"/>
          </p:cNvSpPr>
          <p:nvPr>
            <p:ph type="title"/>
          </p:nvPr>
        </p:nvSpPr>
        <p:spPr>
          <a:xfrm>
            <a:off x="838200" y="287067"/>
            <a:ext cx="10515600" cy="5604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1000"/>
              </a:spcBef>
              <a:spcAft>
                <a:spcPts val="0"/>
              </a:spcAft>
              <a:buClr>
                <a:schemeClr val="dk1"/>
              </a:buClr>
              <a:buSzPts val="3600"/>
              <a:buNone/>
            </a:pPr>
            <a:r>
              <a:rPr lang="en-US" sz="3600">
                <a:latin typeface="Verdana"/>
                <a:ea typeface="Verdana"/>
                <a:cs typeface="Verdana"/>
                <a:sym typeface="Verdana"/>
              </a:rPr>
              <a:t>BHR journey self-assessment insights</a:t>
            </a:r>
            <a:endParaRPr/>
          </a:p>
        </p:txBody>
      </p:sp>
      <p:sp>
        <p:nvSpPr>
          <p:cNvPr id="107" name="Google Shape;107;p25"/>
          <p:cNvSpPr txBox="1">
            <a:spLocks noGrp="1"/>
          </p:cNvSpPr>
          <p:nvPr>
            <p:ph type="body" idx="1"/>
          </p:nvPr>
        </p:nvSpPr>
        <p:spPr>
          <a:xfrm>
            <a:off x="838200" y="2085278"/>
            <a:ext cx="10972800" cy="3945391"/>
          </a:xfrm>
          <a:prstGeom prst="rect">
            <a:avLst/>
          </a:prstGeom>
          <a:noFill/>
          <a:ln>
            <a:noFill/>
          </a:ln>
        </p:spPr>
        <p:txBody>
          <a:bodyPr spcFirstLastPara="1" wrap="square" lIns="91425" tIns="45700" rIns="91425" bIns="45700" anchor="t" anchorCtr="0">
            <a:noAutofit/>
          </a:bodyPr>
          <a:lstStyle/>
          <a:p>
            <a:pPr marL="228600" lvl="0" indent="-50800" algn="l" rtl="0">
              <a:lnSpc>
                <a:spcPct val="90000"/>
              </a:lnSpc>
              <a:spcBef>
                <a:spcPts val="0"/>
              </a:spcBef>
              <a:spcAft>
                <a:spcPts val="0"/>
              </a:spcAft>
              <a:buClr>
                <a:schemeClr val="dk1"/>
              </a:buClr>
              <a:buSzPts val="2800"/>
              <a:buNone/>
            </a:pPr>
            <a:r>
              <a:rPr lang="en-US" sz="2200" b="1"/>
              <a:t>Based on the self-assessment, some of the gaps identified are:</a:t>
            </a:r>
            <a:endParaRPr/>
          </a:p>
          <a:p>
            <a:pPr marL="228600" lvl="0" indent="-50800" algn="l" rtl="0">
              <a:lnSpc>
                <a:spcPct val="90000"/>
              </a:lnSpc>
              <a:spcBef>
                <a:spcPts val="0"/>
              </a:spcBef>
              <a:spcAft>
                <a:spcPts val="0"/>
              </a:spcAft>
              <a:buClr>
                <a:schemeClr val="dk1"/>
              </a:buClr>
              <a:buSzPts val="2800"/>
              <a:buNone/>
            </a:pPr>
            <a:endParaRPr sz="2200" b="1"/>
          </a:p>
          <a:p>
            <a:pPr marL="177800" lvl="0" indent="0" algn="l" rtl="0">
              <a:lnSpc>
                <a:spcPct val="90000"/>
              </a:lnSpc>
              <a:spcBef>
                <a:spcPts val="0"/>
              </a:spcBef>
              <a:spcAft>
                <a:spcPts val="0"/>
              </a:spcAft>
              <a:buClr>
                <a:schemeClr val="dk1"/>
              </a:buClr>
              <a:buSzPts val="2800"/>
              <a:buNone/>
            </a:pPr>
            <a:r>
              <a:rPr lang="en-US" sz="2200" b="1"/>
              <a:t>1. Publicly Available Human Rights Commitment</a:t>
            </a:r>
            <a:r>
              <a:rPr lang="en-US" sz="2200"/>
              <a:t>: GoodCorp’s commitment to Human Rights is incorporated within its Code of Conduct, to which all staff are required to adhere and that is publicly available on its website. The policy however does not reference any stakeholders other than employees. </a:t>
            </a:r>
            <a:endParaRPr/>
          </a:p>
          <a:p>
            <a:pPr marL="177800" lvl="0" indent="0" algn="l" rtl="0">
              <a:lnSpc>
                <a:spcPct val="90000"/>
              </a:lnSpc>
              <a:spcBef>
                <a:spcPts val="0"/>
              </a:spcBef>
              <a:spcAft>
                <a:spcPts val="0"/>
              </a:spcAft>
              <a:buClr>
                <a:schemeClr val="dk1"/>
              </a:buClr>
              <a:buSzPts val="2800"/>
              <a:buNone/>
            </a:pPr>
            <a:endParaRPr sz="2200"/>
          </a:p>
          <a:p>
            <a:pPr marL="228600" lvl="0" indent="-50800" algn="l" rtl="0">
              <a:lnSpc>
                <a:spcPct val="90000"/>
              </a:lnSpc>
              <a:spcBef>
                <a:spcPts val="0"/>
              </a:spcBef>
              <a:spcAft>
                <a:spcPts val="0"/>
              </a:spcAft>
              <a:buClr>
                <a:schemeClr val="dk1"/>
              </a:buClr>
              <a:buSzPts val="2800"/>
              <a:buNone/>
            </a:pPr>
            <a:r>
              <a:rPr lang="en-US" sz="2200" b="1"/>
              <a:t>2. Identifying salient human rights across the value chain</a:t>
            </a:r>
            <a:r>
              <a:rPr lang="en-US" sz="2200"/>
              <a:t>: GoodCorp has for many years been working with employees to understand if there are any potential human rights risks to them. Identifying human rights risks has therefore been limited to the company’s workforce. </a:t>
            </a:r>
            <a:endParaRPr/>
          </a:p>
          <a:p>
            <a:pPr marL="228600" lvl="0" indent="-50800" algn="l" rtl="0">
              <a:lnSpc>
                <a:spcPct val="90000"/>
              </a:lnSpc>
              <a:spcBef>
                <a:spcPts val="0"/>
              </a:spcBef>
              <a:spcAft>
                <a:spcPts val="0"/>
              </a:spcAft>
              <a:buClr>
                <a:schemeClr val="dk1"/>
              </a:buClr>
              <a:buSzPts val="2800"/>
              <a:buNone/>
            </a:pPr>
            <a:endParaRPr sz="2200" b="1"/>
          </a:p>
          <a:p>
            <a:pPr marL="228600" lvl="0" indent="-50800" algn="l" rtl="0">
              <a:lnSpc>
                <a:spcPct val="90000"/>
              </a:lnSpc>
              <a:spcBef>
                <a:spcPts val="0"/>
              </a:spcBef>
              <a:spcAft>
                <a:spcPts val="0"/>
              </a:spcAft>
              <a:buClr>
                <a:schemeClr val="dk1"/>
              </a:buClr>
              <a:buSzPts val="2800"/>
              <a:buNone/>
            </a:pPr>
            <a:r>
              <a:rPr lang="en-US" sz="2200" b="1"/>
              <a:t>3. Strengthening Stakeholder Engagement</a:t>
            </a:r>
            <a:r>
              <a:rPr lang="en-US" sz="2200"/>
              <a:t>: GoodCorp engages with a number of stakeholder groups on a regular basis as part of the delivery of its operations including its own workforce and immediate supplier base. These engagements do not include any stakeholders in communities or beyond.</a:t>
            </a:r>
            <a:endParaRPr sz="2200"/>
          </a:p>
        </p:txBody>
      </p:sp>
      <p:sp>
        <p:nvSpPr>
          <p:cNvPr id="108" name="Google Shape;108;p25"/>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identified good practice and areas of improvement/ gaps from BHR journey self-assessment</a:t>
            </a:r>
            <a:endParaRPr/>
          </a:p>
        </p:txBody>
      </p:sp>
      <p:sp>
        <p:nvSpPr>
          <p:cNvPr id="109" name="Google Shape;109;p25"/>
          <p:cNvSpPr txBox="1"/>
          <p:nvPr/>
        </p:nvSpPr>
        <p:spPr>
          <a:xfrm rot="-591868">
            <a:off x="16949" y="3608305"/>
            <a:ext cx="12736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6"/>
          <p:cNvSpPr txBox="1">
            <a:spLocks noGrp="1"/>
          </p:cNvSpPr>
          <p:nvPr>
            <p:ph type="title"/>
          </p:nvPr>
        </p:nvSpPr>
        <p:spPr>
          <a:xfrm>
            <a:off x="838200" y="287067"/>
            <a:ext cx="10515600" cy="560426"/>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Human Rights Journey Gap Assessment – future focus</a:t>
            </a:r>
            <a:endParaRPr sz="3600">
              <a:latin typeface="Verdana"/>
              <a:ea typeface="Verdana"/>
              <a:cs typeface="Verdana"/>
              <a:sym typeface="Verdana"/>
            </a:endParaRPr>
          </a:p>
        </p:txBody>
      </p:sp>
      <p:sp>
        <p:nvSpPr>
          <p:cNvPr id="115" name="Google Shape;115;p26"/>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key details about areas of future focus based on the BHR Journey self-assessment</a:t>
            </a:r>
            <a:endParaRPr sz="1800" b="0" i="0" u="none" strike="noStrike" cap="none">
              <a:solidFill>
                <a:srgbClr val="000000"/>
              </a:solidFill>
              <a:latin typeface="Verdana"/>
              <a:ea typeface="Verdana"/>
              <a:cs typeface="Verdana"/>
              <a:sym typeface="Verdana"/>
            </a:endParaRPr>
          </a:p>
        </p:txBody>
      </p:sp>
      <p:sp>
        <p:nvSpPr>
          <p:cNvPr id="116" name="Google Shape;116;p26"/>
          <p:cNvSpPr txBox="1">
            <a:spLocks noGrp="1"/>
          </p:cNvSpPr>
          <p:nvPr>
            <p:ph type="body" idx="1"/>
          </p:nvPr>
        </p:nvSpPr>
        <p:spPr>
          <a:xfrm>
            <a:off x="838200" y="2311400"/>
            <a:ext cx="10515600" cy="3713163"/>
          </a:xfrm>
          <a:prstGeom prst="rect">
            <a:avLst/>
          </a:prstGeom>
          <a:noFill/>
          <a:ln>
            <a:noFill/>
          </a:ln>
        </p:spPr>
        <p:txBody>
          <a:bodyPr spcFirstLastPara="1" wrap="square" lIns="91425" tIns="45700" rIns="91425" bIns="45700" anchor="t" anchorCtr="0">
            <a:normAutofit fontScale="77500" lnSpcReduction="20000"/>
          </a:bodyPr>
          <a:lstStyle/>
          <a:p>
            <a:pPr marL="228600" lvl="0" indent="-50800" algn="l" rtl="0">
              <a:lnSpc>
                <a:spcPct val="90000"/>
              </a:lnSpc>
              <a:spcBef>
                <a:spcPts val="0"/>
              </a:spcBef>
              <a:spcAft>
                <a:spcPts val="0"/>
              </a:spcAft>
              <a:buClr>
                <a:schemeClr val="dk1"/>
              </a:buClr>
              <a:buSzPct val="129032"/>
              <a:buNone/>
            </a:pPr>
            <a:r>
              <a:rPr lang="en-US" b="1"/>
              <a:t>Based on the gaps identified in the self-assessment, initial considerations are:</a:t>
            </a:r>
            <a:endParaRPr/>
          </a:p>
          <a:p>
            <a:pPr marL="228600" lvl="0" indent="-50800" algn="l" rtl="0">
              <a:lnSpc>
                <a:spcPct val="90000"/>
              </a:lnSpc>
              <a:spcBef>
                <a:spcPts val="0"/>
              </a:spcBef>
              <a:spcAft>
                <a:spcPts val="0"/>
              </a:spcAft>
              <a:buClr>
                <a:schemeClr val="dk1"/>
              </a:buClr>
              <a:buSzPct val="129032"/>
              <a:buNone/>
            </a:pPr>
            <a:endParaRPr b="1"/>
          </a:p>
          <a:p>
            <a:pPr marL="177800" lvl="0" indent="0" algn="l" rtl="0">
              <a:lnSpc>
                <a:spcPct val="90000"/>
              </a:lnSpc>
              <a:spcBef>
                <a:spcPts val="0"/>
              </a:spcBef>
              <a:spcAft>
                <a:spcPts val="0"/>
              </a:spcAft>
              <a:buClr>
                <a:schemeClr val="dk1"/>
              </a:buClr>
              <a:buSzPct val="129032"/>
              <a:buNone/>
            </a:pPr>
            <a:r>
              <a:rPr lang="en-US" b="1"/>
              <a:t>1. Publicly Available Human Rights Commitment</a:t>
            </a:r>
            <a:r>
              <a:rPr lang="en-US"/>
              <a:t>: To further embed GoodCorp’s human rights due diligence processes across its value chain, it will need to develop a stand-alone human rights policy that encompasses not only its own human rights commitments but also expectations of all whom it does business with.</a:t>
            </a:r>
            <a:endParaRPr/>
          </a:p>
          <a:p>
            <a:pPr marL="228600" lvl="0" indent="-50800" algn="l" rtl="0">
              <a:lnSpc>
                <a:spcPct val="90000"/>
              </a:lnSpc>
              <a:spcBef>
                <a:spcPts val="0"/>
              </a:spcBef>
              <a:spcAft>
                <a:spcPts val="0"/>
              </a:spcAft>
              <a:buClr>
                <a:schemeClr val="dk1"/>
              </a:buClr>
              <a:buSzPct val="129032"/>
              <a:buNone/>
            </a:pPr>
            <a:endParaRPr/>
          </a:p>
          <a:p>
            <a:pPr marL="228600" lvl="0" indent="-50800" algn="l" rtl="0">
              <a:lnSpc>
                <a:spcPct val="90000"/>
              </a:lnSpc>
              <a:spcBef>
                <a:spcPts val="0"/>
              </a:spcBef>
              <a:spcAft>
                <a:spcPts val="0"/>
              </a:spcAft>
              <a:buClr>
                <a:schemeClr val="dk1"/>
              </a:buClr>
              <a:buSzPct val="129032"/>
              <a:buNone/>
            </a:pPr>
            <a:r>
              <a:rPr lang="en-US" b="1"/>
              <a:t>2. Identifying salient human rights across the value chain</a:t>
            </a:r>
            <a:r>
              <a:rPr lang="en-US"/>
              <a:t>: A process to identify and list human rights risks across the company’s value chain is needed to ensure all risks to people are considered, prioritized and subsequently prevented.</a:t>
            </a:r>
            <a:endParaRPr/>
          </a:p>
          <a:p>
            <a:pPr marL="228600" lvl="0" indent="-50800" algn="l" rtl="0">
              <a:lnSpc>
                <a:spcPct val="90000"/>
              </a:lnSpc>
              <a:spcBef>
                <a:spcPts val="0"/>
              </a:spcBef>
              <a:spcAft>
                <a:spcPts val="0"/>
              </a:spcAft>
              <a:buClr>
                <a:schemeClr val="dk1"/>
              </a:buClr>
              <a:buSzPct val="129032"/>
              <a:buNone/>
            </a:pPr>
            <a:endParaRPr b="1"/>
          </a:p>
          <a:p>
            <a:pPr marL="228600" lvl="0" indent="-50800" algn="l" rtl="0">
              <a:lnSpc>
                <a:spcPct val="90000"/>
              </a:lnSpc>
              <a:spcBef>
                <a:spcPts val="0"/>
              </a:spcBef>
              <a:spcAft>
                <a:spcPts val="0"/>
              </a:spcAft>
              <a:buClr>
                <a:schemeClr val="dk1"/>
              </a:buClr>
              <a:buSzPct val="129032"/>
              <a:buNone/>
            </a:pPr>
            <a:r>
              <a:rPr lang="en-US" b="1"/>
              <a:t>3. Strengthening Stakeholder Engagement</a:t>
            </a:r>
            <a:r>
              <a:rPr lang="en-US"/>
              <a:t>: GoodCorp should be developing a stakeholder engagement strategy which engages stakeholders outside of its immediate line of sight. GoodCorp is considering working with local and international CSOs to understand the community contexts in which it operates.</a:t>
            </a:r>
            <a:endParaRPr/>
          </a:p>
          <a:p>
            <a:pPr marL="228600" lvl="0" indent="-50800" algn="l" rtl="0">
              <a:lnSpc>
                <a:spcPct val="90000"/>
              </a:lnSpc>
              <a:spcBef>
                <a:spcPts val="0"/>
              </a:spcBef>
              <a:spcAft>
                <a:spcPts val="0"/>
              </a:spcAft>
              <a:buClr>
                <a:schemeClr val="dk1"/>
              </a:buClr>
              <a:buSzPct val="129032"/>
              <a:buNone/>
            </a:pPr>
            <a:endParaRPr/>
          </a:p>
        </p:txBody>
      </p:sp>
      <p:sp>
        <p:nvSpPr>
          <p:cNvPr id="117" name="Google Shape;117;p26"/>
          <p:cNvSpPr txBox="1"/>
          <p:nvPr/>
        </p:nvSpPr>
        <p:spPr>
          <a:xfrm rot="-591868">
            <a:off x="16949" y="3608305"/>
            <a:ext cx="12736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5"/>
          <p:cNvSpPr txBox="1">
            <a:spLocks noGrp="1"/>
          </p:cNvSpPr>
          <p:nvPr>
            <p:ph type="title"/>
          </p:nvPr>
        </p:nvSpPr>
        <p:spPr>
          <a:xfrm>
            <a:off x="838200" y="365126"/>
            <a:ext cx="10515600" cy="593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960"/>
              <a:buFont typeface="Calibri"/>
              <a:buNone/>
            </a:pPr>
            <a:r>
              <a:rPr lang="en-US" sz="3600">
                <a:latin typeface="Verdana"/>
                <a:ea typeface="Verdana"/>
                <a:cs typeface="Verdana"/>
                <a:sym typeface="Verdana"/>
              </a:rPr>
              <a:t>HRDD Step 1: Salient human rights issues </a:t>
            </a:r>
            <a:endParaRPr sz="3600">
              <a:latin typeface="Verdana"/>
              <a:ea typeface="Verdana"/>
              <a:cs typeface="Verdana"/>
              <a:sym typeface="Verdana"/>
            </a:endParaRPr>
          </a:p>
        </p:txBody>
      </p:sp>
      <p:sp>
        <p:nvSpPr>
          <p:cNvPr id="123" name="Google Shape;123;p5"/>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Highlight your company’s salient human rights issues</a:t>
            </a:r>
            <a:endParaRPr sz="1400" b="0" i="0" u="none" strike="noStrike" cap="none">
              <a:solidFill>
                <a:srgbClr val="000000"/>
              </a:solidFill>
              <a:latin typeface="Verdana"/>
              <a:ea typeface="Verdana"/>
              <a:cs typeface="Verdana"/>
              <a:sym typeface="Verdana"/>
            </a:endParaRPr>
          </a:p>
        </p:txBody>
      </p:sp>
      <p:sp>
        <p:nvSpPr>
          <p:cNvPr id="124" name="Google Shape;124;p5"/>
          <p:cNvSpPr txBox="1"/>
          <p:nvPr/>
        </p:nvSpPr>
        <p:spPr>
          <a:xfrm rot="-591868">
            <a:off x="724318" y="2284149"/>
            <a:ext cx="1719105"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pic>
        <p:nvPicPr>
          <p:cNvPr id="125" name="Google Shape;125;p5"/>
          <p:cNvPicPr preferRelativeResize="0"/>
          <p:nvPr/>
        </p:nvPicPr>
        <p:blipFill>
          <a:blip r:embed="rId3">
            <a:alphaModFix/>
          </a:blip>
          <a:stretch>
            <a:fillRect/>
          </a:stretch>
        </p:blipFill>
        <p:spPr>
          <a:xfrm>
            <a:off x="152400" y="2889308"/>
            <a:ext cx="11887201" cy="299501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7"/>
          <p:cNvSpPr txBox="1">
            <a:spLocks noGrp="1"/>
          </p:cNvSpPr>
          <p:nvPr>
            <p:ph type="title"/>
          </p:nvPr>
        </p:nvSpPr>
        <p:spPr>
          <a:xfrm>
            <a:off x="711200" y="278063"/>
            <a:ext cx="10515600" cy="59388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3960"/>
              <a:buFont typeface="Calibri"/>
              <a:buNone/>
            </a:pPr>
            <a:r>
              <a:rPr lang="en-US" sz="3600">
                <a:latin typeface="Verdana"/>
                <a:ea typeface="Verdana"/>
                <a:cs typeface="Verdana"/>
                <a:sym typeface="Verdana"/>
              </a:rPr>
              <a:t>HRDD Step 1: Salient human rights issues prioritized</a:t>
            </a:r>
            <a:endParaRPr sz="3600">
              <a:latin typeface="Verdana"/>
              <a:ea typeface="Verdana"/>
              <a:cs typeface="Verdana"/>
              <a:sym typeface="Verdana"/>
            </a:endParaRPr>
          </a:p>
        </p:txBody>
      </p:sp>
      <p:sp>
        <p:nvSpPr>
          <p:cNvPr id="131" name="Google Shape;131;p27"/>
          <p:cNvSpPr/>
          <p:nvPr/>
        </p:nvSpPr>
        <p:spPr>
          <a:xfrm>
            <a:off x="820854" y="1114428"/>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key prioritization points, data and/or heatmap from the HRDD workbook</a:t>
            </a:r>
            <a:endParaRPr sz="1400" b="0" i="0" u="none" strike="noStrike" cap="none">
              <a:solidFill>
                <a:srgbClr val="000000"/>
              </a:solidFill>
              <a:latin typeface="Verdana"/>
              <a:ea typeface="Verdana"/>
              <a:cs typeface="Verdana"/>
              <a:sym typeface="Verdana"/>
            </a:endParaRPr>
          </a:p>
        </p:txBody>
      </p:sp>
      <p:sp>
        <p:nvSpPr>
          <p:cNvPr id="132" name="Google Shape;132;p27"/>
          <p:cNvSpPr txBox="1"/>
          <p:nvPr/>
        </p:nvSpPr>
        <p:spPr>
          <a:xfrm rot="-591868">
            <a:off x="16949" y="3608305"/>
            <a:ext cx="12736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pic>
        <p:nvPicPr>
          <p:cNvPr id="7" name="Picture 6">
            <a:extLst>
              <a:ext uri="{FF2B5EF4-FFF2-40B4-BE49-F238E27FC236}">
                <a16:creationId xmlns:a16="http://schemas.microsoft.com/office/drawing/2014/main" id="{CFACE69B-432E-9FFE-7349-71F3B1654651}"/>
              </a:ext>
            </a:extLst>
          </p:cNvPr>
          <p:cNvPicPr>
            <a:picLocks noChangeAspect="1"/>
          </p:cNvPicPr>
          <p:nvPr/>
        </p:nvPicPr>
        <p:blipFill>
          <a:blip r:embed="rId3"/>
          <a:stretch>
            <a:fillRect/>
          </a:stretch>
        </p:blipFill>
        <p:spPr>
          <a:xfrm>
            <a:off x="1632422" y="1924607"/>
            <a:ext cx="5851457" cy="3278764"/>
          </a:xfrm>
          <a:prstGeom prst="rect">
            <a:avLst/>
          </a:prstGeom>
        </p:spPr>
      </p:pic>
      <p:graphicFrame>
        <p:nvGraphicFramePr>
          <p:cNvPr id="8" name="Table 7">
            <a:extLst>
              <a:ext uri="{FF2B5EF4-FFF2-40B4-BE49-F238E27FC236}">
                <a16:creationId xmlns:a16="http://schemas.microsoft.com/office/drawing/2014/main" id="{04AB7E2F-C9E2-2B7E-8F0A-3A40C8E86770}"/>
              </a:ext>
            </a:extLst>
          </p:cNvPr>
          <p:cNvGraphicFramePr>
            <a:graphicFrameLocks noGrp="1"/>
          </p:cNvGraphicFramePr>
          <p:nvPr>
            <p:extLst>
              <p:ext uri="{D42A27DB-BD31-4B8C-83A1-F6EECF244321}">
                <p14:modId xmlns:p14="http://schemas.microsoft.com/office/powerpoint/2010/main" val="3544941248"/>
              </p:ext>
            </p:extLst>
          </p:nvPr>
        </p:nvGraphicFramePr>
        <p:xfrm>
          <a:off x="770672" y="5280060"/>
          <a:ext cx="10528301" cy="1066800"/>
        </p:xfrm>
        <a:graphic>
          <a:graphicData uri="http://schemas.openxmlformats.org/drawingml/2006/table">
            <a:tbl>
              <a:tblPr>
                <a:tableStyleId>{FC2ED185-7669-4AB0-987E-49E665EB03B7}</a:tableStyleId>
              </a:tblPr>
              <a:tblGrid>
                <a:gridCol w="569641">
                  <a:extLst>
                    <a:ext uri="{9D8B030D-6E8A-4147-A177-3AD203B41FA5}">
                      <a16:colId xmlns:a16="http://schemas.microsoft.com/office/drawing/2014/main" val="3748025133"/>
                    </a:ext>
                  </a:extLst>
                </a:gridCol>
                <a:gridCol w="9958660">
                  <a:extLst>
                    <a:ext uri="{9D8B030D-6E8A-4147-A177-3AD203B41FA5}">
                      <a16:colId xmlns:a16="http://schemas.microsoft.com/office/drawing/2014/main" val="2253283077"/>
                    </a:ext>
                  </a:extLst>
                </a:gridCol>
              </a:tblGrid>
              <a:tr h="211522">
                <a:tc gridSpan="2">
                  <a:txBody>
                    <a:bodyPr/>
                    <a:lstStyle/>
                    <a:p>
                      <a:pPr algn="l" fontAlgn="b"/>
                      <a:r>
                        <a:rPr lang="en-US" sz="1400" u="sng" strike="noStrike" dirty="0">
                          <a:effectLst/>
                        </a:rPr>
                        <a:t>Key (from Step 3, Prioritization examples)</a:t>
                      </a:r>
                      <a:endParaRPr lang="en-US" sz="1400" b="1" i="0" u="sng" strike="noStrike" dirty="0">
                        <a:solidFill>
                          <a:srgbClr val="000000"/>
                        </a:solidFill>
                        <a:effectLst/>
                        <a:latin typeface="Calibri" panose="020F0502020204030204" pitchFamily="34" charset="0"/>
                      </a:endParaRPr>
                    </a:p>
                  </a:txBody>
                  <a:tcPr marL="0" marR="0" marT="0" marB="0" anchor="b"/>
                </a:tc>
                <a:tc hMerge="1">
                  <a:txBody>
                    <a:bodyPr/>
                    <a:lstStyle/>
                    <a:p>
                      <a:endParaRPr lang="en-ZA"/>
                    </a:p>
                  </a:txBody>
                  <a:tcPr/>
                </a:tc>
                <a:extLst>
                  <a:ext uri="{0D108BD9-81ED-4DB2-BD59-A6C34878D82A}">
                    <a16:rowId xmlns:a16="http://schemas.microsoft.com/office/drawing/2014/main" val="4135056075"/>
                  </a:ext>
                </a:extLst>
              </a:tr>
              <a:tr h="126665">
                <a:tc>
                  <a:txBody>
                    <a:bodyPr/>
                    <a:lstStyle/>
                    <a:p>
                      <a:pPr algn="ctr" fontAlgn="t"/>
                      <a:r>
                        <a:rPr lang="en-ZA" sz="1400" u="none" strike="noStrike" dirty="0">
                          <a:effectLst/>
                        </a:rPr>
                        <a:t>1</a:t>
                      </a:r>
                      <a:endParaRPr lang="en-ZA" sz="1400" b="0" i="0" u="none" strike="noStrike" dirty="0">
                        <a:solidFill>
                          <a:srgbClr val="000000"/>
                        </a:solidFill>
                        <a:effectLst/>
                        <a:latin typeface="Calibri" panose="020F0502020204030204" pitchFamily="34" charset="0"/>
                      </a:endParaRPr>
                    </a:p>
                  </a:txBody>
                  <a:tcPr marL="0" marR="0" marT="0" marB="0"/>
                </a:tc>
                <a:tc>
                  <a:txBody>
                    <a:bodyPr/>
                    <a:lstStyle/>
                    <a:p>
                      <a:pPr algn="l" fontAlgn="b"/>
                      <a:r>
                        <a:rPr lang="en-US" sz="1400" u="none" strike="noStrike" dirty="0">
                          <a:effectLst/>
                        </a:rPr>
                        <a:t>Large scale loss of homes and livelihoods due to land expropriation - is remediable</a:t>
                      </a:r>
                      <a:endParaRPr lang="en-US"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191591526"/>
                  </a:ext>
                </a:extLst>
              </a:tr>
              <a:tr h="163439">
                <a:tc>
                  <a:txBody>
                    <a:bodyPr/>
                    <a:lstStyle/>
                    <a:p>
                      <a:pPr algn="ctr" fontAlgn="b"/>
                      <a:r>
                        <a:rPr lang="en-ZA" sz="1400" u="none" strike="noStrike">
                          <a:effectLst/>
                        </a:rPr>
                        <a:t>2</a:t>
                      </a:r>
                      <a:endParaRPr lang="en-ZA" sz="1400" b="0" i="0" u="none" strike="noStrike">
                        <a:solidFill>
                          <a:srgbClr val="000000"/>
                        </a:solidFill>
                        <a:effectLst/>
                        <a:latin typeface="Calibri" panose="020F0502020204030204" pitchFamily="34" charset="0"/>
                      </a:endParaRPr>
                    </a:p>
                  </a:txBody>
                  <a:tcPr marL="0" marR="0" marT="0" marB="0" anchor="b"/>
                </a:tc>
                <a:tc>
                  <a:txBody>
                    <a:bodyPr/>
                    <a:lstStyle/>
                    <a:p>
                      <a:pPr algn="l" fontAlgn="t"/>
                      <a:r>
                        <a:rPr lang="en-US" sz="1400" u="none" strike="noStrike">
                          <a:effectLst/>
                        </a:rPr>
                        <a:t>Possible injuries (including fatalities) due to excessive use of force by security personnel against protesters</a:t>
                      </a:r>
                      <a:endParaRPr lang="en-US" sz="1400" b="0" i="0" u="none" strike="noStrike">
                        <a:solidFill>
                          <a:srgbClr val="000000"/>
                        </a:solidFill>
                        <a:effectLst/>
                        <a:latin typeface="Calibri" panose="020F0502020204030204" pitchFamily="34" charset="0"/>
                      </a:endParaRPr>
                    </a:p>
                  </a:txBody>
                  <a:tcPr marL="0" marR="0" marT="0" marB="0"/>
                </a:tc>
                <a:extLst>
                  <a:ext uri="{0D108BD9-81ED-4DB2-BD59-A6C34878D82A}">
                    <a16:rowId xmlns:a16="http://schemas.microsoft.com/office/drawing/2014/main" val="3513170419"/>
                  </a:ext>
                </a:extLst>
              </a:tr>
              <a:tr h="118493">
                <a:tc>
                  <a:txBody>
                    <a:bodyPr/>
                    <a:lstStyle/>
                    <a:p>
                      <a:pPr algn="ctr" fontAlgn="b"/>
                      <a:r>
                        <a:rPr lang="en-ZA" sz="1400" u="none" strike="noStrike">
                          <a:effectLst/>
                        </a:rPr>
                        <a:t>3</a:t>
                      </a:r>
                      <a:endParaRPr lang="en-ZA"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400" u="none" strike="noStrike">
                          <a:effectLst/>
                        </a:rPr>
                        <a:t>Possible ill-health and loss of livelihoods due to disruption of access to water by the local community</a:t>
                      </a:r>
                      <a:endParaRPr lang="en-US" sz="14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476903316"/>
                  </a:ext>
                </a:extLst>
              </a:tr>
              <a:tr h="163439">
                <a:tc>
                  <a:txBody>
                    <a:bodyPr/>
                    <a:lstStyle/>
                    <a:p>
                      <a:pPr algn="ctr" fontAlgn="b"/>
                      <a:r>
                        <a:rPr lang="en-ZA" sz="1400" u="none" strike="noStrike">
                          <a:effectLst/>
                        </a:rPr>
                        <a:t>4</a:t>
                      </a:r>
                      <a:endParaRPr lang="en-ZA" sz="1400" b="0" i="0" u="none" strike="noStrike">
                        <a:solidFill>
                          <a:srgbClr val="000000"/>
                        </a:solidFill>
                        <a:effectLst/>
                        <a:latin typeface="Calibri" panose="020F0502020204030204" pitchFamily="34" charset="0"/>
                      </a:endParaRPr>
                    </a:p>
                  </a:txBody>
                  <a:tcPr marL="0" marR="0" marT="0" marB="0" anchor="b"/>
                </a:tc>
                <a:tc>
                  <a:txBody>
                    <a:bodyPr/>
                    <a:lstStyle/>
                    <a:p>
                      <a:pPr algn="l" fontAlgn="b"/>
                      <a:r>
                        <a:rPr lang="en-US" sz="1400" u="none" strike="noStrike" dirty="0">
                          <a:effectLst/>
                        </a:rPr>
                        <a:t>Worker injury, deaths related to poor health and safety conditions</a:t>
                      </a:r>
                      <a:endParaRPr lang="en-US" sz="14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90038581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838200" y="365126"/>
            <a:ext cx="10515600" cy="62733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HRDD Step 2: Taking Action</a:t>
            </a:r>
            <a:endParaRPr sz="3600">
              <a:latin typeface="Verdana"/>
              <a:ea typeface="Verdana"/>
              <a:cs typeface="Verdana"/>
              <a:sym typeface="Verdana"/>
            </a:endParaRPr>
          </a:p>
        </p:txBody>
      </p:sp>
      <p:sp>
        <p:nvSpPr>
          <p:cNvPr id="140" name="Google Shape;140;p6"/>
          <p:cNvSpPr/>
          <p:nvPr/>
        </p:nvSpPr>
        <p:spPr>
          <a:xfrm>
            <a:off x="947854" y="1048215"/>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key points, data or tables from the taking Action tab of HRDD workbook, relating to the salient issue/s that you continue to work on throughout the programme</a:t>
            </a:r>
            <a:endParaRPr sz="1800" b="0" i="0" u="none" strike="noStrike" cap="none">
              <a:solidFill>
                <a:srgbClr val="000000"/>
              </a:solidFill>
              <a:latin typeface="Verdana"/>
              <a:ea typeface="Verdana"/>
              <a:cs typeface="Verdana"/>
              <a:sym typeface="Verdana"/>
            </a:endParaRPr>
          </a:p>
        </p:txBody>
      </p:sp>
      <p:sp>
        <p:nvSpPr>
          <p:cNvPr id="141" name="Google Shape;141;p6"/>
          <p:cNvSpPr txBox="1">
            <a:spLocks noGrp="1"/>
          </p:cNvSpPr>
          <p:nvPr>
            <p:ph type="body" idx="1"/>
          </p:nvPr>
        </p:nvSpPr>
        <p:spPr>
          <a:xfrm>
            <a:off x="664029" y="2124303"/>
            <a:ext cx="10918371" cy="3813175"/>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SzPts val="1800"/>
              <a:buNone/>
            </a:pPr>
            <a:r>
              <a:rPr lang="en-US" sz="1800" b="1"/>
              <a:t>Action to be taken on salient risk 2 - Possible injuries (including fatalities) due to excessive use of force by security personnel against protesters (as per heat map)</a:t>
            </a:r>
            <a:endParaRPr/>
          </a:p>
          <a:p>
            <a:pPr marL="0" lvl="0" indent="0" algn="l" rtl="0">
              <a:lnSpc>
                <a:spcPct val="90000"/>
              </a:lnSpc>
              <a:spcBef>
                <a:spcPts val="0"/>
              </a:spcBef>
              <a:spcAft>
                <a:spcPts val="0"/>
              </a:spcAft>
              <a:buSzPts val="1800"/>
              <a:buNone/>
            </a:pPr>
            <a:endParaRPr sz="1800"/>
          </a:p>
          <a:p>
            <a:pPr marL="0" lvl="0" indent="0" algn="l" rtl="0">
              <a:lnSpc>
                <a:spcPct val="90000"/>
              </a:lnSpc>
              <a:spcBef>
                <a:spcPts val="0"/>
              </a:spcBef>
              <a:spcAft>
                <a:spcPts val="0"/>
              </a:spcAft>
              <a:buSzPts val="1800"/>
              <a:buNone/>
            </a:pPr>
            <a:r>
              <a:rPr lang="en-US" sz="1800"/>
              <a:t>GoodCorp may cause (if security work for them directly) or contribute to the treatment of protesters if they do not take action to prevent such incidences as they are fully aware of the risk.</a:t>
            </a:r>
            <a:endParaRPr sz="1800"/>
          </a:p>
          <a:p>
            <a:pPr marL="0" lvl="0" indent="0" algn="l" rtl="0">
              <a:lnSpc>
                <a:spcPct val="90000"/>
              </a:lnSpc>
              <a:spcBef>
                <a:spcPts val="0"/>
              </a:spcBef>
              <a:spcAft>
                <a:spcPts val="0"/>
              </a:spcAft>
              <a:buSzPts val="1800"/>
              <a:buNone/>
            </a:pPr>
            <a:endParaRPr sz="1800"/>
          </a:p>
          <a:p>
            <a:pPr marL="0" lvl="0" indent="0" algn="l" rtl="0">
              <a:lnSpc>
                <a:spcPct val="90000"/>
              </a:lnSpc>
              <a:spcBef>
                <a:spcPts val="0"/>
              </a:spcBef>
              <a:spcAft>
                <a:spcPts val="0"/>
              </a:spcAft>
              <a:buSzPts val="1800"/>
              <a:buNone/>
            </a:pPr>
            <a:r>
              <a:rPr lang="en-US" sz="1800">
                <a:solidFill>
                  <a:srgbClr val="1F1F1F"/>
                </a:solidFill>
                <a:highlight>
                  <a:srgbClr val="FFFFFF"/>
                </a:highlight>
              </a:rPr>
              <a:t>GoodCorp has a responsibility to ensure people have the right to express their concerns in a dignified way with proper proactive stakeholder engagement, effective grievance mechanisms and working with key stakeholders to try and prevent violent demonstration by frustrated individuals. </a:t>
            </a:r>
            <a:endParaRPr sz="1800">
              <a:solidFill>
                <a:srgbClr val="1F1F1F"/>
              </a:solidFill>
              <a:highlight>
                <a:srgbClr val="FFFFFF"/>
              </a:highlight>
            </a:endParaRPr>
          </a:p>
          <a:p>
            <a:pPr marL="0" lvl="0" indent="0" algn="l" rtl="0">
              <a:lnSpc>
                <a:spcPct val="90000"/>
              </a:lnSpc>
              <a:spcBef>
                <a:spcPts val="0"/>
              </a:spcBef>
              <a:spcAft>
                <a:spcPts val="0"/>
              </a:spcAft>
              <a:buSzPts val="1800"/>
              <a:buNone/>
            </a:pPr>
            <a:endParaRPr sz="1800">
              <a:solidFill>
                <a:srgbClr val="1F1F1F"/>
              </a:solidFill>
              <a:highlight>
                <a:srgbClr val="FFFFFF"/>
              </a:highlight>
            </a:endParaRPr>
          </a:p>
          <a:p>
            <a:pPr marL="0" lvl="0" indent="0" algn="l" rtl="0">
              <a:lnSpc>
                <a:spcPct val="90000"/>
              </a:lnSpc>
              <a:spcBef>
                <a:spcPts val="0"/>
              </a:spcBef>
              <a:spcAft>
                <a:spcPts val="0"/>
              </a:spcAft>
              <a:buSzPts val="1800"/>
              <a:buNone/>
            </a:pPr>
            <a:r>
              <a:rPr lang="en-US" sz="1800">
                <a:solidFill>
                  <a:srgbClr val="1F1F1F"/>
                </a:solidFill>
                <a:highlight>
                  <a:srgbClr val="FFFFFF"/>
                </a:highlight>
              </a:rPr>
              <a:t>GoodCorp will work with security companies, law enforcement, Government, local CSOs, community associations etc in terms of capacity building. Also if the security staff are outsourced, GoodCorp will need to engage the supplier/contractor.</a:t>
            </a:r>
            <a:endParaRPr sz="1800">
              <a:solidFill>
                <a:srgbClr val="1F1F1F"/>
              </a:solidFill>
              <a:highlight>
                <a:srgbClr val="FFFFFF"/>
              </a:highlight>
            </a:endParaRPr>
          </a:p>
          <a:p>
            <a:pPr marL="0" lvl="0" indent="0" algn="l" rtl="0">
              <a:lnSpc>
                <a:spcPct val="90000"/>
              </a:lnSpc>
              <a:spcBef>
                <a:spcPts val="0"/>
              </a:spcBef>
              <a:spcAft>
                <a:spcPts val="0"/>
              </a:spcAft>
              <a:buSzPts val="1800"/>
              <a:buNone/>
            </a:pPr>
            <a:endParaRPr sz="1800">
              <a:solidFill>
                <a:srgbClr val="1F1F1F"/>
              </a:solidFill>
              <a:highlight>
                <a:srgbClr val="FFFFFF"/>
              </a:highlight>
            </a:endParaRPr>
          </a:p>
          <a:p>
            <a:pPr marL="0" lvl="0" indent="0" algn="l" rtl="0">
              <a:lnSpc>
                <a:spcPct val="90000"/>
              </a:lnSpc>
              <a:spcBef>
                <a:spcPts val="0"/>
              </a:spcBef>
              <a:spcAft>
                <a:spcPts val="0"/>
              </a:spcAft>
              <a:buSzPts val="1800"/>
              <a:buNone/>
            </a:pPr>
            <a:r>
              <a:rPr lang="en-US" sz="1800">
                <a:solidFill>
                  <a:srgbClr val="1F1F1F"/>
                </a:solidFill>
                <a:highlight>
                  <a:srgbClr val="FFFFFF"/>
                </a:highlight>
              </a:rPr>
              <a:t>A few initial actions have been selected with regard to:</a:t>
            </a:r>
            <a:endParaRPr sz="1800">
              <a:solidFill>
                <a:srgbClr val="1F1F1F"/>
              </a:solidFill>
              <a:highlight>
                <a:srgbClr val="FFFFFF"/>
              </a:highlight>
            </a:endParaRPr>
          </a:p>
          <a:p>
            <a:pPr marL="457200" lvl="0" indent="-295275" algn="l" rtl="0">
              <a:lnSpc>
                <a:spcPct val="90000"/>
              </a:lnSpc>
              <a:spcBef>
                <a:spcPts val="0"/>
              </a:spcBef>
              <a:spcAft>
                <a:spcPts val="0"/>
              </a:spcAft>
              <a:buClr>
                <a:srgbClr val="1F1F1F"/>
              </a:buClr>
              <a:buSzPts val="1050"/>
              <a:buAutoNum type="arabicPeriod"/>
            </a:pPr>
            <a:r>
              <a:rPr lang="en-US" sz="1800">
                <a:solidFill>
                  <a:srgbClr val="1F1F1F"/>
                </a:solidFill>
                <a:highlight>
                  <a:srgbClr val="FFFFFF"/>
                </a:highlight>
              </a:rPr>
              <a:t>Identifying and mapping key stakeholders</a:t>
            </a:r>
            <a:endParaRPr sz="1800">
              <a:solidFill>
                <a:srgbClr val="1F1F1F"/>
              </a:solidFill>
              <a:highlight>
                <a:srgbClr val="FFFFFF"/>
              </a:highlight>
            </a:endParaRPr>
          </a:p>
          <a:p>
            <a:pPr marL="457200" lvl="0" indent="-295275" algn="l" rtl="0">
              <a:lnSpc>
                <a:spcPct val="90000"/>
              </a:lnSpc>
              <a:spcBef>
                <a:spcPts val="0"/>
              </a:spcBef>
              <a:spcAft>
                <a:spcPts val="0"/>
              </a:spcAft>
              <a:buClr>
                <a:srgbClr val="1F1F1F"/>
              </a:buClr>
              <a:buSzPts val="1050"/>
              <a:buAutoNum type="arabicPeriod"/>
            </a:pPr>
            <a:r>
              <a:rPr lang="en-US" sz="1800">
                <a:solidFill>
                  <a:srgbClr val="1F1F1F"/>
                </a:solidFill>
                <a:highlight>
                  <a:srgbClr val="FFFFFF"/>
                </a:highlight>
              </a:rPr>
              <a:t>Develop engagement strategy and plan</a:t>
            </a:r>
            <a:endParaRPr sz="1800">
              <a:solidFill>
                <a:srgbClr val="1F1F1F"/>
              </a:solidFill>
              <a:highlight>
                <a:srgbClr val="FFFFFF"/>
              </a:highlight>
            </a:endParaRPr>
          </a:p>
          <a:p>
            <a:pPr marL="457200" lvl="0" indent="-295275" algn="l" rtl="0">
              <a:lnSpc>
                <a:spcPct val="90000"/>
              </a:lnSpc>
              <a:spcBef>
                <a:spcPts val="0"/>
              </a:spcBef>
              <a:spcAft>
                <a:spcPts val="0"/>
              </a:spcAft>
              <a:buClr>
                <a:srgbClr val="1F1F1F"/>
              </a:buClr>
              <a:buSzPts val="1050"/>
              <a:buAutoNum type="arabicPeriod"/>
            </a:pPr>
            <a:r>
              <a:rPr lang="en-US" sz="1800">
                <a:solidFill>
                  <a:srgbClr val="1F1F1F"/>
                </a:solidFill>
                <a:highlight>
                  <a:srgbClr val="FFFFFF"/>
                </a:highlight>
              </a:rPr>
              <a:t>Setup initial meeting and annual stakeholder engagement forum</a:t>
            </a:r>
            <a:endParaRPr sz="1800">
              <a:solidFill>
                <a:srgbClr val="1F1F1F"/>
              </a:solidFill>
              <a:highlight>
                <a:srgbClr val="FFFFFF"/>
              </a:highlight>
            </a:endParaRPr>
          </a:p>
          <a:p>
            <a:pPr marL="0" lvl="0" indent="0" algn="l" rtl="0">
              <a:lnSpc>
                <a:spcPct val="90000"/>
              </a:lnSpc>
              <a:spcBef>
                <a:spcPts val="0"/>
              </a:spcBef>
              <a:spcAft>
                <a:spcPts val="0"/>
              </a:spcAft>
              <a:buSzPts val="1800"/>
              <a:buNone/>
            </a:pPr>
            <a:endParaRPr sz="1800">
              <a:solidFill>
                <a:srgbClr val="1F1F1F"/>
              </a:solidFill>
              <a:highlight>
                <a:srgbClr val="FFFFFF"/>
              </a:highlight>
            </a:endParaRPr>
          </a:p>
        </p:txBody>
      </p:sp>
      <p:sp>
        <p:nvSpPr>
          <p:cNvPr id="142" name="Google Shape;142;p6"/>
          <p:cNvSpPr txBox="1"/>
          <p:nvPr/>
        </p:nvSpPr>
        <p:spPr>
          <a:xfrm rot="-591567">
            <a:off x="-34006" y="1925722"/>
            <a:ext cx="1273712" cy="3078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7"/>
          <p:cNvSpPr txBox="1">
            <a:spLocks noGrp="1"/>
          </p:cNvSpPr>
          <p:nvPr>
            <p:ph type="title"/>
          </p:nvPr>
        </p:nvSpPr>
        <p:spPr>
          <a:xfrm>
            <a:off x="838200" y="185281"/>
            <a:ext cx="10515600" cy="705392"/>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HRDD Step 3: Tracking</a:t>
            </a:r>
            <a:endParaRPr sz="3600">
              <a:latin typeface="Verdana"/>
              <a:ea typeface="Verdana"/>
              <a:cs typeface="Verdana"/>
              <a:sym typeface="Verdana"/>
            </a:endParaRPr>
          </a:p>
        </p:txBody>
      </p:sp>
      <p:sp>
        <p:nvSpPr>
          <p:cNvPr id="148" name="Google Shape;148;p7"/>
          <p:cNvSpPr/>
          <p:nvPr/>
        </p:nvSpPr>
        <p:spPr>
          <a:xfrm>
            <a:off x="783375" y="995724"/>
            <a:ext cx="10515600" cy="6465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below key indicators that you have identified will help track effectiveness of actions taken to address your salient human rights issue/s</a:t>
            </a:r>
            <a:endParaRPr sz="1800" b="0" i="0" u="none" strike="noStrike" cap="none">
              <a:solidFill>
                <a:srgbClr val="000000"/>
              </a:solidFill>
              <a:latin typeface="Verdana"/>
              <a:ea typeface="Verdana"/>
              <a:cs typeface="Verdana"/>
              <a:sym typeface="Verdana"/>
            </a:endParaRPr>
          </a:p>
        </p:txBody>
      </p:sp>
      <p:graphicFrame>
        <p:nvGraphicFramePr>
          <p:cNvPr id="149" name="Google Shape;149;p7"/>
          <p:cNvGraphicFramePr/>
          <p:nvPr/>
        </p:nvGraphicFramePr>
        <p:xfrm>
          <a:off x="783373" y="2657707"/>
          <a:ext cx="11160350" cy="4094890"/>
        </p:xfrm>
        <a:graphic>
          <a:graphicData uri="http://schemas.openxmlformats.org/drawingml/2006/table">
            <a:tbl>
              <a:tblPr firstRow="1" bandRow="1">
                <a:noFill/>
                <a:tableStyleId>{E859DD1B-E565-4BAC-9FFE-939C086D947F}</a:tableStyleId>
              </a:tblPr>
              <a:tblGrid>
                <a:gridCol w="956775">
                  <a:extLst>
                    <a:ext uri="{9D8B030D-6E8A-4147-A177-3AD203B41FA5}">
                      <a16:colId xmlns:a16="http://schemas.microsoft.com/office/drawing/2014/main" val="20000"/>
                    </a:ext>
                  </a:extLst>
                </a:gridCol>
                <a:gridCol w="4193200">
                  <a:extLst>
                    <a:ext uri="{9D8B030D-6E8A-4147-A177-3AD203B41FA5}">
                      <a16:colId xmlns:a16="http://schemas.microsoft.com/office/drawing/2014/main" val="20001"/>
                    </a:ext>
                  </a:extLst>
                </a:gridCol>
                <a:gridCol w="6010375">
                  <a:extLst>
                    <a:ext uri="{9D8B030D-6E8A-4147-A177-3AD203B41FA5}">
                      <a16:colId xmlns:a16="http://schemas.microsoft.com/office/drawing/2014/main" val="20002"/>
                    </a:ext>
                  </a:extLst>
                </a:gridCol>
              </a:tblGrid>
              <a:tr h="305600">
                <a:tc rowSpan="2">
                  <a:txBody>
                    <a:bodyPr/>
                    <a:lstStyle/>
                    <a:p>
                      <a:pPr marL="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ACTIVITY</a:t>
                      </a:r>
                      <a:endParaRPr sz="1200" b="1"/>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b="1" u="none" strike="noStrike" cap="none">
                          <a:solidFill>
                            <a:schemeClr val="dk1"/>
                          </a:solidFill>
                          <a:highlight>
                            <a:srgbClr val="FFFFFF"/>
                          </a:highlight>
                          <a:latin typeface="Calibri"/>
                          <a:ea typeface="Calibri"/>
                          <a:cs typeface="Calibri"/>
                          <a:sym typeface="Calibri"/>
                        </a:rPr>
                        <a:t>What is the action we plan to take?</a:t>
                      </a:r>
                      <a:endParaRPr sz="1200" b="1" u="none" strike="noStrike" cap="none">
                        <a:solidFill>
                          <a:schemeClr val="dk1"/>
                        </a:solidFill>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b="1" u="none" strike="noStrike" cap="none">
                          <a:solidFill>
                            <a:schemeClr val="dk1"/>
                          </a:solidFill>
                          <a:latin typeface="Calibri"/>
                          <a:ea typeface="Calibri"/>
                          <a:cs typeface="Calibri"/>
                          <a:sym typeface="Calibri"/>
                        </a:rPr>
                        <a:t>How could we measure if we are implementing the activity as planned?</a:t>
                      </a:r>
                      <a:endParaRPr sz="1200" b="1" u="none" strike="noStrike" cap="none">
                        <a:solidFill>
                          <a:schemeClr val="dk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437500">
                <a:tc vMerge="1">
                  <a:txBody>
                    <a:bodyPr/>
                    <a:lstStyle/>
                    <a:p>
                      <a:endParaRPr lang="en-US"/>
                    </a:p>
                  </a:txBody>
                  <a:tcPr/>
                </a:tc>
                <a:tc>
                  <a:txBody>
                    <a:bodyPr/>
                    <a:lstStyle/>
                    <a:p>
                      <a:pPr marL="0" marR="25400" lvl="0" indent="0" algn="l" rtl="0">
                        <a:lnSpc>
                          <a:spcPct val="115000"/>
                        </a:lnSpc>
                        <a:spcBef>
                          <a:spcPts val="0"/>
                        </a:spcBef>
                        <a:spcAft>
                          <a:spcPts val="0"/>
                        </a:spcAft>
                        <a:buClr>
                          <a:srgbClr val="000000"/>
                        </a:buClr>
                        <a:buSzPts val="1600"/>
                        <a:buFont typeface="Arial"/>
                        <a:buNone/>
                      </a:pPr>
                      <a:r>
                        <a:rPr lang="en-US" sz="1200" u="none" strike="noStrike" cap="none">
                          <a:solidFill>
                            <a:schemeClr val="dk1"/>
                          </a:solidFill>
                          <a:highlight>
                            <a:srgbClr val="FFFFFF"/>
                          </a:highlight>
                          <a:latin typeface="Calibri"/>
                          <a:ea typeface="Calibri"/>
                          <a:cs typeface="Calibri"/>
                          <a:sym typeface="Calibri"/>
                        </a:rPr>
                        <a:t>Contract service provider to map stakeholders</a:t>
                      </a:r>
                      <a:endParaRPr sz="1200" u="none" strike="noStrike" cap="none">
                        <a:solidFill>
                          <a:schemeClr val="dk1"/>
                        </a:solidFill>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u="none" strike="noStrike" cap="none">
                          <a:solidFill>
                            <a:schemeClr val="dk1"/>
                          </a:solidFill>
                          <a:highlight>
                            <a:srgbClr val="FFFFFF"/>
                          </a:highlight>
                          <a:latin typeface="Calibri"/>
                          <a:ea typeface="Calibri"/>
                          <a:cs typeface="Calibri"/>
                          <a:sym typeface="Calibri"/>
                        </a:rPr>
                        <a:t>Stakeholder mapping is completed </a:t>
                      </a:r>
                      <a:endParaRPr sz="1200" u="none" strike="noStrike" cap="none">
                        <a:solidFill>
                          <a:schemeClr val="dk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r h="285050">
                <a:tc rowSpan="2">
                  <a:txBody>
                    <a:bodyPr/>
                    <a:lstStyle/>
                    <a:p>
                      <a:pPr marL="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OUTPUT</a:t>
                      </a:r>
                      <a:endParaRPr sz="1200" b="1"/>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b="1" u="none" strike="noStrike" cap="none">
                          <a:solidFill>
                            <a:schemeClr val="dk1"/>
                          </a:solidFill>
                          <a:latin typeface="Calibri"/>
                          <a:ea typeface="Calibri"/>
                          <a:cs typeface="Calibri"/>
                          <a:sym typeface="Calibri"/>
                        </a:rPr>
                        <a:t>What immediate results will the activity deliver?</a:t>
                      </a:r>
                      <a:endParaRPr sz="1200" b="1" u="none" strike="noStrike" cap="none">
                        <a:solidFill>
                          <a:schemeClr val="dk1"/>
                        </a:solidFill>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b="1" u="none" strike="noStrike" cap="none">
                          <a:solidFill>
                            <a:schemeClr val="dk1"/>
                          </a:solidFill>
                          <a:latin typeface="Calibri"/>
                          <a:ea typeface="Calibri"/>
                          <a:cs typeface="Calibri"/>
                          <a:sym typeface="Calibri"/>
                        </a:rPr>
                        <a:t>How could we measure if these results are being achieved?</a:t>
                      </a:r>
                      <a:endParaRPr sz="1200" b="1" u="none" strike="noStrike" cap="none">
                        <a:solidFill>
                          <a:schemeClr val="dk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2"/>
                  </a:ext>
                </a:extLst>
              </a:tr>
              <a:tr h="51927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200" u="none" strike="noStrike" cap="none">
                          <a:solidFill>
                            <a:schemeClr val="dk1"/>
                          </a:solidFill>
                          <a:latin typeface="Calibri"/>
                          <a:ea typeface="Calibri"/>
                          <a:cs typeface="Calibri"/>
                          <a:sym typeface="Calibri"/>
                        </a:rPr>
                        <a:t>Comprehensive stakeholder map to  plan further activities</a:t>
                      </a:r>
                      <a:endParaRPr sz="1200" u="none" strike="noStrike" cap="none">
                        <a:solidFill>
                          <a:schemeClr val="dk1"/>
                        </a:solidFill>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u="none" strike="noStrike" cap="none">
                          <a:solidFill>
                            <a:schemeClr val="dk1"/>
                          </a:solidFill>
                          <a:highlight>
                            <a:schemeClr val="lt1"/>
                          </a:highlight>
                          <a:latin typeface="Calibri"/>
                          <a:ea typeface="Calibri"/>
                          <a:cs typeface="Calibri"/>
                          <a:sym typeface="Calibri"/>
                        </a:rPr>
                        <a:t>Achieved if  fully encompassing stakeholder map including community, CSos and Government is represented</a:t>
                      </a:r>
                      <a:endParaRPr sz="1200" b="1" u="none" strike="noStrike" cap="none">
                        <a:latin typeface="Calibri"/>
                        <a:ea typeface="Calibri"/>
                        <a:cs typeface="Calibri"/>
                        <a:sym typeface="Calibri"/>
                      </a:endParaRPr>
                    </a:p>
                  </a:txBody>
                  <a:tcPr marL="91425" marR="91425" marT="91425" marB="91425"/>
                </a:tc>
                <a:extLst>
                  <a:ext uri="{0D108BD9-81ED-4DB2-BD59-A6C34878D82A}">
                    <a16:rowId xmlns:a16="http://schemas.microsoft.com/office/drawing/2014/main" val="10003"/>
                  </a:ext>
                </a:extLst>
              </a:tr>
              <a:tr h="305600">
                <a:tc rowSpan="2">
                  <a:txBody>
                    <a:bodyPr/>
                    <a:lstStyle/>
                    <a:p>
                      <a:pPr marL="0" marR="0" lvl="0" indent="0" algn="l" rtl="0">
                        <a:lnSpc>
                          <a:spcPct val="100000"/>
                        </a:lnSpc>
                        <a:spcBef>
                          <a:spcPts val="0"/>
                        </a:spcBef>
                        <a:spcAft>
                          <a:spcPts val="0"/>
                        </a:spcAft>
                        <a:buNone/>
                      </a:pPr>
                      <a:r>
                        <a:rPr lang="en-US" sz="1200" b="1" u="none" strike="noStrike" cap="none">
                          <a:latin typeface="Calibri"/>
                          <a:ea typeface="Calibri"/>
                          <a:cs typeface="Calibri"/>
                          <a:sym typeface="Calibri"/>
                        </a:rPr>
                        <a:t>PRACTICE/ BEHAVIOR</a:t>
                      </a:r>
                      <a:endParaRPr sz="1200" b="1"/>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b="1" u="none" strike="noStrike" cap="none">
                          <a:solidFill>
                            <a:schemeClr val="dk1"/>
                          </a:solidFill>
                          <a:highlight>
                            <a:srgbClr val="FFFFFF"/>
                          </a:highlight>
                          <a:latin typeface="Calibri"/>
                          <a:ea typeface="Calibri"/>
                          <a:cs typeface="Calibri"/>
                          <a:sym typeface="Calibri"/>
                        </a:rPr>
                        <a:t>Whose behavior do we want to influence?</a:t>
                      </a:r>
                      <a:endParaRPr sz="1200" b="1" u="none" strike="noStrike" cap="none">
                        <a:solidFill>
                          <a:schemeClr val="dk1"/>
                        </a:solidFill>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b="1" u="none" strike="noStrike" cap="none">
                          <a:solidFill>
                            <a:schemeClr val="dk1"/>
                          </a:solidFill>
                          <a:highlight>
                            <a:srgbClr val="FFFFFF"/>
                          </a:highlight>
                          <a:latin typeface="Calibri"/>
                          <a:ea typeface="Calibri"/>
                          <a:cs typeface="Calibri"/>
                          <a:sym typeface="Calibri"/>
                        </a:rPr>
                        <a:t>How can we measure if this is changing?</a:t>
                      </a:r>
                      <a:endParaRPr sz="1200" b="1" u="none" strike="noStrike" cap="none">
                        <a:solidFill>
                          <a:schemeClr val="dk1"/>
                        </a:solidFill>
                        <a:latin typeface="Calibri"/>
                        <a:ea typeface="Calibri"/>
                        <a:cs typeface="Calibri"/>
                        <a:sym typeface="Calibri"/>
                      </a:endParaRPr>
                    </a:p>
                  </a:txBody>
                  <a:tcPr marL="91425" marR="91425" marT="91425" marB="91425"/>
                </a:tc>
                <a:extLst>
                  <a:ext uri="{0D108BD9-81ED-4DB2-BD59-A6C34878D82A}">
                    <a16:rowId xmlns:a16="http://schemas.microsoft.com/office/drawing/2014/main" val="10004"/>
                  </a:ext>
                </a:extLst>
              </a:tr>
              <a:tr h="540075">
                <a:tc vMerge="1">
                  <a:txBody>
                    <a:bodyPr/>
                    <a:lstStyle/>
                    <a:p>
                      <a:endParaRPr lang="en-US"/>
                    </a:p>
                  </a:txBody>
                  <a:tcPr/>
                </a:tc>
                <a:tc>
                  <a:txBody>
                    <a:bodyPr/>
                    <a:lstStyle/>
                    <a:p>
                      <a:pPr marL="0" marR="0" lvl="0" indent="0" algn="l" rtl="0">
                        <a:lnSpc>
                          <a:spcPct val="100000"/>
                        </a:lnSpc>
                        <a:spcBef>
                          <a:spcPts val="0"/>
                        </a:spcBef>
                        <a:spcAft>
                          <a:spcPts val="0"/>
                        </a:spcAft>
                        <a:buClr>
                          <a:srgbClr val="000000"/>
                        </a:buClr>
                        <a:buSzPts val="1600"/>
                        <a:buFont typeface="Arial"/>
                        <a:buNone/>
                      </a:pPr>
                      <a:r>
                        <a:rPr lang="en-US" sz="1200" u="none" strike="noStrike" cap="none">
                          <a:solidFill>
                            <a:schemeClr val="dk1"/>
                          </a:solidFill>
                          <a:highlight>
                            <a:srgbClr val="FFFFFF"/>
                          </a:highlight>
                          <a:latin typeface="Calibri"/>
                          <a:ea typeface="Calibri"/>
                          <a:cs typeface="Calibri"/>
                          <a:sym typeface="Calibri"/>
                        </a:rPr>
                        <a:t>GoodCorp’s leadership, Government and Community</a:t>
                      </a:r>
                      <a:endParaRPr sz="1200" u="none" strike="noStrike" cap="none">
                        <a:solidFill>
                          <a:schemeClr val="dk1"/>
                        </a:solidFill>
                        <a:highlight>
                          <a:srgbClr val="FFFFFF"/>
                        </a:highlight>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Clr>
                          <a:srgbClr val="000000"/>
                        </a:buClr>
                        <a:buSzPts val="1600"/>
                        <a:buFont typeface="Arial"/>
                        <a:buNone/>
                      </a:pPr>
                      <a:r>
                        <a:rPr lang="en-US" sz="1200" u="none" strike="noStrike" cap="none">
                          <a:solidFill>
                            <a:schemeClr val="dk1"/>
                          </a:solidFill>
                          <a:highlight>
                            <a:srgbClr val="FFFFFF"/>
                          </a:highlight>
                          <a:latin typeface="Calibri"/>
                          <a:ea typeface="Calibri"/>
                          <a:cs typeface="Calibri"/>
                          <a:sym typeface="Calibri"/>
                        </a:rPr>
                        <a:t>GoodCorp leads the engagement, Government has participated in the mapping and community members are willing to participate</a:t>
                      </a:r>
                      <a:endParaRPr sz="1200" u="none" strike="noStrike" cap="none">
                        <a:solidFill>
                          <a:schemeClr val="dk1"/>
                        </a:solidFill>
                        <a:highlight>
                          <a:srgbClr val="FFFFFF"/>
                        </a:highlight>
                        <a:latin typeface="Calibri"/>
                        <a:ea typeface="Calibri"/>
                        <a:cs typeface="Calibri"/>
                        <a:sym typeface="Calibri"/>
                      </a:endParaRPr>
                    </a:p>
                  </a:txBody>
                  <a:tcPr marL="91425" marR="91425" marT="91425" marB="91425"/>
                </a:tc>
                <a:extLst>
                  <a:ext uri="{0D108BD9-81ED-4DB2-BD59-A6C34878D82A}">
                    <a16:rowId xmlns:a16="http://schemas.microsoft.com/office/drawing/2014/main" val="10005"/>
                  </a:ext>
                </a:extLst>
              </a:tr>
              <a:tr h="276300">
                <a:tc rowSpan="2">
                  <a:txBody>
                    <a:bodyPr/>
                    <a:lstStyle/>
                    <a:p>
                      <a:pPr marL="0" lvl="0" indent="0" algn="l" rtl="0">
                        <a:spcBef>
                          <a:spcPts val="0"/>
                        </a:spcBef>
                        <a:spcAft>
                          <a:spcPts val="0"/>
                        </a:spcAft>
                        <a:buNone/>
                      </a:pPr>
                      <a:r>
                        <a:rPr lang="en-US" sz="1200" b="1">
                          <a:solidFill>
                            <a:schemeClr val="dk1"/>
                          </a:solidFill>
                          <a:latin typeface="Calibri"/>
                          <a:ea typeface="Calibri"/>
                          <a:cs typeface="Calibri"/>
                          <a:sym typeface="Calibri"/>
                        </a:rPr>
                        <a:t>OUTCOME</a:t>
                      </a:r>
                      <a:endParaRPr sz="1200" b="1">
                        <a:solidFill>
                          <a:schemeClr val="dk1"/>
                        </a:solidFill>
                        <a:latin typeface="Calibri"/>
                        <a:ea typeface="Calibri"/>
                        <a:cs typeface="Calibri"/>
                        <a:sym typeface="Calibri"/>
                      </a:endParaRPr>
                    </a:p>
                  </a:txBody>
                  <a:tcPr marL="91450" marR="91450" marT="45725" marB="45725"/>
                </a:tc>
                <a:tc>
                  <a:txBody>
                    <a:bodyPr/>
                    <a:lstStyle/>
                    <a:p>
                      <a:pPr marL="0" marR="0" lvl="0" indent="0" algn="l" rtl="0">
                        <a:lnSpc>
                          <a:spcPct val="100000"/>
                        </a:lnSpc>
                        <a:spcBef>
                          <a:spcPts val="0"/>
                        </a:spcBef>
                        <a:spcAft>
                          <a:spcPts val="0"/>
                        </a:spcAft>
                        <a:buNone/>
                      </a:pPr>
                      <a:r>
                        <a:rPr lang="en-US" sz="1200" b="1">
                          <a:highlight>
                            <a:srgbClr val="FFFFFF"/>
                          </a:highlight>
                          <a:latin typeface="Calibri"/>
                          <a:ea typeface="Calibri"/>
                          <a:cs typeface="Calibri"/>
                          <a:sym typeface="Calibri"/>
                        </a:rPr>
                        <a:t>What is the key outcome we want to achieve?</a:t>
                      </a:r>
                      <a:endParaRPr sz="1200" b="1" u="none" strike="noStrike" cap="none">
                        <a:solidFill>
                          <a:schemeClr val="dk1"/>
                        </a:solidFill>
                        <a:highlight>
                          <a:srgbClr val="FFFFFF"/>
                        </a:highlight>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None/>
                      </a:pPr>
                      <a:r>
                        <a:rPr lang="en-US" sz="1200" b="1">
                          <a:highlight>
                            <a:srgbClr val="FFFFFF"/>
                          </a:highlight>
                          <a:latin typeface="Calibri"/>
                          <a:ea typeface="Calibri"/>
                          <a:cs typeface="Calibri"/>
                          <a:sym typeface="Calibri"/>
                        </a:rPr>
                        <a:t>How can we measure if this has been achieved?</a:t>
                      </a:r>
                      <a:endParaRPr sz="1200" b="1" u="none" strike="noStrike" cap="none">
                        <a:solidFill>
                          <a:schemeClr val="dk1"/>
                        </a:solidFill>
                        <a:highlight>
                          <a:srgbClr val="FFFFFF"/>
                        </a:highlight>
                        <a:latin typeface="Calibri"/>
                        <a:ea typeface="Calibri"/>
                        <a:cs typeface="Calibri"/>
                        <a:sym typeface="Calibri"/>
                      </a:endParaRPr>
                    </a:p>
                  </a:txBody>
                  <a:tcPr marL="91425" marR="91425" marT="91425" marB="91425"/>
                </a:tc>
                <a:extLst>
                  <a:ext uri="{0D108BD9-81ED-4DB2-BD59-A6C34878D82A}">
                    <a16:rowId xmlns:a16="http://schemas.microsoft.com/office/drawing/2014/main" val="10006"/>
                  </a:ext>
                </a:extLst>
              </a:tr>
              <a:tr h="540075">
                <a:tc vMerge="1">
                  <a:txBody>
                    <a:bodyPr/>
                    <a:lstStyle/>
                    <a:p>
                      <a:endParaRPr lang="en-US"/>
                    </a:p>
                  </a:txBody>
                  <a:tcPr/>
                </a:tc>
                <a:tc>
                  <a:txBody>
                    <a:bodyPr/>
                    <a:lstStyle/>
                    <a:p>
                      <a:pPr marL="0" marR="0" lvl="0" indent="0" algn="l" rtl="0">
                        <a:lnSpc>
                          <a:spcPct val="100000"/>
                        </a:lnSpc>
                        <a:spcBef>
                          <a:spcPts val="0"/>
                        </a:spcBef>
                        <a:spcAft>
                          <a:spcPts val="0"/>
                        </a:spcAft>
                        <a:buNone/>
                      </a:pPr>
                      <a:r>
                        <a:rPr lang="en-US" sz="1200">
                          <a:highlight>
                            <a:srgbClr val="FFFFFF"/>
                          </a:highlight>
                          <a:latin typeface="Calibri"/>
                          <a:ea typeface="Calibri"/>
                          <a:cs typeface="Calibri"/>
                          <a:sym typeface="Calibri"/>
                        </a:rPr>
                        <a:t>Be in a position to establish credible, ongoing stakeholder engagement with affected stakeholders (community members, workers), as well as other relevant parties (CSOs, local government, unions) to manage concerns and issues as they arise over time.</a:t>
                      </a:r>
                      <a:endParaRPr sz="1200" u="none" strike="noStrike" cap="none">
                        <a:solidFill>
                          <a:schemeClr val="dk1"/>
                        </a:solidFill>
                        <a:highlight>
                          <a:srgbClr val="FFFFFF"/>
                        </a:highlight>
                        <a:latin typeface="Calibri"/>
                        <a:ea typeface="Calibri"/>
                        <a:cs typeface="Calibri"/>
                        <a:sym typeface="Calibri"/>
                      </a:endParaRPr>
                    </a:p>
                  </a:txBody>
                  <a:tcPr marL="91425" marR="91425" marT="91425" marB="91425"/>
                </a:tc>
                <a:tc>
                  <a:txBody>
                    <a:bodyPr/>
                    <a:lstStyle/>
                    <a:p>
                      <a:pPr marL="0" marR="0" lvl="0" indent="0" algn="l" rtl="0">
                        <a:lnSpc>
                          <a:spcPct val="100000"/>
                        </a:lnSpc>
                        <a:spcBef>
                          <a:spcPts val="0"/>
                        </a:spcBef>
                        <a:spcAft>
                          <a:spcPts val="0"/>
                        </a:spcAft>
                        <a:buNone/>
                      </a:pPr>
                      <a:r>
                        <a:rPr lang="en-US" sz="1200">
                          <a:highlight>
                            <a:srgbClr val="FFFFFF"/>
                          </a:highlight>
                          <a:latin typeface="Calibri"/>
                          <a:ea typeface="Calibri"/>
                          <a:cs typeface="Calibri"/>
                          <a:sym typeface="Calibri"/>
                        </a:rPr>
                        <a:t>A broad representation of stakeholders mapped, leading to establishment of representative engagement with affected stakeholders.</a:t>
                      </a:r>
                      <a:endParaRPr sz="1200" u="none" strike="noStrike" cap="none">
                        <a:solidFill>
                          <a:schemeClr val="dk1"/>
                        </a:solidFill>
                        <a:highlight>
                          <a:srgbClr val="FFFFFF"/>
                        </a:highlight>
                        <a:latin typeface="Calibri"/>
                        <a:ea typeface="Calibri"/>
                        <a:cs typeface="Calibri"/>
                        <a:sym typeface="Calibri"/>
                      </a:endParaRPr>
                    </a:p>
                  </a:txBody>
                  <a:tcPr marL="91425" marR="91425" marT="91425" marB="91425"/>
                </a:tc>
                <a:extLst>
                  <a:ext uri="{0D108BD9-81ED-4DB2-BD59-A6C34878D82A}">
                    <a16:rowId xmlns:a16="http://schemas.microsoft.com/office/drawing/2014/main" val="10007"/>
                  </a:ext>
                </a:extLst>
              </a:tr>
            </a:tbl>
          </a:graphicData>
        </a:graphic>
      </p:graphicFrame>
      <p:sp>
        <p:nvSpPr>
          <p:cNvPr id="150" name="Google Shape;150;p7"/>
          <p:cNvSpPr txBox="1"/>
          <p:nvPr/>
        </p:nvSpPr>
        <p:spPr>
          <a:xfrm>
            <a:off x="810825" y="1826700"/>
            <a:ext cx="11160300" cy="615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700" b="1">
                <a:latin typeface="Calibri"/>
                <a:ea typeface="Calibri"/>
                <a:cs typeface="Calibri"/>
                <a:sym typeface="Calibri"/>
              </a:rPr>
              <a:t>Salient issue: </a:t>
            </a:r>
            <a:r>
              <a:rPr lang="en-US" sz="1700" b="1" i="0" u="none" strike="noStrike" cap="none">
                <a:solidFill>
                  <a:srgbClr val="000000"/>
                </a:solidFill>
                <a:latin typeface="Calibri"/>
                <a:ea typeface="Calibri"/>
                <a:cs typeface="Calibri"/>
                <a:sym typeface="Calibri"/>
              </a:rPr>
              <a:t>Possible injur</a:t>
            </a:r>
            <a:r>
              <a:rPr lang="en-US" sz="1700" b="1">
                <a:latin typeface="Calibri"/>
                <a:ea typeface="Calibri"/>
                <a:cs typeface="Calibri"/>
                <a:sym typeface="Calibri"/>
              </a:rPr>
              <a:t>ies (including fatalities)</a:t>
            </a:r>
            <a:r>
              <a:rPr lang="en-US" sz="1700" b="1" i="0" u="none" strike="noStrike" cap="none">
                <a:solidFill>
                  <a:srgbClr val="000000"/>
                </a:solidFill>
                <a:latin typeface="Calibri"/>
                <a:ea typeface="Calibri"/>
                <a:cs typeface="Calibri"/>
                <a:sym typeface="Calibri"/>
              </a:rPr>
              <a:t> due to excessive use of force by security pers</a:t>
            </a:r>
            <a:r>
              <a:rPr lang="en-US" sz="1700" b="1">
                <a:latin typeface="Calibri"/>
                <a:ea typeface="Calibri"/>
                <a:cs typeface="Calibri"/>
                <a:sym typeface="Calibri"/>
              </a:rPr>
              <a:t>onnel</a:t>
            </a:r>
            <a:r>
              <a:rPr lang="en-US" sz="1700" b="1" i="0" u="none" strike="noStrike" cap="none">
                <a:solidFill>
                  <a:srgbClr val="000000"/>
                </a:solidFill>
                <a:latin typeface="Calibri"/>
                <a:ea typeface="Calibri"/>
                <a:cs typeface="Calibri"/>
                <a:sym typeface="Calibri"/>
              </a:rPr>
              <a:t> against protesters</a:t>
            </a:r>
            <a:endParaRPr sz="17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700" b="1">
                <a:latin typeface="Calibri"/>
                <a:ea typeface="Calibri"/>
                <a:cs typeface="Calibri"/>
                <a:sym typeface="Calibri"/>
              </a:rPr>
              <a:t>Action 1: Mapping key stakeholders</a:t>
            </a:r>
            <a:endParaRPr sz="1700" b="1">
              <a:latin typeface="Calibri"/>
              <a:ea typeface="Calibri"/>
              <a:cs typeface="Calibri"/>
              <a:sym typeface="Calibri"/>
            </a:endParaRPr>
          </a:p>
        </p:txBody>
      </p:sp>
      <p:sp>
        <p:nvSpPr>
          <p:cNvPr id="151" name="Google Shape;151;p7"/>
          <p:cNvSpPr txBox="1"/>
          <p:nvPr/>
        </p:nvSpPr>
        <p:spPr>
          <a:xfrm rot="-591868">
            <a:off x="16949" y="3608305"/>
            <a:ext cx="1273629"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8"/>
          <p:cNvSpPr txBox="1">
            <a:spLocks noGrp="1"/>
          </p:cNvSpPr>
          <p:nvPr>
            <p:ph type="title"/>
          </p:nvPr>
        </p:nvSpPr>
        <p:spPr>
          <a:xfrm>
            <a:off x="838200" y="365126"/>
            <a:ext cx="10515600" cy="671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HRDD Step 4: Communicating</a:t>
            </a:r>
            <a:endParaRPr sz="3600">
              <a:latin typeface="Verdana"/>
              <a:ea typeface="Verdana"/>
              <a:cs typeface="Verdana"/>
              <a:sym typeface="Verdana"/>
            </a:endParaRPr>
          </a:p>
        </p:txBody>
      </p:sp>
      <p:sp>
        <p:nvSpPr>
          <p:cNvPr id="157" name="Google Shape;157;p8"/>
          <p:cNvSpPr txBox="1">
            <a:spLocks noGrp="1"/>
          </p:cNvSpPr>
          <p:nvPr>
            <p:ph type="body" idx="1"/>
          </p:nvPr>
        </p:nvSpPr>
        <p:spPr>
          <a:xfrm>
            <a:off x="838200" y="2520950"/>
            <a:ext cx="10515600" cy="4176000"/>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SzPts val="1800"/>
              <a:buNone/>
            </a:pPr>
            <a:r>
              <a:rPr lang="en-US" sz="1800">
                <a:solidFill>
                  <a:schemeClr val="dk1"/>
                </a:solidFill>
                <a:latin typeface="Calibri"/>
                <a:ea typeface="Calibri"/>
                <a:cs typeface="Calibri"/>
                <a:sym typeface="Calibri"/>
              </a:rPr>
              <a:t>As GoodCorp does not yet have a publicly available Human Rights Policy, th</a:t>
            </a:r>
            <a:r>
              <a:rPr lang="en-US" sz="1800"/>
              <a:t>ey will first focus on issuing and publicising this first</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marL="0" lvl="0" indent="0" algn="l" rtl="0">
              <a:lnSpc>
                <a:spcPct val="90000"/>
              </a:lnSpc>
              <a:spcBef>
                <a:spcPts val="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90000"/>
              </a:lnSpc>
              <a:spcBef>
                <a:spcPts val="0"/>
              </a:spcBef>
              <a:spcAft>
                <a:spcPts val="0"/>
              </a:spcAft>
              <a:buSzPts val="1800"/>
              <a:buNone/>
            </a:pPr>
            <a:r>
              <a:rPr lang="en-US" sz="1800">
                <a:solidFill>
                  <a:schemeClr val="dk1"/>
                </a:solidFill>
                <a:latin typeface="Calibri"/>
                <a:ea typeface="Calibri"/>
                <a:cs typeface="Calibri"/>
                <a:sym typeface="Calibri"/>
              </a:rPr>
              <a:t>GoodCorp also does not have a stand alone Human Rights report. </a:t>
            </a:r>
            <a:r>
              <a:rPr lang="en-US" sz="1800"/>
              <a:t>Information about t</a:t>
            </a:r>
            <a:r>
              <a:rPr lang="en-US" sz="1800">
                <a:solidFill>
                  <a:schemeClr val="dk1"/>
                </a:solidFill>
                <a:latin typeface="Calibri"/>
                <a:ea typeface="Calibri"/>
                <a:cs typeface="Calibri"/>
                <a:sym typeface="Calibri"/>
              </a:rPr>
              <a:t>he new Human Rights Policy and HRDD process will be </a:t>
            </a:r>
            <a:r>
              <a:rPr lang="en-US" sz="1800"/>
              <a:t>communicated in </a:t>
            </a:r>
            <a:r>
              <a:rPr lang="en-US" sz="1800">
                <a:solidFill>
                  <a:schemeClr val="dk1"/>
                </a:solidFill>
                <a:latin typeface="Calibri"/>
                <a:ea typeface="Calibri"/>
                <a:cs typeface="Calibri"/>
                <a:sym typeface="Calibri"/>
              </a:rPr>
              <a:t>the annual sustainability report for the first 2 years:</a:t>
            </a:r>
            <a:endParaRPr sz="1800">
              <a:solidFill>
                <a:schemeClr val="dk1"/>
              </a:solidFill>
              <a:latin typeface="Calibri"/>
              <a:ea typeface="Calibri"/>
              <a:cs typeface="Calibri"/>
              <a:sym typeface="Calibri"/>
            </a:endParaRPr>
          </a:p>
          <a:p>
            <a:pPr marL="0" lvl="0" indent="0" algn="l" rtl="0">
              <a:lnSpc>
                <a:spcPct val="90000"/>
              </a:lnSpc>
              <a:spcBef>
                <a:spcPts val="0"/>
              </a:spcBef>
              <a:spcAft>
                <a:spcPts val="0"/>
              </a:spcAft>
              <a:buSzPts val="1800"/>
              <a:buNone/>
            </a:pPr>
            <a:endParaRPr sz="1800">
              <a:solidFill>
                <a:schemeClr val="dk1"/>
              </a:solidFill>
              <a:latin typeface="Calibri"/>
              <a:ea typeface="Calibri"/>
              <a:cs typeface="Calibri"/>
              <a:sym typeface="Calibri"/>
            </a:endParaRPr>
          </a:p>
          <a:p>
            <a:pPr marL="0" lvl="0" indent="0" algn="l" rtl="0">
              <a:lnSpc>
                <a:spcPct val="90000"/>
              </a:lnSpc>
              <a:spcBef>
                <a:spcPts val="0"/>
              </a:spcBef>
              <a:spcAft>
                <a:spcPts val="0"/>
              </a:spcAft>
              <a:buSzPts val="1800"/>
              <a:buNone/>
            </a:pPr>
            <a:r>
              <a:rPr lang="en-US" sz="1800">
                <a:solidFill>
                  <a:schemeClr val="dk1"/>
                </a:solidFill>
                <a:latin typeface="Calibri"/>
                <a:ea typeface="Calibri"/>
                <a:cs typeface="Calibri"/>
                <a:sym typeface="Calibri"/>
              </a:rPr>
              <a:t>Details to be reported on </a:t>
            </a:r>
            <a:r>
              <a:rPr lang="en-US" sz="1800"/>
              <a:t>include</a:t>
            </a: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marL="457200" lvl="0" indent="-292100" algn="l" rtl="0">
              <a:lnSpc>
                <a:spcPct val="90000"/>
              </a:lnSpc>
              <a:spcBef>
                <a:spcPts val="0"/>
              </a:spcBef>
              <a:spcAft>
                <a:spcPts val="0"/>
              </a:spcAft>
              <a:buClr>
                <a:schemeClr val="dk2"/>
              </a:buClr>
              <a:buSzPts val="1000"/>
              <a:buFont typeface="Verdana"/>
              <a:buAutoNum type="arabicPeriod"/>
            </a:pPr>
            <a:r>
              <a:rPr lang="en-US" sz="1800"/>
              <a:t>Governance of human rights issues at GoodCorp: how it is organised, what kinds of issues are discussed</a:t>
            </a:r>
            <a:endParaRPr sz="1800"/>
          </a:p>
          <a:p>
            <a:pPr marL="457200" lvl="0" indent="-292100" algn="l" rtl="0">
              <a:lnSpc>
                <a:spcPct val="90000"/>
              </a:lnSpc>
              <a:spcBef>
                <a:spcPts val="0"/>
              </a:spcBef>
              <a:spcAft>
                <a:spcPts val="0"/>
              </a:spcAft>
              <a:buClr>
                <a:schemeClr val="dk2"/>
              </a:buClr>
              <a:buSzPts val="1000"/>
              <a:buFont typeface="Verdana"/>
              <a:buAutoNum type="arabicPeriod"/>
            </a:pPr>
            <a:r>
              <a:rPr lang="en-US" sz="1800"/>
              <a:t>An overview of the salient issue(s): the process used, the issues prioritized. Then, per issue: context, details relating to actual impacts that have occurred</a:t>
            </a:r>
            <a:endParaRPr sz="1800"/>
          </a:p>
          <a:p>
            <a:pPr marL="457200" lvl="0" indent="-292100" algn="l" rtl="0">
              <a:lnSpc>
                <a:spcPct val="90000"/>
              </a:lnSpc>
              <a:spcBef>
                <a:spcPts val="0"/>
              </a:spcBef>
              <a:spcAft>
                <a:spcPts val="0"/>
              </a:spcAft>
              <a:buClr>
                <a:schemeClr val="dk2"/>
              </a:buClr>
              <a:buSzPts val="1000"/>
              <a:buFont typeface="Verdana"/>
              <a:buAutoNum type="arabicPeriod"/>
            </a:pPr>
            <a:r>
              <a:rPr lang="en-US" sz="1800"/>
              <a:t>Actions (to be) taken to address the issues, including with other parties; related indicators / metrics and results to-date</a:t>
            </a:r>
            <a:endParaRPr sz="1800"/>
          </a:p>
          <a:p>
            <a:pPr marL="457200" lvl="0" indent="-292100" algn="l" rtl="0">
              <a:lnSpc>
                <a:spcPct val="90000"/>
              </a:lnSpc>
              <a:spcBef>
                <a:spcPts val="0"/>
              </a:spcBef>
              <a:spcAft>
                <a:spcPts val="0"/>
              </a:spcAft>
              <a:buClr>
                <a:schemeClr val="dk2"/>
              </a:buClr>
              <a:buSzPts val="1000"/>
              <a:buFont typeface="Verdana"/>
              <a:buAutoNum type="arabicPeriod"/>
            </a:pPr>
            <a:r>
              <a:rPr lang="en-US" sz="1800">
                <a:solidFill>
                  <a:schemeClr val="dk1"/>
                </a:solidFill>
                <a:latin typeface="Calibri"/>
                <a:ea typeface="Calibri"/>
                <a:cs typeface="Calibri"/>
                <a:sym typeface="Calibri"/>
              </a:rPr>
              <a:t>Stakeholder engagement: what </a:t>
            </a:r>
            <a:r>
              <a:rPr lang="en-US" sz="1800"/>
              <a:t>the overall process looks like, which stakeholders engaged per salient issue</a:t>
            </a: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marL="457200" lvl="0" indent="-292100" algn="l" rtl="0">
              <a:lnSpc>
                <a:spcPct val="90000"/>
              </a:lnSpc>
              <a:spcBef>
                <a:spcPts val="0"/>
              </a:spcBef>
              <a:spcAft>
                <a:spcPts val="0"/>
              </a:spcAft>
              <a:buClr>
                <a:schemeClr val="dk2"/>
              </a:buClr>
              <a:buSzPts val="1000"/>
              <a:buFont typeface="Verdana"/>
              <a:buAutoNum type="arabicPeriod"/>
            </a:pPr>
            <a:r>
              <a:rPr lang="en-US" sz="1800"/>
              <a:t>Forward-looking plans / next steps to address issues</a:t>
            </a:r>
            <a:endParaRPr sz="1800">
              <a:solidFill>
                <a:schemeClr val="dk1"/>
              </a:solidFill>
              <a:latin typeface="Calibri"/>
              <a:ea typeface="Calibri"/>
              <a:cs typeface="Calibri"/>
              <a:sym typeface="Calibri"/>
            </a:endParaRPr>
          </a:p>
          <a:p>
            <a:pPr marL="457200" lvl="0" indent="-292100" algn="l" rtl="0">
              <a:lnSpc>
                <a:spcPct val="90000"/>
              </a:lnSpc>
              <a:spcBef>
                <a:spcPts val="0"/>
              </a:spcBef>
              <a:spcAft>
                <a:spcPts val="0"/>
              </a:spcAft>
              <a:buClr>
                <a:schemeClr val="dk2"/>
              </a:buClr>
              <a:buSzPts val="1000"/>
              <a:buFont typeface="Verdana"/>
              <a:buAutoNum type="arabicPeriod"/>
            </a:pPr>
            <a:r>
              <a:rPr lang="en-US" sz="1800">
                <a:solidFill>
                  <a:schemeClr val="dk1"/>
                </a:solidFill>
                <a:latin typeface="Calibri"/>
                <a:ea typeface="Calibri"/>
                <a:cs typeface="Calibri"/>
                <a:sym typeface="Calibri"/>
              </a:rPr>
              <a:t>Grievance mechanisms</a:t>
            </a:r>
            <a:r>
              <a:rPr lang="en-US" sz="1800"/>
              <a:t>: what's in place, what kind of issues are reported through them, what kind of remedy (if any) has been provided / enabled for affected stakeholders</a:t>
            </a:r>
            <a:endParaRPr sz="1800">
              <a:solidFill>
                <a:schemeClr val="dk1"/>
              </a:solidFill>
              <a:latin typeface="Calibri"/>
              <a:ea typeface="Calibri"/>
              <a:cs typeface="Calibri"/>
              <a:sym typeface="Calibri"/>
            </a:endParaRPr>
          </a:p>
        </p:txBody>
      </p:sp>
      <p:sp>
        <p:nvSpPr>
          <p:cNvPr id="158" name="Google Shape;158;p8"/>
          <p:cNvSpPr/>
          <p:nvPr/>
        </p:nvSpPr>
        <p:spPr>
          <a:xfrm>
            <a:off x="838200" y="1293542"/>
            <a:ext cx="10405946" cy="836341"/>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below information on how you will communicate internally and externally about managing your salient human rights issues</a:t>
            </a:r>
            <a:endParaRPr sz="1800" b="0" i="0" u="none" strike="noStrike" cap="none">
              <a:solidFill>
                <a:srgbClr val="000000"/>
              </a:solidFill>
              <a:latin typeface="Verdana"/>
              <a:ea typeface="Verdana"/>
              <a:cs typeface="Verdana"/>
              <a:sym typeface="Verdana"/>
            </a:endParaRPr>
          </a:p>
        </p:txBody>
      </p:sp>
      <p:sp>
        <p:nvSpPr>
          <p:cNvPr id="159" name="Google Shape;159;p8"/>
          <p:cNvSpPr txBox="1"/>
          <p:nvPr/>
        </p:nvSpPr>
        <p:spPr>
          <a:xfrm rot="-591567">
            <a:off x="16994" y="3608347"/>
            <a:ext cx="1273712" cy="3078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9"/>
          <p:cNvSpPr txBox="1">
            <a:spLocks noGrp="1"/>
          </p:cNvSpPr>
          <p:nvPr>
            <p:ph type="title"/>
          </p:nvPr>
        </p:nvSpPr>
        <p:spPr>
          <a:xfrm>
            <a:off x="838200" y="365126"/>
            <a:ext cx="10515600" cy="6719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Stakeholder Engagement</a:t>
            </a:r>
            <a:endParaRPr sz="3600">
              <a:latin typeface="Verdana"/>
              <a:ea typeface="Verdana"/>
              <a:cs typeface="Verdana"/>
              <a:sym typeface="Verdana"/>
            </a:endParaRPr>
          </a:p>
        </p:txBody>
      </p:sp>
      <p:graphicFrame>
        <p:nvGraphicFramePr>
          <p:cNvPr id="165" name="Google Shape;165;p9"/>
          <p:cNvGraphicFramePr/>
          <p:nvPr/>
        </p:nvGraphicFramePr>
        <p:xfrm>
          <a:off x="838199" y="2285999"/>
          <a:ext cx="10405950" cy="4141796"/>
        </p:xfrm>
        <a:graphic>
          <a:graphicData uri="http://schemas.openxmlformats.org/drawingml/2006/table">
            <a:tbl>
              <a:tblPr firstRow="1" bandRow="1">
                <a:noFill/>
                <a:tableStyleId>{E859DD1B-E565-4BAC-9FFE-939C086D947F}</a:tableStyleId>
              </a:tblPr>
              <a:tblGrid>
                <a:gridCol w="1393375">
                  <a:extLst>
                    <a:ext uri="{9D8B030D-6E8A-4147-A177-3AD203B41FA5}">
                      <a16:colId xmlns:a16="http://schemas.microsoft.com/office/drawing/2014/main" val="20000"/>
                    </a:ext>
                  </a:extLst>
                </a:gridCol>
                <a:gridCol w="1894125">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1363800">
                  <a:extLst>
                    <a:ext uri="{9D8B030D-6E8A-4147-A177-3AD203B41FA5}">
                      <a16:colId xmlns:a16="http://schemas.microsoft.com/office/drawing/2014/main" val="20003"/>
                    </a:ext>
                  </a:extLst>
                </a:gridCol>
                <a:gridCol w="1734325">
                  <a:extLst>
                    <a:ext uri="{9D8B030D-6E8A-4147-A177-3AD203B41FA5}">
                      <a16:colId xmlns:a16="http://schemas.microsoft.com/office/drawing/2014/main" val="20004"/>
                    </a:ext>
                  </a:extLst>
                </a:gridCol>
                <a:gridCol w="1734325">
                  <a:extLst>
                    <a:ext uri="{9D8B030D-6E8A-4147-A177-3AD203B41FA5}">
                      <a16:colId xmlns:a16="http://schemas.microsoft.com/office/drawing/2014/main" val="20005"/>
                    </a:ext>
                  </a:extLst>
                </a:gridCol>
              </a:tblGrid>
              <a:tr h="370850">
                <a:tc>
                  <a:txBody>
                    <a:bodyPr/>
                    <a:lstStyle/>
                    <a:p>
                      <a:pPr marL="0" marR="0" lvl="0" indent="0" algn="l" rtl="0">
                        <a:lnSpc>
                          <a:spcPct val="115000"/>
                        </a:lnSpc>
                        <a:spcBef>
                          <a:spcPts val="0"/>
                        </a:spcBef>
                        <a:spcAft>
                          <a:spcPts val="0"/>
                        </a:spcAft>
                        <a:buClr>
                          <a:srgbClr val="000000"/>
                        </a:buClr>
                        <a:buSzPts val="1600"/>
                        <a:buFont typeface="Arial"/>
                        <a:buNone/>
                      </a:pPr>
                      <a:r>
                        <a:rPr lang="en-US" sz="1600" b="1" u="none" strike="noStrike" cap="none">
                          <a:solidFill>
                            <a:srgbClr val="FF0000"/>
                          </a:solidFill>
                          <a:latin typeface="Calibri"/>
                          <a:ea typeface="Calibri"/>
                          <a:cs typeface="Calibri"/>
                          <a:sym typeface="Calibri"/>
                        </a:rPr>
                        <a:t>Issue </a:t>
                      </a:r>
                      <a:endParaRPr sz="1600" b="1" u="none" strike="noStrike" cap="none">
                        <a:solidFill>
                          <a:srgbClr val="FF0000"/>
                        </a:solidFill>
                        <a:latin typeface="Calibri"/>
                        <a:ea typeface="Calibri"/>
                        <a:cs typeface="Calibri"/>
                        <a:sym typeface="Calibri"/>
                      </a:endParaRPr>
                    </a:p>
                  </a:txBody>
                  <a:tcPr marL="28575" marR="28575" marT="91425" marB="91425" anchor="b"/>
                </a:tc>
                <a:tc gridSpan="5">
                  <a:txBody>
                    <a:bodyPr/>
                    <a:lstStyle/>
                    <a:p>
                      <a:pPr marL="0" lvl="0" indent="0" algn="l" rtl="0">
                        <a:spcBef>
                          <a:spcPts val="0"/>
                        </a:spcBef>
                        <a:spcAft>
                          <a:spcPts val="0"/>
                        </a:spcAft>
                        <a:buClr>
                          <a:schemeClr val="dk1"/>
                        </a:buClr>
                        <a:buSzPts val="1800"/>
                        <a:buFont typeface="Arial"/>
                        <a:buNone/>
                      </a:pPr>
                      <a:r>
                        <a:rPr lang="en-US" sz="1600">
                          <a:latin typeface="Calibri"/>
                          <a:ea typeface="Calibri"/>
                          <a:cs typeface="Calibri"/>
                          <a:sym typeface="Calibri"/>
                        </a:rPr>
                        <a:t>Possible injuries (including fatalities) due to excessive use of force by security personnel against protesters</a:t>
                      </a:r>
                      <a:endParaRPr sz="1500" u="none" strike="noStrike" cap="none">
                        <a:latin typeface="Calibri"/>
                        <a:ea typeface="Calibri"/>
                        <a:cs typeface="Calibri"/>
                        <a:sym typeface="Calibri"/>
                      </a:endParaRPr>
                    </a:p>
                  </a:txBody>
                  <a:tcPr marL="91425" marR="91425" marT="91425" marB="91425"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850">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Stakeholder type: </a:t>
                      </a:r>
                      <a:endParaRPr sz="1400" b="1" u="none" strike="noStrike" cap="none">
                        <a:latin typeface="Calibri"/>
                        <a:ea typeface="Calibri"/>
                        <a:cs typeface="Calibri"/>
                        <a:sym typeface="Calibri"/>
                      </a:endParaRPr>
                    </a:p>
                  </a:txBody>
                  <a:tcPr marL="28575" marR="28575" marT="91425" marB="91425" anchor="ctr"/>
                </a:tc>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What do we think we know about their needs?</a:t>
                      </a:r>
                      <a:endParaRPr sz="1400" b="1" u="none" strike="noStrike" cap="none">
                        <a:latin typeface="Calibri"/>
                        <a:ea typeface="Calibri"/>
                        <a:cs typeface="Calibri"/>
                        <a:sym typeface="Calibri"/>
                      </a:endParaRPr>
                    </a:p>
                  </a:txBody>
                  <a:tcPr marL="28575" marR="28575" marT="91425" marB="91425" anchor="ctr"/>
                </a:tc>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HRDD Phase? Assess, Integrate and Act, Track, Communicate?</a:t>
                      </a:r>
                      <a:endParaRPr sz="1400" b="1" u="none" strike="noStrike" cap="none">
                        <a:latin typeface="Calibri"/>
                        <a:ea typeface="Calibri"/>
                        <a:cs typeface="Calibri"/>
                        <a:sym typeface="Calibri"/>
                      </a:endParaRPr>
                    </a:p>
                  </a:txBody>
                  <a:tcPr marL="28575" marR="28575" marT="91425" marB="91425" anchor="ctr"/>
                </a:tc>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Phase of engagement: </a:t>
                      </a:r>
                      <a:endParaRPr sz="1400" b="1" u="none" strike="noStrike" cap="none">
                        <a:latin typeface="Calibri"/>
                        <a:ea typeface="Calibri"/>
                        <a:cs typeface="Calibri"/>
                        <a:sym typeface="Calibri"/>
                      </a:endParaRPr>
                    </a:p>
                  </a:txBody>
                  <a:tcPr marL="28575" marR="28575" marT="91425" marB="91425" anchor="ctr"/>
                </a:tc>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What information do we still need to validate?</a:t>
                      </a:r>
                      <a:endParaRPr sz="1400" b="1" u="none" strike="noStrike" cap="none">
                        <a:latin typeface="Calibri"/>
                        <a:ea typeface="Calibri"/>
                        <a:cs typeface="Calibri"/>
                        <a:sym typeface="Calibri"/>
                      </a:endParaRPr>
                    </a:p>
                  </a:txBody>
                  <a:tcPr marL="28575" marR="28575" marT="91425" marB="91425" anchor="ctr"/>
                </a:tc>
                <a:tc>
                  <a:txBody>
                    <a:bodyPr/>
                    <a:lstStyle/>
                    <a:p>
                      <a:pPr marL="0" marR="0" lvl="0" indent="0" algn="l" rtl="0">
                        <a:lnSpc>
                          <a:spcPct val="115000"/>
                        </a:lnSpc>
                        <a:spcBef>
                          <a:spcPts val="0"/>
                        </a:spcBef>
                        <a:spcAft>
                          <a:spcPts val="0"/>
                        </a:spcAft>
                        <a:buClr>
                          <a:srgbClr val="000000"/>
                        </a:buClr>
                        <a:buSzPts val="1400"/>
                        <a:buFont typeface="Arial"/>
                        <a:buNone/>
                      </a:pPr>
                      <a:r>
                        <a:rPr lang="en-US" sz="1400" b="1" u="none" strike="noStrike" cap="none">
                          <a:latin typeface="Calibri"/>
                          <a:ea typeface="Calibri"/>
                          <a:cs typeface="Calibri"/>
                          <a:sym typeface="Calibri"/>
                        </a:rPr>
                        <a:t>What are the next steps?</a:t>
                      </a:r>
                      <a:endParaRPr sz="1400" b="1" u="none" strike="noStrike" cap="none">
                        <a:latin typeface="Calibri"/>
                        <a:ea typeface="Calibri"/>
                        <a:cs typeface="Calibri"/>
                        <a:sym typeface="Calibri"/>
                      </a:endParaRPr>
                    </a:p>
                  </a:txBody>
                  <a:tcPr marL="28575" marR="28575" marT="91425" marB="91425" anchor="ctr"/>
                </a:tc>
                <a:extLst>
                  <a:ext uri="{0D108BD9-81ED-4DB2-BD59-A6C34878D82A}">
                    <a16:rowId xmlns:a16="http://schemas.microsoft.com/office/drawing/2014/main" val="10001"/>
                  </a:ext>
                </a:extLst>
              </a:tr>
              <a:tr h="370850">
                <a:tc rowSpan="2">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Community members</a:t>
                      </a:r>
                      <a:endParaRPr sz="1400" u="none" strike="noStrike" cap="none">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Community members do not trust GoodCorp as a new roleplayer</a:t>
                      </a:r>
                      <a:endParaRPr sz="1400" u="none" strike="noStrike" cap="none">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GoodCorp is new to Mystopia and does not know or have en existing relationship with the community</a:t>
                      </a:r>
                      <a:endParaRPr sz="1400" u="none" strike="noStrike" cap="none">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Assess</a:t>
                      </a:r>
                      <a:endParaRPr sz="1400" u="none" strike="noStrike" cap="none">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Community members willingness to engage with GoodCorp</a:t>
                      </a:r>
                      <a:endParaRPr sz="1400" u="none" strike="noStrike" cap="none">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Use interviews and focus groups to understand the current situation</a:t>
                      </a:r>
                      <a:endParaRPr sz="1400" u="none" strike="noStrike" cap="none">
                        <a:latin typeface="Calibri"/>
                        <a:ea typeface="Calibri"/>
                        <a:cs typeface="Calibri"/>
                        <a:sym typeface="Calibri"/>
                      </a:endParaRPr>
                    </a:p>
                  </a:txBody>
                  <a:tcPr marL="28575" marR="28575" marT="91425" marB="91425" anchor="b"/>
                </a:tc>
                <a:extLst>
                  <a:ext uri="{0D108BD9-81ED-4DB2-BD59-A6C34878D82A}">
                    <a16:rowId xmlns:a16="http://schemas.microsoft.com/office/drawing/2014/main" val="10002"/>
                  </a:ext>
                </a:extLst>
              </a:tr>
              <a:tr h="370850">
                <a:tc vMerge="1">
                  <a:txBody>
                    <a:bodyPr/>
                    <a:lstStyle/>
                    <a:p>
                      <a:endParaRPr lang="en-US"/>
                    </a:p>
                  </a:txBody>
                  <a:tcPr/>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solidFill>
                            <a:srgbClr val="1F1F1F"/>
                          </a:solidFill>
                          <a:latin typeface="Calibri"/>
                          <a:ea typeface="Calibri"/>
                          <a:cs typeface="Calibri"/>
                          <a:sym typeface="Calibri"/>
                        </a:rPr>
                        <a:t>Community members are frustrated and angry and unwilling to engage</a:t>
                      </a:r>
                      <a:endParaRPr sz="1400" u="none" strike="noStrike" cap="none">
                        <a:solidFill>
                          <a:srgbClr val="1F1F1F"/>
                        </a:solidFill>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There is existing information, however any assumptions made must be validated by the community members</a:t>
                      </a:r>
                      <a:endParaRPr sz="1400" u="none" strike="noStrike" cap="none">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Assess</a:t>
                      </a:r>
                      <a:endParaRPr sz="1400" u="none" strike="noStrike" cap="none">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The current situation community members are facing</a:t>
                      </a:r>
                      <a:endParaRPr sz="1400" u="none" strike="noStrike" cap="none">
                        <a:latin typeface="Calibri"/>
                        <a:ea typeface="Calibri"/>
                        <a:cs typeface="Calibri"/>
                        <a:sym typeface="Calibri"/>
                      </a:endParaRPr>
                    </a:p>
                  </a:txBody>
                  <a:tcPr marL="28575" marR="28575" marT="91425" marB="91425" anchor="b"/>
                </a:tc>
                <a:tc>
                  <a:txBody>
                    <a:bodyPr/>
                    <a:lstStyle/>
                    <a:p>
                      <a:pPr marL="0" marR="0" lvl="0" indent="0" algn="l" rtl="0">
                        <a:lnSpc>
                          <a:spcPct val="115000"/>
                        </a:lnSpc>
                        <a:spcBef>
                          <a:spcPts val="0"/>
                        </a:spcBef>
                        <a:spcAft>
                          <a:spcPts val="0"/>
                        </a:spcAft>
                        <a:buClr>
                          <a:srgbClr val="000000"/>
                        </a:buClr>
                        <a:buSzPts val="1400"/>
                        <a:buFont typeface="Arial"/>
                        <a:buNone/>
                      </a:pPr>
                      <a:r>
                        <a:rPr lang="en-US" sz="1400" u="none" strike="noStrike" cap="none">
                          <a:latin typeface="Calibri"/>
                          <a:ea typeface="Calibri"/>
                          <a:cs typeface="Calibri"/>
                          <a:sym typeface="Calibri"/>
                        </a:rPr>
                        <a:t>Plan the initial assessment engagement considering, culture, language, best place for discussion etc.</a:t>
                      </a:r>
                      <a:endParaRPr sz="1400" u="none" strike="noStrike" cap="none">
                        <a:latin typeface="Calibri"/>
                        <a:ea typeface="Calibri"/>
                        <a:cs typeface="Calibri"/>
                        <a:sym typeface="Calibri"/>
                      </a:endParaRPr>
                    </a:p>
                  </a:txBody>
                  <a:tcPr marL="28575" marR="28575" marT="91425" marB="91425" anchor="b"/>
                </a:tc>
                <a:extLst>
                  <a:ext uri="{0D108BD9-81ED-4DB2-BD59-A6C34878D82A}">
                    <a16:rowId xmlns:a16="http://schemas.microsoft.com/office/drawing/2014/main" val="10003"/>
                  </a:ext>
                </a:extLst>
              </a:tr>
            </a:tbl>
          </a:graphicData>
        </a:graphic>
      </p:graphicFrame>
      <p:sp>
        <p:nvSpPr>
          <p:cNvPr id="166" name="Google Shape;166;p9"/>
          <p:cNvSpPr/>
          <p:nvPr/>
        </p:nvSpPr>
        <p:spPr>
          <a:xfrm>
            <a:off x="892950" y="1037064"/>
            <a:ext cx="10406100" cy="10785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key details and/or data that articulate your future stakeholder engagement approach for example, which stakeholders do you wish to engage in relation to your salient human rights issue(s)? how do you plan to engage? with whose help?</a:t>
            </a:r>
            <a:endParaRPr sz="1800" b="0" i="0" u="none" strike="noStrike" cap="none">
              <a:solidFill>
                <a:srgbClr val="000000"/>
              </a:solidFill>
              <a:latin typeface="Verdana"/>
              <a:ea typeface="Verdana"/>
              <a:cs typeface="Verdana"/>
              <a:sym typeface="Verdana"/>
            </a:endParaRPr>
          </a:p>
        </p:txBody>
      </p:sp>
      <p:sp>
        <p:nvSpPr>
          <p:cNvPr id="167" name="Google Shape;167;p9"/>
          <p:cNvSpPr txBox="1"/>
          <p:nvPr/>
        </p:nvSpPr>
        <p:spPr>
          <a:xfrm rot="-591567">
            <a:off x="16994" y="3608347"/>
            <a:ext cx="1273712" cy="3078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0"/>
          <p:cNvSpPr txBox="1">
            <a:spLocks noGrp="1"/>
          </p:cNvSpPr>
          <p:nvPr>
            <p:ph type="title"/>
          </p:nvPr>
        </p:nvSpPr>
        <p:spPr>
          <a:xfrm>
            <a:off x="838200" y="365125"/>
            <a:ext cx="10515600" cy="515821"/>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Preparing for Remedy</a:t>
            </a:r>
            <a:endParaRPr sz="3600">
              <a:latin typeface="Verdana"/>
              <a:ea typeface="Verdana"/>
              <a:cs typeface="Verdana"/>
              <a:sym typeface="Verdana"/>
            </a:endParaRPr>
          </a:p>
        </p:txBody>
      </p:sp>
      <p:sp>
        <p:nvSpPr>
          <p:cNvPr id="173" name="Google Shape;173;p10"/>
          <p:cNvSpPr txBox="1">
            <a:spLocks noGrp="1"/>
          </p:cNvSpPr>
          <p:nvPr>
            <p:ph type="body" idx="1"/>
          </p:nvPr>
        </p:nvSpPr>
        <p:spPr>
          <a:xfrm>
            <a:off x="838200" y="2219093"/>
            <a:ext cx="10515600" cy="3957870"/>
          </a:xfrm>
          <a:prstGeom prst="rect">
            <a:avLst/>
          </a:prstGeom>
          <a:noFill/>
          <a:ln>
            <a:noFill/>
          </a:ln>
        </p:spPr>
        <p:txBody>
          <a:bodyPr spcFirstLastPara="1" wrap="square" lIns="91425" tIns="45700" rIns="91425" bIns="45700" anchor="t" anchorCtr="0">
            <a:normAutofit fontScale="85000" lnSpcReduction="20000"/>
          </a:bodyPr>
          <a:lstStyle/>
          <a:p>
            <a:pPr marL="228600" lvl="0" indent="-50800" algn="l" rtl="0">
              <a:lnSpc>
                <a:spcPct val="90000"/>
              </a:lnSpc>
              <a:spcBef>
                <a:spcPts val="0"/>
              </a:spcBef>
              <a:spcAft>
                <a:spcPts val="0"/>
              </a:spcAft>
              <a:buClr>
                <a:schemeClr val="dk1"/>
              </a:buClr>
              <a:buSzPct val="117647"/>
              <a:buNone/>
            </a:pPr>
            <a:r>
              <a:rPr lang="en-US"/>
              <a:t>GoodCorp may cause (if security are employees) or contribute to the treatment of protesters (if contractors of GoodCorp) if they do not take action to prevent such incidences as they are fully aware of the risk.</a:t>
            </a:r>
            <a:endParaRPr/>
          </a:p>
          <a:p>
            <a:pPr marL="228600" lvl="0" indent="-50800" algn="l" rtl="0">
              <a:lnSpc>
                <a:spcPct val="90000"/>
              </a:lnSpc>
              <a:spcBef>
                <a:spcPts val="0"/>
              </a:spcBef>
              <a:spcAft>
                <a:spcPts val="0"/>
              </a:spcAft>
              <a:buClr>
                <a:schemeClr val="dk1"/>
              </a:buClr>
              <a:buSzPct val="117647"/>
              <a:buNone/>
            </a:pPr>
            <a:endParaRPr/>
          </a:p>
          <a:p>
            <a:pPr marL="228600" lvl="0" indent="-50800" algn="l" rtl="0">
              <a:lnSpc>
                <a:spcPct val="90000"/>
              </a:lnSpc>
              <a:spcBef>
                <a:spcPts val="0"/>
              </a:spcBef>
              <a:spcAft>
                <a:spcPts val="0"/>
              </a:spcAft>
              <a:buClr>
                <a:schemeClr val="dk1"/>
              </a:buClr>
              <a:buSzPct val="117647"/>
              <a:buNone/>
            </a:pPr>
            <a:r>
              <a:rPr lang="en-US"/>
              <a:t>In order to prepare proactively for Remedy, GoodCorp will consider its involvement with the impact and engage a range of stakeholders including</a:t>
            </a:r>
            <a:endParaRPr/>
          </a:p>
          <a:p>
            <a:pPr marL="457200" lvl="0" indent="-360605" algn="l" rtl="0">
              <a:lnSpc>
                <a:spcPct val="90000"/>
              </a:lnSpc>
              <a:spcBef>
                <a:spcPts val="0"/>
              </a:spcBef>
              <a:spcAft>
                <a:spcPts val="0"/>
              </a:spcAft>
              <a:buSzPct val="100000"/>
              <a:buChar char="•"/>
            </a:pPr>
            <a:r>
              <a:rPr lang="en-US" sz="2682"/>
              <a:t>The affected community members</a:t>
            </a:r>
            <a:endParaRPr sz="2682"/>
          </a:p>
          <a:p>
            <a:pPr marL="457200" lvl="0" indent="-360605" algn="l" rtl="0">
              <a:lnSpc>
                <a:spcPct val="90000"/>
              </a:lnSpc>
              <a:spcBef>
                <a:spcPts val="0"/>
              </a:spcBef>
              <a:spcAft>
                <a:spcPts val="0"/>
              </a:spcAft>
              <a:buSzPct val="100000"/>
              <a:buChar char="•"/>
            </a:pPr>
            <a:r>
              <a:rPr lang="en-US" sz="2682"/>
              <a:t>Government representatives for the specific area</a:t>
            </a:r>
            <a:endParaRPr sz="2682"/>
          </a:p>
          <a:p>
            <a:pPr marL="457200" lvl="0" indent="-360605" algn="l" rtl="0">
              <a:lnSpc>
                <a:spcPct val="90000"/>
              </a:lnSpc>
              <a:spcBef>
                <a:spcPts val="0"/>
              </a:spcBef>
              <a:spcAft>
                <a:spcPts val="0"/>
              </a:spcAft>
              <a:buSzPct val="100000"/>
              <a:buChar char="•"/>
            </a:pPr>
            <a:r>
              <a:rPr lang="en-US" sz="2682"/>
              <a:t>Possible contractors/ service providers (security service providers)</a:t>
            </a:r>
            <a:endParaRPr sz="2682"/>
          </a:p>
          <a:p>
            <a:pPr marL="457200" lvl="0" indent="-360605" algn="l" rtl="0">
              <a:lnSpc>
                <a:spcPct val="90000"/>
              </a:lnSpc>
              <a:spcBef>
                <a:spcPts val="0"/>
              </a:spcBef>
              <a:spcAft>
                <a:spcPts val="0"/>
              </a:spcAft>
              <a:buSzPct val="100000"/>
              <a:buChar char="•"/>
            </a:pPr>
            <a:r>
              <a:rPr lang="en-US" sz="2682"/>
              <a:t>Local CSOs</a:t>
            </a:r>
            <a:endParaRPr sz="2682"/>
          </a:p>
          <a:p>
            <a:pPr marL="457200" lvl="0" indent="-360605" algn="l" rtl="0">
              <a:lnSpc>
                <a:spcPct val="90000"/>
              </a:lnSpc>
              <a:spcBef>
                <a:spcPts val="0"/>
              </a:spcBef>
              <a:spcAft>
                <a:spcPts val="0"/>
              </a:spcAft>
              <a:buSzPct val="100000"/>
              <a:buChar char="•"/>
            </a:pPr>
            <a:r>
              <a:rPr lang="en-US" sz="2682"/>
              <a:t>Any peer companies working in the same space</a:t>
            </a:r>
            <a:endParaRPr sz="2682"/>
          </a:p>
          <a:p>
            <a:pPr marL="228600" lvl="0" indent="-50800" algn="l" rtl="0">
              <a:lnSpc>
                <a:spcPct val="90000"/>
              </a:lnSpc>
              <a:spcBef>
                <a:spcPts val="0"/>
              </a:spcBef>
              <a:spcAft>
                <a:spcPts val="0"/>
              </a:spcAft>
              <a:buClr>
                <a:schemeClr val="dk1"/>
              </a:buClr>
              <a:buSzPct val="117647"/>
              <a:buNone/>
            </a:pPr>
            <a:endParaRPr/>
          </a:p>
          <a:p>
            <a:pPr marL="228600" lvl="0" indent="-50800" algn="l" rtl="0">
              <a:lnSpc>
                <a:spcPct val="90000"/>
              </a:lnSpc>
              <a:spcBef>
                <a:spcPts val="0"/>
              </a:spcBef>
              <a:spcAft>
                <a:spcPts val="0"/>
              </a:spcAft>
              <a:buClr>
                <a:schemeClr val="dk1"/>
              </a:buClr>
              <a:buSzPct val="117647"/>
              <a:buNone/>
            </a:pPr>
            <a:r>
              <a:rPr lang="en-US"/>
              <a:t>These stakeholders will be mapped in Activity 1 of the actions planned. Stakeholders will then be engaged as part of the engagement plan and according to the schedule agreed.</a:t>
            </a:r>
            <a:endParaRPr/>
          </a:p>
          <a:p>
            <a:pPr marL="228600" lvl="0" indent="-50800" algn="l" rtl="0">
              <a:lnSpc>
                <a:spcPct val="90000"/>
              </a:lnSpc>
              <a:spcBef>
                <a:spcPts val="0"/>
              </a:spcBef>
              <a:spcAft>
                <a:spcPts val="0"/>
              </a:spcAft>
              <a:buClr>
                <a:schemeClr val="dk1"/>
              </a:buClr>
              <a:buSzPct val="117647"/>
              <a:buNone/>
            </a:pPr>
            <a:endParaRPr/>
          </a:p>
        </p:txBody>
      </p:sp>
      <p:sp>
        <p:nvSpPr>
          <p:cNvPr id="174" name="Google Shape;174;p10"/>
          <p:cNvSpPr/>
          <p:nvPr/>
        </p:nvSpPr>
        <p:spPr>
          <a:xfrm>
            <a:off x="838200" y="1048225"/>
            <a:ext cx="10515600" cy="8487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Share some reflections below on how you will prepare the organization for providing and/or enabling remedy in relation to your salient human rights issue/s</a:t>
            </a:r>
            <a:endParaRPr sz="1800" b="0" i="0" u="none" strike="noStrike" cap="none">
              <a:solidFill>
                <a:srgbClr val="000000"/>
              </a:solidFill>
              <a:latin typeface="Verdana"/>
              <a:ea typeface="Verdana"/>
              <a:cs typeface="Verdana"/>
              <a:sym typeface="Verdana"/>
            </a:endParaRPr>
          </a:p>
        </p:txBody>
      </p:sp>
      <p:sp>
        <p:nvSpPr>
          <p:cNvPr id="175" name="Google Shape;175;p10"/>
          <p:cNvSpPr txBox="1"/>
          <p:nvPr/>
        </p:nvSpPr>
        <p:spPr>
          <a:xfrm rot="-591567">
            <a:off x="16994" y="3608347"/>
            <a:ext cx="1273712" cy="3078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p:cNvSpPr txBox="1">
            <a:spLocks noGrp="1"/>
          </p:cNvSpPr>
          <p:nvPr>
            <p:ph type="title"/>
          </p:nvPr>
        </p:nvSpPr>
        <p:spPr>
          <a:xfrm>
            <a:off x="838200" y="365126"/>
            <a:ext cx="10515600" cy="62733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Grievance Mechanisms</a:t>
            </a:r>
            <a:endParaRPr sz="3600">
              <a:latin typeface="Verdana"/>
              <a:ea typeface="Verdana"/>
              <a:cs typeface="Verdana"/>
              <a:sym typeface="Verdana"/>
            </a:endParaRPr>
          </a:p>
        </p:txBody>
      </p:sp>
      <p:sp>
        <p:nvSpPr>
          <p:cNvPr id="181" name="Google Shape;181;p11"/>
          <p:cNvSpPr txBox="1">
            <a:spLocks noGrp="1"/>
          </p:cNvSpPr>
          <p:nvPr>
            <p:ph type="body" idx="1"/>
          </p:nvPr>
        </p:nvSpPr>
        <p:spPr>
          <a:xfrm>
            <a:off x="838200" y="2605176"/>
            <a:ext cx="10515600" cy="3887697"/>
          </a:xfrm>
          <a:prstGeom prst="rect">
            <a:avLst/>
          </a:prstGeom>
          <a:noFill/>
          <a:ln>
            <a:noFill/>
          </a:ln>
        </p:spPr>
        <p:txBody>
          <a:bodyPr spcFirstLastPara="1" wrap="square" lIns="91425" tIns="45700" rIns="91425" bIns="45700" anchor="t" anchorCtr="0">
            <a:normAutofit fontScale="77500" lnSpcReduction="20000"/>
          </a:bodyPr>
          <a:lstStyle/>
          <a:p>
            <a:pPr marL="228600" lvl="0" indent="-50800" algn="l" rtl="0">
              <a:lnSpc>
                <a:spcPct val="90000"/>
              </a:lnSpc>
              <a:spcBef>
                <a:spcPts val="0"/>
              </a:spcBef>
              <a:spcAft>
                <a:spcPts val="0"/>
              </a:spcAft>
              <a:buClr>
                <a:schemeClr val="dk1"/>
              </a:buClr>
              <a:buSzPct val="129032"/>
              <a:buNone/>
            </a:pPr>
            <a:r>
              <a:rPr lang="en-US"/>
              <a:t>In order to allow the affected community members to raise complaints or concerns with GoodCorp, and to have those concerns addressed and resolved, GoodCorp will be implementing various grievance mechanisms.</a:t>
            </a:r>
            <a:endParaRPr/>
          </a:p>
          <a:p>
            <a:pPr marL="228600" lvl="0" indent="-50800" algn="l" rtl="0">
              <a:lnSpc>
                <a:spcPct val="90000"/>
              </a:lnSpc>
              <a:spcBef>
                <a:spcPts val="0"/>
              </a:spcBef>
              <a:spcAft>
                <a:spcPts val="0"/>
              </a:spcAft>
              <a:buClr>
                <a:schemeClr val="dk1"/>
              </a:buClr>
              <a:buSzPct val="129032"/>
              <a:buNone/>
            </a:pPr>
            <a:endParaRPr/>
          </a:p>
          <a:p>
            <a:pPr marL="228600" lvl="0" indent="-50800" algn="l" rtl="0">
              <a:lnSpc>
                <a:spcPct val="90000"/>
              </a:lnSpc>
              <a:spcBef>
                <a:spcPts val="0"/>
              </a:spcBef>
              <a:spcAft>
                <a:spcPts val="0"/>
              </a:spcAft>
              <a:buClr>
                <a:schemeClr val="dk1"/>
              </a:buClr>
              <a:buSzPct val="129032"/>
              <a:buNone/>
            </a:pPr>
            <a:r>
              <a:rPr lang="en-US"/>
              <a:t>Over the short term and to ensure an immediate process is in place, GoodCorp will implement a “Whistleblower hotline”.</a:t>
            </a:r>
            <a:endParaRPr/>
          </a:p>
          <a:p>
            <a:pPr marL="228600" lvl="0" indent="-50800" algn="l" rtl="0">
              <a:lnSpc>
                <a:spcPct val="90000"/>
              </a:lnSpc>
              <a:spcBef>
                <a:spcPts val="0"/>
              </a:spcBef>
              <a:spcAft>
                <a:spcPts val="0"/>
              </a:spcAft>
              <a:buClr>
                <a:schemeClr val="dk1"/>
              </a:buClr>
              <a:buSzPct val="129032"/>
              <a:buNone/>
            </a:pPr>
            <a:endParaRPr/>
          </a:p>
          <a:p>
            <a:pPr marL="228600" lvl="0" indent="-50800" algn="l" rtl="0">
              <a:lnSpc>
                <a:spcPct val="90000"/>
              </a:lnSpc>
              <a:spcBef>
                <a:spcPts val="0"/>
              </a:spcBef>
              <a:spcAft>
                <a:spcPts val="0"/>
              </a:spcAft>
              <a:buClr>
                <a:schemeClr val="dk1"/>
              </a:buClr>
              <a:buSzPct val="129032"/>
              <a:buNone/>
            </a:pPr>
            <a:r>
              <a:rPr lang="en-US"/>
              <a:t>Within 3 months of moving into Mystopia, GoodCorp will be appointing a ‘community liaison officer’ to ensure community members have a direct contact with the organisation.</a:t>
            </a:r>
            <a:endParaRPr/>
          </a:p>
          <a:p>
            <a:pPr marL="228600" lvl="0" indent="-50800" algn="l" rtl="0">
              <a:lnSpc>
                <a:spcPct val="90000"/>
              </a:lnSpc>
              <a:spcBef>
                <a:spcPts val="0"/>
              </a:spcBef>
              <a:spcAft>
                <a:spcPts val="0"/>
              </a:spcAft>
              <a:buClr>
                <a:schemeClr val="dk1"/>
              </a:buClr>
              <a:buSzPct val="129032"/>
              <a:buNone/>
            </a:pPr>
            <a:endParaRPr/>
          </a:p>
          <a:p>
            <a:pPr marL="228600" lvl="0" indent="-50800" algn="l" rtl="0">
              <a:lnSpc>
                <a:spcPct val="90000"/>
              </a:lnSpc>
              <a:spcBef>
                <a:spcPts val="0"/>
              </a:spcBef>
              <a:spcAft>
                <a:spcPts val="0"/>
              </a:spcAft>
              <a:buClr>
                <a:schemeClr val="dk1"/>
              </a:buClr>
              <a:buSzPct val="129032"/>
              <a:buNone/>
            </a:pPr>
            <a:r>
              <a:rPr lang="en-US"/>
              <a:t>Within the same 3 months, GoodCorp will also be hosting the very first engagement session with affected stakeholders and all other mapped stakeholders. This allows for more inclusive medium to longer term planning for grievance mechanisms with stakeholders.</a:t>
            </a:r>
            <a:endParaRPr/>
          </a:p>
          <a:p>
            <a:pPr marL="228600" lvl="0" indent="-50800" algn="l" rtl="0">
              <a:lnSpc>
                <a:spcPct val="90000"/>
              </a:lnSpc>
              <a:spcBef>
                <a:spcPts val="0"/>
              </a:spcBef>
              <a:spcAft>
                <a:spcPts val="0"/>
              </a:spcAft>
              <a:buClr>
                <a:schemeClr val="dk1"/>
              </a:buClr>
              <a:buSzPct val="129032"/>
              <a:buNone/>
            </a:pPr>
            <a:endParaRPr/>
          </a:p>
        </p:txBody>
      </p:sp>
      <p:sp>
        <p:nvSpPr>
          <p:cNvPr id="182" name="Google Shape;182;p11"/>
          <p:cNvSpPr/>
          <p:nvPr/>
        </p:nvSpPr>
        <p:spPr>
          <a:xfrm>
            <a:off x="838200" y="907075"/>
            <a:ext cx="10406100" cy="14346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Insert reflections below on your gap assessment of company grievance mechanisms and initial thoughts on how you can strengthen it. If your company does not yet have one, please share reflections on what kind of future mechanism(s) seems most appropriate for your organization.</a:t>
            </a:r>
            <a:endParaRPr sz="1800" b="0" i="0" u="none" strike="noStrike" cap="none">
              <a:solidFill>
                <a:srgbClr val="000000"/>
              </a:solidFill>
              <a:latin typeface="Verdana"/>
              <a:ea typeface="Verdana"/>
              <a:cs typeface="Verdana"/>
              <a:sym typeface="Verdana"/>
            </a:endParaRPr>
          </a:p>
        </p:txBody>
      </p:sp>
      <p:sp>
        <p:nvSpPr>
          <p:cNvPr id="183" name="Google Shape;183;p11"/>
          <p:cNvSpPr txBox="1"/>
          <p:nvPr/>
        </p:nvSpPr>
        <p:spPr>
          <a:xfrm rot="-591567">
            <a:off x="16994" y="3608347"/>
            <a:ext cx="1273712" cy="3078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2"/>
          <p:cNvSpPr txBox="1">
            <a:spLocks noGrp="1"/>
          </p:cNvSpPr>
          <p:nvPr>
            <p:ph type="title"/>
          </p:nvPr>
        </p:nvSpPr>
        <p:spPr>
          <a:xfrm>
            <a:off x="838200" y="365125"/>
            <a:ext cx="10515600" cy="839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Next Steps</a:t>
            </a:r>
            <a:endParaRPr sz="3600">
              <a:latin typeface="Verdana"/>
              <a:ea typeface="Verdana"/>
              <a:cs typeface="Verdana"/>
              <a:sym typeface="Verdana"/>
            </a:endParaRPr>
          </a:p>
        </p:txBody>
      </p:sp>
      <p:sp>
        <p:nvSpPr>
          <p:cNvPr id="189" name="Google Shape;189;p12"/>
          <p:cNvSpPr txBox="1">
            <a:spLocks noGrp="1"/>
          </p:cNvSpPr>
          <p:nvPr>
            <p:ph type="body" idx="1"/>
          </p:nvPr>
        </p:nvSpPr>
        <p:spPr>
          <a:xfrm>
            <a:off x="838200" y="2351313"/>
            <a:ext cx="10515600" cy="3825649"/>
          </a:xfrm>
          <a:prstGeom prst="rect">
            <a:avLst/>
          </a:prstGeom>
          <a:noFill/>
          <a:ln>
            <a:noFill/>
          </a:ln>
        </p:spPr>
        <p:txBody>
          <a:bodyPr spcFirstLastPara="1" wrap="square" lIns="91425" tIns="45700" rIns="91425" bIns="45700" anchor="t" anchorCtr="0">
            <a:normAutofit lnSpcReduction="10000"/>
          </a:bodyPr>
          <a:lstStyle/>
          <a:p>
            <a:pPr marL="0" marR="0" lvl="0" indent="0" algn="l" rtl="0">
              <a:lnSpc>
                <a:spcPct val="90000"/>
              </a:lnSpc>
              <a:spcBef>
                <a:spcPts val="1000"/>
              </a:spcBef>
              <a:spcAft>
                <a:spcPts val="0"/>
              </a:spcAft>
              <a:buSzPts val="1800"/>
              <a:buNone/>
            </a:pPr>
            <a:r>
              <a:rPr lang="en-US" sz="1800">
                <a:solidFill>
                  <a:srgbClr val="1E3250"/>
                </a:solidFill>
                <a:highlight>
                  <a:srgbClr val="FFFFFF"/>
                </a:highlight>
                <a:latin typeface="Arial"/>
                <a:ea typeface="Arial"/>
                <a:cs typeface="Arial"/>
                <a:sym typeface="Arial"/>
              </a:rPr>
              <a:t>GoodCorp’s immediate next steps include: </a:t>
            </a:r>
            <a:endParaRPr/>
          </a:p>
          <a:p>
            <a:pPr marL="0" marR="0" lvl="0" indent="0" algn="l" rtl="0">
              <a:lnSpc>
                <a:spcPct val="90000"/>
              </a:lnSpc>
              <a:spcBef>
                <a:spcPts val="1000"/>
              </a:spcBef>
              <a:spcAft>
                <a:spcPts val="0"/>
              </a:spcAft>
              <a:buSzPts val="1800"/>
              <a:buNone/>
            </a:pPr>
            <a:endParaRPr sz="1800">
              <a:solidFill>
                <a:srgbClr val="1E3250"/>
              </a:solidFill>
              <a:highlight>
                <a:srgbClr val="FFFFFF"/>
              </a:highlight>
              <a:latin typeface="Arial"/>
              <a:ea typeface="Arial"/>
              <a:cs typeface="Arial"/>
              <a:sym typeface="Arial"/>
            </a:endParaRPr>
          </a:p>
          <a:p>
            <a:pPr marL="0" marR="0" lvl="0" indent="0" algn="l" rtl="0">
              <a:lnSpc>
                <a:spcPct val="90000"/>
              </a:lnSpc>
              <a:spcBef>
                <a:spcPts val="1000"/>
              </a:spcBef>
              <a:spcAft>
                <a:spcPts val="0"/>
              </a:spcAft>
              <a:buSzPts val="1800"/>
              <a:buNone/>
            </a:pPr>
            <a:r>
              <a:rPr lang="en-US" sz="1800" b="1">
                <a:solidFill>
                  <a:srgbClr val="1E3250"/>
                </a:solidFill>
                <a:highlight>
                  <a:srgbClr val="FFFFFF"/>
                </a:highlight>
                <a:latin typeface="Arial"/>
                <a:ea typeface="Arial"/>
                <a:cs typeface="Arial"/>
                <a:sym typeface="Arial"/>
              </a:rPr>
              <a:t>1. P</a:t>
            </a:r>
            <a:r>
              <a:rPr lang="en-US" sz="1800" b="1" i="0" u="none" strike="noStrike">
                <a:solidFill>
                  <a:srgbClr val="000000"/>
                </a:solidFill>
                <a:latin typeface="Arial"/>
                <a:ea typeface="Arial"/>
                <a:cs typeface="Arial"/>
                <a:sym typeface="Arial"/>
              </a:rPr>
              <a:t>rioritizing salient risk 2 by focusing on proactive engagement with community members, Government, CSOs and relevant contractors.</a:t>
            </a:r>
            <a:endParaRPr sz="1800" b="1" i="0" u="none" strike="noStrike">
              <a:latin typeface="Arial"/>
              <a:ea typeface="Arial"/>
              <a:cs typeface="Arial"/>
              <a:sym typeface="Arial"/>
            </a:endParaRPr>
          </a:p>
          <a:p>
            <a:pPr marL="0" marR="0" lvl="0" indent="0" algn="l" rtl="0">
              <a:lnSpc>
                <a:spcPct val="90000"/>
              </a:lnSpc>
              <a:spcBef>
                <a:spcPts val="1000"/>
              </a:spcBef>
              <a:spcAft>
                <a:spcPts val="0"/>
              </a:spcAft>
              <a:buSzPts val="1800"/>
              <a:buNone/>
            </a:pPr>
            <a:r>
              <a:rPr lang="en-US" sz="1800" b="1" i="0" u="none" strike="noStrike">
                <a:solidFill>
                  <a:srgbClr val="000000"/>
                </a:solidFill>
                <a:latin typeface="Arial"/>
                <a:ea typeface="Arial"/>
                <a:cs typeface="Arial"/>
                <a:sym typeface="Arial"/>
              </a:rPr>
              <a:t>Objective</a:t>
            </a:r>
            <a:r>
              <a:rPr lang="en-US" sz="1800" b="0" i="0" u="none" strike="noStrike">
                <a:solidFill>
                  <a:srgbClr val="000000"/>
                </a:solidFill>
                <a:latin typeface="Arial"/>
                <a:ea typeface="Arial"/>
                <a:cs typeface="Arial"/>
                <a:sym typeface="Arial"/>
              </a:rPr>
              <a:t>: Effective engagement with affected stakeholders and agreed remedy to decrease risk of large scale protesting which could cause serious injury and death to protesters</a:t>
            </a:r>
            <a:endParaRPr/>
          </a:p>
          <a:p>
            <a:pPr marL="0" marR="0" lvl="0" indent="0" algn="l" rtl="0">
              <a:lnSpc>
                <a:spcPct val="90000"/>
              </a:lnSpc>
              <a:spcBef>
                <a:spcPts val="1000"/>
              </a:spcBef>
              <a:spcAft>
                <a:spcPts val="0"/>
              </a:spcAft>
              <a:buSzPts val="1800"/>
              <a:buNone/>
            </a:pPr>
            <a:endParaRPr sz="1800" b="0" i="0" u="none" strike="noStrike">
              <a:latin typeface="Arial"/>
              <a:ea typeface="Arial"/>
              <a:cs typeface="Arial"/>
              <a:sym typeface="Arial"/>
            </a:endParaRPr>
          </a:p>
          <a:p>
            <a:pPr marL="0" marR="0" lvl="0" indent="0" algn="l" rtl="0">
              <a:lnSpc>
                <a:spcPct val="90000"/>
              </a:lnSpc>
              <a:spcBef>
                <a:spcPts val="1000"/>
              </a:spcBef>
              <a:spcAft>
                <a:spcPts val="0"/>
              </a:spcAft>
              <a:buSzPts val="1800"/>
              <a:buNone/>
            </a:pPr>
            <a:r>
              <a:rPr lang="en-US" sz="1800" b="1" i="0" u="none" strike="noStrike">
                <a:solidFill>
                  <a:srgbClr val="000000"/>
                </a:solidFill>
                <a:latin typeface="Arial"/>
                <a:ea typeface="Arial"/>
                <a:cs typeface="Arial"/>
                <a:sym typeface="Arial"/>
              </a:rPr>
              <a:t>2. Prioritizing risk 4 by focusing on health and safety standards on all GoodCorp sites. Work with employees and contractors to ensure safe and healthy environment and culture created. Continue to work on embedding health and safety culture over time</a:t>
            </a:r>
            <a:endParaRPr sz="1800" b="1" i="0" u="none" strike="noStrike">
              <a:latin typeface="Arial"/>
              <a:ea typeface="Arial"/>
              <a:cs typeface="Arial"/>
              <a:sym typeface="Arial"/>
            </a:endParaRPr>
          </a:p>
          <a:p>
            <a:pPr marL="0" marR="0" lvl="0" indent="0" algn="l" rtl="0">
              <a:lnSpc>
                <a:spcPct val="90000"/>
              </a:lnSpc>
              <a:spcBef>
                <a:spcPts val="1000"/>
              </a:spcBef>
              <a:spcAft>
                <a:spcPts val="0"/>
              </a:spcAft>
              <a:buSzPts val="1800"/>
              <a:buNone/>
            </a:pPr>
            <a:r>
              <a:rPr lang="en-US" sz="1800" b="1" i="0" u="none" strike="noStrike">
                <a:solidFill>
                  <a:srgbClr val="000000"/>
                </a:solidFill>
                <a:latin typeface="Arial"/>
                <a:ea typeface="Arial"/>
                <a:cs typeface="Arial"/>
                <a:sym typeface="Arial"/>
              </a:rPr>
              <a:t>Objective</a:t>
            </a:r>
            <a:r>
              <a:rPr lang="en-US" sz="1800" b="0" i="0" u="none" strike="noStrike">
                <a:solidFill>
                  <a:srgbClr val="000000"/>
                </a:solidFill>
                <a:latin typeface="Arial"/>
                <a:ea typeface="Arial"/>
                <a:cs typeface="Arial"/>
                <a:sym typeface="Arial"/>
              </a:rPr>
              <a:t>: Decrease risk of injury and death by implementing International health and safety standards and not only being compliant with Mystopia regulations.</a:t>
            </a:r>
            <a:endParaRPr sz="1800" b="0" i="0" u="none" strike="noStrike">
              <a:latin typeface="Arial"/>
              <a:ea typeface="Arial"/>
              <a:cs typeface="Arial"/>
              <a:sym typeface="Arial"/>
            </a:endParaRPr>
          </a:p>
          <a:p>
            <a:pPr marL="228600" lvl="0" indent="-50800" algn="l" rtl="0">
              <a:lnSpc>
                <a:spcPct val="90000"/>
              </a:lnSpc>
              <a:spcBef>
                <a:spcPts val="0"/>
              </a:spcBef>
              <a:spcAft>
                <a:spcPts val="0"/>
              </a:spcAft>
              <a:buClr>
                <a:schemeClr val="dk1"/>
              </a:buClr>
              <a:buSzPts val="2800"/>
              <a:buNone/>
            </a:pPr>
            <a:endParaRPr/>
          </a:p>
        </p:txBody>
      </p:sp>
      <p:sp>
        <p:nvSpPr>
          <p:cNvPr id="190" name="Google Shape;190;p12"/>
          <p:cNvSpPr/>
          <p:nvPr/>
        </p:nvSpPr>
        <p:spPr>
          <a:xfrm>
            <a:off x="892950" y="1204324"/>
            <a:ext cx="10406100" cy="8391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Verdana"/>
                <a:ea typeface="Verdana"/>
                <a:cs typeface="Verdana"/>
                <a:sym typeface="Verdana"/>
              </a:rPr>
              <a:t>Share what the next steps you will take after this program to strengthen the implementation of human rights due diligence across your organization?</a:t>
            </a:r>
            <a:endParaRPr sz="1800" b="0" i="0" u="none" strike="noStrike" cap="none">
              <a:solidFill>
                <a:srgbClr val="000000"/>
              </a:solidFill>
              <a:latin typeface="Verdana"/>
              <a:ea typeface="Verdana"/>
              <a:cs typeface="Verdana"/>
              <a:sym typeface="Verdana"/>
            </a:endParaRPr>
          </a:p>
        </p:txBody>
      </p:sp>
      <p:sp>
        <p:nvSpPr>
          <p:cNvPr id="191" name="Google Shape;191;p12"/>
          <p:cNvSpPr txBox="1"/>
          <p:nvPr/>
        </p:nvSpPr>
        <p:spPr>
          <a:xfrm rot="-591567">
            <a:off x="16994" y="3608347"/>
            <a:ext cx="1273712" cy="3078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8"/>
          <p:cNvSpPr txBox="1">
            <a:spLocks noGrp="1"/>
          </p:cNvSpPr>
          <p:nvPr>
            <p:ph type="title"/>
          </p:nvPr>
        </p:nvSpPr>
        <p:spPr>
          <a:xfrm>
            <a:off x="838200" y="365125"/>
            <a:ext cx="10515600" cy="83920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sz="3600">
                <a:latin typeface="Verdana"/>
                <a:ea typeface="Verdana"/>
                <a:cs typeface="Verdana"/>
                <a:sym typeface="Verdana"/>
              </a:rPr>
              <a:t>Timelines</a:t>
            </a:r>
            <a:endParaRPr sz="3600">
              <a:latin typeface="Verdana"/>
              <a:ea typeface="Verdana"/>
              <a:cs typeface="Verdana"/>
              <a:sym typeface="Verdana"/>
            </a:endParaRPr>
          </a:p>
        </p:txBody>
      </p:sp>
      <p:sp>
        <p:nvSpPr>
          <p:cNvPr id="197" name="Google Shape;197;p28"/>
          <p:cNvSpPr/>
          <p:nvPr/>
        </p:nvSpPr>
        <p:spPr>
          <a:xfrm>
            <a:off x="892950" y="1204324"/>
            <a:ext cx="10406100" cy="839100"/>
          </a:xfrm>
          <a:prstGeom prst="rect">
            <a:avLst/>
          </a:prstGeom>
          <a:solidFill>
            <a:srgbClr val="8DA9DB"/>
          </a:solidFill>
          <a:ln w="12700" cap="flat" cmpd="sng">
            <a:solidFill>
              <a:srgbClr val="31538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Verdana"/>
                <a:ea typeface="Verdana"/>
                <a:cs typeface="Verdana"/>
                <a:sym typeface="Verdana"/>
              </a:rPr>
              <a:t>Share the next step timelines for implementation of human rights due diligence across your organization?</a:t>
            </a:r>
            <a:endParaRPr sz="1800" b="0" i="0" u="none" strike="noStrike" cap="none">
              <a:solidFill>
                <a:srgbClr val="000000"/>
              </a:solidFill>
              <a:latin typeface="Verdana"/>
              <a:ea typeface="Verdana"/>
              <a:cs typeface="Verdana"/>
              <a:sym typeface="Verdana"/>
            </a:endParaRPr>
          </a:p>
        </p:txBody>
      </p:sp>
      <p:graphicFrame>
        <p:nvGraphicFramePr>
          <p:cNvPr id="198" name="Google Shape;198;p28"/>
          <p:cNvGraphicFramePr/>
          <p:nvPr/>
        </p:nvGraphicFramePr>
        <p:xfrm>
          <a:off x="1041399" y="2634342"/>
          <a:ext cx="10105575" cy="1994110"/>
        </p:xfrm>
        <a:graphic>
          <a:graphicData uri="http://schemas.openxmlformats.org/drawingml/2006/table">
            <a:tbl>
              <a:tblPr firstRow="1" bandRow="1">
                <a:noFill/>
                <a:tableStyleId>{E859DD1B-E565-4BAC-9FFE-939C086D947F}</a:tableStyleId>
              </a:tblPr>
              <a:tblGrid>
                <a:gridCol w="3062525">
                  <a:extLst>
                    <a:ext uri="{9D8B030D-6E8A-4147-A177-3AD203B41FA5}">
                      <a16:colId xmlns:a16="http://schemas.microsoft.com/office/drawing/2014/main" val="20000"/>
                    </a:ext>
                  </a:extLst>
                </a:gridCol>
                <a:gridCol w="7043050">
                  <a:extLst>
                    <a:ext uri="{9D8B030D-6E8A-4147-A177-3AD203B41FA5}">
                      <a16:colId xmlns:a16="http://schemas.microsoft.com/office/drawing/2014/main" val="20001"/>
                    </a:ext>
                  </a:extLst>
                </a:gridCol>
              </a:tblGrid>
              <a:tr h="835900">
                <a:tc>
                  <a:txBody>
                    <a:bodyPr/>
                    <a:lstStyle/>
                    <a:p>
                      <a:pPr marL="0" marR="0" lvl="0" indent="0" algn="l" rtl="0">
                        <a:lnSpc>
                          <a:spcPct val="100000"/>
                        </a:lnSpc>
                        <a:spcBef>
                          <a:spcPts val="0"/>
                        </a:spcBef>
                        <a:spcAft>
                          <a:spcPts val="0"/>
                        </a:spcAft>
                        <a:buNone/>
                      </a:pPr>
                      <a:r>
                        <a:rPr lang="en-US" sz="1600" u="none" strike="noStrike" cap="none">
                          <a:latin typeface="Calibri"/>
                          <a:ea typeface="Calibri"/>
                          <a:cs typeface="Calibri"/>
                          <a:sym typeface="Calibri"/>
                        </a:rPr>
                        <a:t>0 – 6 months </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Prioritize salient risk 2 by focusing on proactive engagement with community members, Government, CSOs and relevant contractors.</a:t>
                      </a:r>
                      <a:endParaRPr sz="1600" u="none" strike="noStrike" cap="none">
                        <a:latin typeface="Calibri"/>
                        <a:ea typeface="Calibri"/>
                        <a:cs typeface="Calibri"/>
                        <a:sym typeface="Calibri"/>
                      </a:endParaRPr>
                    </a:p>
                  </a:txBody>
                  <a:tcPr marL="91425" marR="91425" marT="91425" marB="91425"/>
                </a:tc>
                <a:extLst>
                  <a:ext uri="{0D108BD9-81ED-4DB2-BD59-A6C34878D82A}">
                    <a16:rowId xmlns:a16="http://schemas.microsoft.com/office/drawing/2014/main" val="10000"/>
                  </a:ext>
                </a:extLst>
              </a:tr>
              <a:tr h="1034925">
                <a:tc>
                  <a:txBody>
                    <a:bodyPr/>
                    <a:lstStyle/>
                    <a:p>
                      <a:pPr marL="0" marR="0" lvl="0" indent="0" algn="l" rtl="0">
                        <a:lnSpc>
                          <a:spcPct val="100000"/>
                        </a:lnSpc>
                        <a:spcBef>
                          <a:spcPts val="0"/>
                        </a:spcBef>
                        <a:spcAft>
                          <a:spcPts val="0"/>
                        </a:spcAft>
                        <a:buNone/>
                      </a:pPr>
                      <a:r>
                        <a:rPr lang="en-US" sz="1600" u="none" strike="noStrike" cap="none">
                          <a:latin typeface="Calibri"/>
                          <a:ea typeface="Calibri"/>
                          <a:cs typeface="Calibri"/>
                          <a:sym typeface="Calibri"/>
                        </a:rPr>
                        <a:t>0 – 12 months</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u="none" strike="noStrike" cap="none">
                          <a:latin typeface="Calibri"/>
                          <a:ea typeface="Calibri"/>
                          <a:cs typeface="Calibri"/>
                          <a:sym typeface="Calibri"/>
                        </a:rPr>
                        <a:t>Prioritize risk 4 by focusing on health and safety standards on all GoodCorp sites. Work with employees and contractors to ensure safe and healthy environment and culture created. Continue to work on embedding health and safety culture over time</a:t>
                      </a:r>
                      <a:endParaRPr sz="1600" u="none" strike="noStrike" cap="none">
                        <a:latin typeface="Calibri"/>
                        <a:ea typeface="Calibri"/>
                        <a:cs typeface="Calibri"/>
                        <a:sym typeface="Calibri"/>
                      </a:endParaRPr>
                    </a:p>
                  </a:txBody>
                  <a:tcPr marL="91425" marR="91425" marT="91425" marB="91425"/>
                </a:tc>
                <a:extLst>
                  <a:ext uri="{0D108BD9-81ED-4DB2-BD59-A6C34878D82A}">
                    <a16:rowId xmlns:a16="http://schemas.microsoft.com/office/drawing/2014/main" val="10001"/>
                  </a:ext>
                </a:extLst>
              </a:tr>
            </a:tbl>
          </a:graphicData>
        </a:graphic>
      </p:graphicFrame>
      <p:sp>
        <p:nvSpPr>
          <p:cNvPr id="199" name="Google Shape;199;p28"/>
          <p:cNvSpPr txBox="1"/>
          <p:nvPr/>
        </p:nvSpPr>
        <p:spPr>
          <a:xfrm rot="-591567">
            <a:off x="16994" y="3608347"/>
            <a:ext cx="1273712" cy="3078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a:solidFill>
                  <a:srgbClr val="FF0000"/>
                </a:solidFill>
                <a:highlight>
                  <a:srgbClr val="FFFF00"/>
                </a:highlight>
                <a:latin typeface="Arial"/>
                <a:ea typeface="Arial"/>
                <a:cs typeface="Arial"/>
                <a:sym typeface="Arial"/>
              </a:rPr>
              <a:t>Example</a:t>
            </a:r>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GVDOCID" val="3d582621-8abb-4b4a-9cfa-a914c32534e6"/>
  <p:tag name="CLASSIFICATIONTAGSETID" val="e16409a7-1700-4153-9090-3955bc2f0ae8"/>
  <p:tag name="COMPLIANCETAGSETID" val="f14fc1f1-8950-40d5-8a29-45909da947d6"/>
  <p:tag name="FILEID" val="3d582621-8abb-4b4a-9cfa-a914c32534e6"/>
  <p:tag name="USERID" val="Nizami B. Tahirov"/>
  <p:tag name="TAGDATETIME" val="29-09-2026"/>
  <p:tag name="GVDATA" val="eyJPUyI6IldpbmRvd3MiLCJkb2NJRCI6IjNkNTgyNjIxLThhYmItNGI0YS05Y2ZhLWE5MTRjMzI1MzRlNiIsImRvY1N0YXRlIjoie30iLCJwYXJlbnRMaW5lSWRzIjoiW10iLCJ3cml0dGVuS2V5cyI6IltcIkNsYXNzaWZpY2F0aW9uVGFnU2V0SWRcIixcIkNvbXBs"/>
  <p:tag name="GVDATA0" val="aWFuY2VUYWdTZXRJZFwiLFwiRmlsZUlkXCIsXCJndmRvY2lkXCIsXCJUYWdEYXRlVGltZVwiLFwiVXNlcklkXCJdIiwibm9PZkd2RGF0YUVudHJpZXMiOiIyIiwibGluZUlkIjoiMzc4ODlmYTQtY2RlMi00NmMzLTlmMzUtZWJlM2NkMzYzYjBjIn0="/>
  <p:tag name="GVDATA1" val="(end)"/>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2184</Words>
  <Application>Microsoft Office PowerPoint</Application>
  <PresentationFormat>Widescreen</PresentationFormat>
  <Paragraphs>180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Verdana</vt:lpstr>
      <vt:lpstr>Office Theme</vt:lpstr>
      <vt:lpstr>Business and Human Rights Action Plan</vt:lpstr>
      <vt:lpstr>Content</vt:lpstr>
      <vt:lpstr>Company introduction</vt:lpstr>
      <vt:lpstr>BHR journey self-assessment insights</vt:lpstr>
      <vt:lpstr>Human Rights Journey Gap Assessment – future focus</vt:lpstr>
      <vt:lpstr>HRDD Step 1: Salient human rights issues </vt:lpstr>
      <vt:lpstr>HRDD Step 1: Salient human rights issues prioritized</vt:lpstr>
      <vt:lpstr>HRDD Step 2: Taking Action</vt:lpstr>
      <vt:lpstr>HRDD Step 3: Tracking</vt:lpstr>
      <vt:lpstr>HRDD Step 4: Communicating</vt:lpstr>
      <vt:lpstr>Stakeholder Engagement</vt:lpstr>
      <vt:lpstr>Preparing for Remedy</vt:lpstr>
      <vt:lpstr>Grievance Mechanisms</vt:lpstr>
      <vt:lpstr>Next Steps</vt:lpstr>
      <vt:lpstr>Timelines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Mairead Keigher</dc:creator>
  <cp:lastModifiedBy>Nizami B. Tahirov</cp:lastModifiedBy>
  <cp:revision>2</cp:revision>
  <dcterms:created xsi:type="dcterms:W3CDTF">2022-11-22T16:13:22Z</dcterms:created>
  <dcterms:modified xsi:type="dcterms:W3CDTF">2026-09-29T07:15:39Z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vdocid">
    <vt:lpwstr>3d582621-8abb-4b4a-9cfa-a914c32534e6</vt:lpwstr>
  </property>
  <property fmtid="{D5CDD505-2E9C-101B-9397-08002B2CF9AE}" pid="3" name="ClassificationTagSetId">
    <vt:lpwstr>e16409a7-1700-4153-9090-3955bc2f0ae8</vt:lpwstr>
  </property>
  <property fmtid="{D5CDD505-2E9C-101B-9397-08002B2CF9AE}" pid="4" name="ComplianceTagSetId">
    <vt:lpwstr>f14fc1f1-8950-40d5-8a29-45909da947d6</vt:lpwstr>
  </property>
  <property fmtid="{D5CDD505-2E9C-101B-9397-08002B2CF9AE}" pid="5" name="FileId">
    <vt:lpwstr>3d582621-8abb-4b4a-9cfa-a914c32534e6</vt:lpwstr>
  </property>
  <property fmtid="{D5CDD505-2E9C-101B-9397-08002B2CF9AE}" pid="6" name="UserId">
    <vt:lpwstr>Nizami B. Tahirov</vt:lpwstr>
  </property>
  <property fmtid="{D5CDD505-2E9C-101B-9397-08002B2CF9AE}" pid="7" name="TagDateTime">
    <vt:lpwstr>29-09-2026</vt:lpwstr>
  </property>
  <property fmtid="{D5CDD505-2E9C-101B-9397-08002B2CF9AE}" pid="8" name="GVData">
    <vt:lpwstr>eyJPUyI6IldpbmRvd3MiLCJkb2NJRCI6IjNkNTgyNjIxLThhYmItNGI0YS05Y2ZhLWE5MTRjMzI1MzRlNiIsImRvY1N0YXRlIjoie30iLCJwYXJlbnRMaW5lSWRzIjoiW10iLCJ3cml0dGVuS2V5cyI6IltcIkNsYXNzaWZpY2F0aW9uVGFnU2V0SWRcIixcIkNvbXBs</vt:lpwstr>
  </property>
  <property fmtid="{D5CDD505-2E9C-101B-9397-08002B2CF9AE}" pid="9" name="GVData0">
    <vt:lpwstr>aWFuY2VUYWdTZXRJZFwiLFwiRmlsZUlkXCIsXCJndmRvY2lkXCIsXCJUYWdEYXRlVGltZVwiLFwiVXNlcklkXCJdIiwibm9PZkd2RGF0YUVudHJpZXMiOiIyIiwibGluZUlkIjoiMzc4ODlmYTQtY2RlMi00NmMzLTlmMzUtZWJlM2NkMzYzYjBjIn0=</vt:lpwstr>
  </property>
  <property fmtid="{D5CDD505-2E9C-101B-9397-08002B2CF9AE}" pid="10" name="GVData1">
    <vt:lpwstr>(end)</vt:lpwstr>
  </property>
</Properties>
</file>